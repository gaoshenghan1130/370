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embeddedFontLst>
    <p:embeddedFont>
      <p:font typeface="Average"/>
      <p:regular r:id="rId66"/>
    </p:embeddedFont>
    <p:embeddedFont>
      <p:font typeface="Helvetica Neue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EA4C8C-1894-42AE-A1C6-5AD5D6AD3A33}">
  <a:tblStyle styleId="{D0EA4C8C-1894-42AE-A1C6-5AD5D6AD3A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C25AF6C-6DC7-4302-9C04-274C2991A99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schemas.openxmlformats.org/officeDocument/2006/relationships/font" Target="fonts/HelveticaNeue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Average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HelveticaNeue-bold.fntdata"/><Relationship Id="rId23" Type="http://schemas.openxmlformats.org/officeDocument/2006/relationships/slide" Target="slides/slide17.xml"/><Relationship Id="rId67" Type="http://schemas.openxmlformats.org/officeDocument/2006/relationships/font" Target="fonts/HelveticaNeue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HelveticaNeue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04d24ceb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04d24ceb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b5292c5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b5292c5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b5292c58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b5292c58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b5292c58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b5292c58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b5292c583_0_1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b5292c583_0_1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b5292c583_0_1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b5292c583_0_1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5b5292c583_0_1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5b5292c583_0_1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b5292c583_0_1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b5292c583_0_1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b5292c583_0_1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b5292c583_0_1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b5292c58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b5292c58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f161261c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f161261c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bc74bac9de_1_0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222" name="Google Shape;222;gbc74bac9de_1_0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gbc74bac9de_1_0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6477838d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6477838d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bc74bac9de_1_323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bc74bac9de_1_323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bc74bac9de_1_244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bc74bac9de_1_244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58a131d2c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58a131d2c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6477838d9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6477838d9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A &amp; ~B = (A &amp; ~B) | 0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           = (A &amp; ~B) | (A ^ ~A)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             = A &amp; (~B | ~A)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             = A &amp; ~(B &amp; A)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6477838d9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6477838d9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bc74bac9de_1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bc74bac9de_1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6477838d9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6477838d9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4c5e8ea8a4_2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4c5e8ea8a4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bc74bac9de_1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bc74bac9de_1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1f161261ca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1f161261ca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bc74bac9de_1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bc74bac9de_1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bc74bac9de_1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bc74bac9de_1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d1c889513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d1c889513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6477838d9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6477838d9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7d6555c1d5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7d6555c1d5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6477838d9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6477838d9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1f161261ca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1f161261ca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d1c889513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d1c889513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d1c889513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d1c889513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bc74bac9de_1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bc74bac9de_1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bc74bac9de_1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bc74bac9de_1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bc74bac9de_1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bc74bac9de_1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bc74bac9de_1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bc74bac9de_1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bc74bac9de_1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bc74bac9de_1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bc74bac9de_1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bc74bac9de_1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bc74bac9de_1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bc74bac9de_1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6477838d9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6477838d9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bc74bac9de_1_776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804" name="Google Shape;804;gbc74bac9de_1_776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5" name="Google Shape;805;gbc74bac9de_1_776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1f161261ca6_0_27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812" name="Google Shape;812;g1f161261ca6_0_27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3" name="Google Shape;813;g1f161261ca6_0_27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bc74bac9de_1_1519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gbc74bac9de_1_1519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bc74bac9de_1_873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829" name="Google Shape;829;gbc74bac9de_1_873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0" name="Google Shape;830;gbc74bac9de_1_873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bc74bac9de_1_1030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876" name="Google Shape;876;gbc74bac9de_1_1030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7" name="Google Shape;877;gbc74bac9de_1_1030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bc74bac9de_1_1256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916" name="Google Shape;916;gbc74bac9de_1_1256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7" name="Google Shape;917;gbc74bac9de_1_1256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bc74bac9de_1_1177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952" name="Google Shape;952;gbc74bac9de_1_1177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3" name="Google Shape;953;gbc74bac9de_1_1177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bc74bac9de_1_1903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003" name="Google Shape;1003;gbc74bac9de_1_1903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4" name="Google Shape;1004;gbc74bac9de_1_1903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d1c889513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d1c889513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d1c889513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d1c889513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ba581b76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ba581b76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ba581b761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ba581b761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bc74bac9de_1_1346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107" name="Google Shape;1107;gbc74bac9de_1_1346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8" name="Google Shape;1108;gbc74bac9de_1_1346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bc74bac9de_1_1387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151" name="Google Shape;1151;gbc74bac9de_1_1387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2" name="Google Shape;1152;gbc74bac9de_1_1387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bc74bac9de_1_1524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282" name="Google Shape;1282;gbc74bac9de_1_1524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3" name="Google Shape;1283;gbc74bac9de_1_1524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bc74bac9de_1_1635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395" name="Google Shape;1395;gbc74bac9de_1_1635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6" name="Google Shape;1396;gbc74bac9de_1_1635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bc74bac9de_1_1754:notes"/>
          <p:cNvSpPr txBox="1"/>
          <p:nvPr/>
        </p:nvSpPr>
        <p:spPr>
          <a:xfrm>
            <a:off x="3885902" y="8687405"/>
            <a:ext cx="29721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/>
          </a:p>
        </p:txBody>
      </p:sp>
      <p:sp>
        <p:nvSpPr>
          <p:cNvPr id="1515" name="Google Shape;1515;gbc74bac9de_1_1754:notes"/>
          <p:cNvSpPr/>
          <p:nvPr>
            <p:ph idx="2" type="sldImg"/>
          </p:nvPr>
        </p:nvSpPr>
        <p:spPr>
          <a:xfrm>
            <a:off x="428625" y="686405"/>
            <a:ext cx="60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6" name="Google Shape;1516;gbc74bac9de_1_1754:notes"/>
          <p:cNvSpPr txBox="1"/>
          <p:nvPr>
            <p:ph idx="1" type="body"/>
          </p:nvPr>
        </p:nvSpPr>
        <p:spPr>
          <a:xfrm>
            <a:off x="913805" y="4343702"/>
            <a:ext cx="5030400" cy="4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48c62bda9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48c62bda9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b="1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11700" y="28341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0"/>
            <a:ext cx="74073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0"/>
            <a:ext cx="74073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228600" y="914400"/>
            <a:ext cx="8610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843350"/>
            <a:ext cx="9144000" cy="306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0"/>
            <a:ext cx="74073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Helvetica Neue"/>
              <a:buNone/>
              <a:defRPr sz="2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rtl="0" algn="r">
              <a:buNone/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 algn="r">
              <a:buNone/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 algn="r">
              <a:buNone/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 algn="r">
              <a:buNone/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 algn="r">
              <a:buNone/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 algn="r">
              <a:buNone/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 algn="r">
              <a:buNone/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 algn="r">
              <a:buNone/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0" y="4843350"/>
            <a:ext cx="1664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EECS 370</a:t>
            </a:r>
            <a:endParaRPr b="1"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6939300" y="4843350"/>
            <a:ext cx="16644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Fall 2025</a:t>
            </a:r>
            <a:endParaRPr b="1"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" name="Google Shape;12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719000" y="0"/>
            <a:ext cx="1425000" cy="74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8603700" y="4843350"/>
            <a:ext cx="540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sz="12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760">
          <p15:clr>
            <a:srgbClr val="EA4335"/>
          </p15:clr>
        </p15:guide>
        <p15:guide id="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13.xml"/><Relationship Id="rId4" Type="http://schemas.openxmlformats.org/officeDocument/2006/relationships/slide" Target="/ppt/slides/slide19.xml"/><Relationship Id="rId9" Type="http://schemas.openxmlformats.org/officeDocument/2006/relationships/slide" Target="/ppt/slides/slide42.xml"/><Relationship Id="rId5" Type="http://schemas.openxmlformats.org/officeDocument/2006/relationships/slide" Target="/ppt/slides/slide29.xml"/><Relationship Id="rId6" Type="http://schemas.openxmlformats.org/officeDocument/2006/relationships/slide" Target="/ppt/slides/slide32.xml"/><Relationship Id="rId7" Type="http://schemas.openxmlformats.org/officeDocument/2006/relationships/slide" Target="/ppt/slides/slide37.xml"/><Relationship Id="rId8" Type="http://schemas.openxmlformats.org/officeDocument/2006/relationships/slide" Target="/ppt/slides/slide34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jpg"/><Relationship Id="rId4" Type="http://schemas.openxmlformats.org/officeDocument/2006/relationships/image" Target="../media/image2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jpg"/><Relationship Id="rId4" Type="http://schemas.openxmlformats.org/officeDocument/2006/relationships/image" Target="../media/image2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9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jpg"/><Relationship Id="rId4" Type="http://schemas.openxmlformats.org/officeDocument/2006/relationships/image" Target="../media/image2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jpg"/><Relationship Id="rId4" Type="http://schemas.openxmlformats.org/officeDocument/2006/relationships/image" Target="../media/image31.jpg"/><Relationship Id="rId5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EECS 370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8341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5: Digital Logic</a:t>
            </a:r>
            <a:endParaRPr/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Upcoming Assignments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P2a due Thursday Oct 2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"/>
              <a:t>Midterm Exam Thursday Oct 9 6-8 PM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1: Circuit Delay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/>
              <a:t>Fill in the timing diagram for the logical circuit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20" y="1809825"/>
            <a:ext cx="3719350" cy="22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3525" y="1874200"/>
            <a:ext cx="3932274" cy="261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Clocks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228600" y="914400"/>
            <a:ext cx="86106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pulse. Switches from 0 to 1 periodically (equal intervals)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determine this interval, but it stays constant once set.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will be useful when we do operations with different propagation delays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500" y="2634600"/>
            <a:ext cx="6200775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D-Flip Flop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228600" y="914400"/>
            <a:ext cx="65661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signals being fed in: the Data and the Clock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State of the output changes while clock is changing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class, we'll always update Q on the </a:t>
            </a:r>
            <a:r>
              <a:rPr b="1" lang="en"/>
              <a:t>rising-edge </a:t>
            </a:r>
            <a:r>
              <a:rPr lang="en"/>
              <a:t>of the clock (when it goes from 0 to 1)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2475" y="2361001"/>
            <a:ext cx="4278500" cy="225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7700" y="1015425"/>
            <a:ext cx="2154350" cy="1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Finite State Machines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228600" y="930375"/>
            <a:ext cx="86106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Finite State Machines (FSMs) describe the intended behavior of a sequential circuit.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 FSM consists of: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</a:rPr>
              <a:t>Inputs &amp; Outputs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</a:rPr>
              <a:t>Set of States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</a:rPr>
              <a:t>Set of Transitions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3518650" y="1904250"/>
            <a:ext cx="4971600" cy="239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7474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3995050" y="210057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S_0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0</a:t>
            </a:r>
            <a:endParaRPr sz="800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5111496" y="316092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S_1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1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6233600" y="210057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S_2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0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7351776" y="316092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S_3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1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10" name="Google Shape;110;p19"/>
          <p:cNvCxnSpPr>
            <a:stCxn id="106" idx="4"/>
            <a:endCxn id="107" idx="2"/>
          </p:cNvCxnSpPr>
          <p:nvPr/>
        </p:nvCxnSpPr>
        <p:spPr>
          <a:xfrm flipH="1" rot="-5400000">
            <a:off x="4373950" y="2774225"/>
            <a:ext cx="709500" cy="7656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" name="Google Shape;111;p19"/>
          <p:cNvCxnSpPr>
            <a:stCxn id="107" idx="6"/>
            <a:endCxn id="108" idx="4"/>
          </p:cNvCxnSpPr>
          <p:nvPr/>
        </p:nvCxnSpPr>
        <p:spPr>
          <a:xfrm flipH="1" rot="10800000">
            <a:off x="5813196" y="2802275"/>
            <a:ext cx="771300" cy="7095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" name="Google Shape;112;p19"/>
          <p:cNvCxnSpPr>
            <a:stCxn id="108" idx="2"/>
            <a:endCxn id="106" idx="6"/>
          </p:cNvCxnSpPr>
          <p:nvPr/>
        </p:nvCxnSpPr>
        <p:spPr>
          <a:xfrm flipH="1">
            <a:off x="4696700" y="2451425"/>
            <a:ext cx="1536900" cy="6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" name="Google Shape;113;p19"/>
          <p:cNvCxnSpPr>
            <a:stCxn id="108" idx="4"/>
            <a:endCxn id="109" idx="2"/>
          </p:cNvCxnSpPr>
          <p:nvPr/>
        </p:nvCxnSpPr>
        <p:spPr>
          <a:xfrm flipH="1" rot="-5400000">
            <a:off x="6613400" y="2773325"/>
            <a:ext cx="709500" cy="7674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" name="Google Shape;114;p19"/>
          <p:cNvCxnSpPr>
            <a:stCxn id="109" idx="0"/>
            <a:endCxn id="108" idx="6"/>
          </p:cNvCxnSpPr>
          <p:nvPr/>
        </p:nvCxnSpPr>
        <p:spPr>
          <a:xfrm flipH="1" rot="5400000">
            <a:off x="6964176" y="2422475"/>
            <a:ext cx="709500" cy="7674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5" name="Google Shape;115;p19"/>
          <p:cNvSpPr txBox="1"/>
          <p:nvPr/>
        </p:nvSpPr>
        <p:spPr>
          <a:xfrm>
            <a:off x="4137400" y="3253950"/>
            <a:ext cx="306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3617400" y="245640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17" name="Google Shape;117;p19"/>
          <p:cNvCxnSpPr>
            <a:stCxn id="106" idx="2"/>
            <a:endCxn id="106" idx="1"/>
          </p:cNvCxnSpPr>
          <p:nvPr/>
        </p:nvCxnSpPr>
        <p:spPr>
          <a:xfrm flipH="1" rot="10800000">
            <a:off x="3995050" y="2203325"/>
            <a:ext cx="102900" cy="248100"/>
          </a:xfrm>
          <a:prstGeom prst="curvedConnector4">
            <a:avLst>
              <a:gd fmla="val -231414" name="adj1"/>
              <a:gd fmla="val 237394" name="adj2"/>
            </a:avLst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8" name="Google Shape;118;p19"/>
          <p:cNvSpPr txBox="1"/>
          <p:nvPr/>
        </p:nvSpPr>
        <p:spPr>
          <a:xfrm>
            <a:off x="5451750" y="2691125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19" name="Google Shape;119;p19"/>
          <p:cNvCxnSpPr>
            <a:stCxn id="107" idx="0"/>
            <a:endCxn id="106" idx="6"/>
          </p:cNvCxnSpPr>
          <p:nvPr/>
        </p:nvCxnSpPr>
        <p:spPr>
          <a:xfrm flipH="1" rot="5400000">
            <a:off x="4724796" y="2423375"/>
            <a:ext cx="709500" cy="7656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" name="Google Shape;120;p19"/>
          <p:cNvSpPr txBox="1"/>
          <p:nvPr/>
        </p:nvSpPr>
        <p:spPr>
          <a:xfrm>
            <a:off x="6090025" y="3457025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6779288" y="298395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22" name="Google Shape;122;p19"/>
          <p:cNvCxnSpPr>
            <a:stCxn id="109" idx="4"/>
            <a:endCxn id="109" idx="6"/>
          </p:cNvCxnSpPr>
          <p:nvPr/>
        </p:nvCxnSpPr>
        <p:spPr>
          <a:xfrm rot="-5400000">
            <a:off x="7702626" y="3511625"/>
            <a:ext cx="351000" cy="351000"/>
          </a:xfrm>
          <a:prstGeom prst="curvedConnector4">
            <a:avLst>
              <a:gd fmla="val -67842" name="adj1"/>
              <a:gd fmla="val 167799" name="adj2"/>
            </a:avLst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3" name="Google Shape;123;p19"/>
          <p:cNvSpPr txBox="1"/>
          <p:nvPr/>
        </p:nvSpPr>
        <p:spPr>
          <a:xfrm>
            <a:off x="7373388" y="3980525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7513763" y="245640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5614663" y="217200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grpSp>
        <p:nvGrpSpPr>
          <p:cNvPr id="126" name="Google Shape;126;p19"/>
          <p:cNvGrpSpPr/>
          <p:nvPr/>
        </p:nvGrpSpPr>
        <p:grpSpPr>
          <a:xfrm>
            <a:off x="3565875" y="2699550"/>
            <a:ext cx="620700" cy="588600"/>
            <a:chOff x="3565875" y="2699550"/>
            <a:chExt cx="620700" cy="588600"/>
          </a:xfrm>
        </p:grpSpPr>
        <p:sp>
          <p:nvSpPr>
            <p:cNvPr id="127" name="Google Shape;127;p19"/>
            <p:cNvSpPr txBox="1"/>
            <p:nvPr/>
          </p:nvSpPr>
          <p:spPr>
            <a:xfrm>
              <a:off x="3565875" y="2983950"/>
              <a:ext cx="620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7474F"/>
                  </a:solidFill>
                  <a:latin typeface="Average"/>
                  <a:ea typeface="Average"/>
                  <a:cs typeface="Average"/>
                  <a:sym typeface="Average"/>
                </a:rPr>
                <a:t>START</a:t>
              </a:r>
              <a:endParaRPr sz="1000">
                <a:solidFill>
                  <a:srgbClr val="37474F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  <p:cxnSp>
          <p:nvCxnSpPr>
            <p:cNvPr id="128" name="Google Shape;128;p19"/>
            <p:cNvCxnSpPr>
              <a:stCxn id="127" idx="0"/>
            </p:cNvCxnSpPr>
            <p:nvPr/>
          </p:nvCxnSpPr>
          <p:spPr>
            <a:xfrm flipH="1" rot="10800000">
              <a:off x="3876225" y="2699550"/>
              <a:ext cx="221700" cy="284400"/>
            </a:xfrm>
            <a:prstGeom prst="straightConnector1">
              <a:avLst/>
            </a:prstGeom>
            <a:noFill/>
            <a:ln cap="flat" cmpd="sng" w="9525">
              <a:solidFill>
                <a:srgbClr val="3747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Finite State Machines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228600" y="914400"/>
            <a:ext cx="86442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Moore machine has an </a:t>
            </a:r>
            <a:r>
              <a:rPr lang="en" u="sng">
                <a:solidFill>
                  <a:schemeClr val="dk1"/>
                </a:solidFill>
              </a:rPr>
              <a:t>output function</a:t>
            </a:r>
            <a:r>
              <a:rPr lang="en">
                <a:solidFill>
                  <a:schemeClr val="dk1"/>
                </a:solidFill>
              </a:rPr>
              <a:t> which only requires the </a:t>
            </a:r>
            <a:r>
              <a:rPr lang="en" u="sng">
                <a:solidFill>
                  <a:schemeClr val="dk1"/>
                </a:solidFill>
              </a:rPr>
              <a:t>current state</a:t>
            </a:r>
            <a:r>
              <a:rPr lang="en">
                <a:solidFill>
                  <a:schemeClr val="dk1"/>
                </a:solidFill>
              </a:rPr>
              <a:t> as an input.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chemeClr val="dk1"/>
                </a:solidFill>
              </a:rPr>
              <a:t>F(S) → 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Mealy machine has an </a:t>
            </a:r>
            <a:r>
              <a:rPr lang="en" u="sng">
                <a:solidFill>
                  <a:schemeClr val="dk1"/>
                </a:solidFill>
              </a:rPr>
              <a:t>output function</a:t>
            </a:r>
            <a:r>
              <a:rPr lang="en">
                <a:solidFill>
                  <a:schemeClr val="dk1"/>
                </a:solidFill>
              </a:rPr>
              <a:t> which requires both the </a:t>
            </a:r>
            <a:r>
              <a:rPr lang="en" u="sng">
                <a:solidFill>
                  <a:schemeClr val="dk1"/>
                </a:solidFill>
              </a:rPr>
              <a:t>current state and current input</a:t>
            </a:r>
            <a:r>
              <a:rPr lang="en">
                <a:solidFill>
                  <a:schemeClr val="dk1"/>
                </a:solidFill>
              </a:rPr>
              <a:t> as input.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chemeClr val="dk1"/>
                </a:solidFill>
              </a:rPr>
              <a:t>F(S, I) → 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Moore or Mealy?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603700" y="53767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3518650" y="2437650"/>
            <a:ext cx="4971600" cy="239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7474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3995050" y="263397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S_0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0</a:t>
            </a:r>
            <a:endParaRPr sz="800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5111496" y="369432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S_1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1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6233600" y="263397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S_2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0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7351776" y="369432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S_3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1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41" name="Google Shape;141;p20"/>
          <p:cNvCxnSpPr>
            <a:stCxn id="137" idx="4"/>
            <a:endCxn id="138" idx="2"/>
          </p:cNvCxnSpPr>
          <p:nvPr/>
        </p:nvCxnSpPr>
        <p:spPr>
          <a:xfrm flipH="1" rot="-5400000">
            <a:off x="4373950" y="3307625"/>
            <a:ext cx="709500" cy="7656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" name="Google Shape;142;p20"/>
          <p:cNvCxnSpPr>
            <a:stCxn id="138" idx="6"/>
            <a:endCxn id="139" idx="4"/>
          </p:cNvCxnSpPr>
          <p:nvPr/>
        </p:nvCxnSpPr>
        <p:spPr>
          <a:xfrm flipH="1" rot="10800000">
            <a:off x="5813196" y="3335675"/>
            <a:ext cx="771300" cy="7095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" name="Google Shape;143;p20"/>
          <p:cNvCxnSpPr>
            <a:stCxn id="139" idx="2"/>
            <a:endCxn id="137" idx="6"/>
          </p:cNvCxnSpPr>
          <p:nvPr/>
        </p:nvCxnSpPr>
        <p:spPr>
          <a:xfrm flipH="1">
            <a:off x="4696700" y="2984825"/>
            <a:ext cx="1536900" cy="6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4" name="Google Shape;144;p20"/>
          <p:cNvCxnSpPr>
            <a:stCxn id="139" idx="4"/>
            <a:endCxn id="140" idx="2"/>
          </p:cNvCxnSpPr>
          <p:nvPr/>
        </p:nvCxnSpPr>
        <p:spPr>
          <a:xfrm flipH="1" rot="-5400000">
            <a:off x="6613400" y="3306725"/>
            <a:ext cx="709500" cy="7674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" name="Google Shape;145;p20"/>
          <p:cNvCxnSpPr>
            <a:stCxn id="140" idx="0"/>
            <a:endCxn id="139" idx="6"/>
          </p:cNvCxnSpPr>
          <p:nvPr/>
        </p:nvCxnSpPr>
        <p:spPr>
          <a:xfrm flipH="1" rot="5400000">
            <a:off x="6964176" y="2955875"/>
            <a:ext cx="709500" cy="7674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6" name="Google Shape;146;p20"/>
          <p:cNvSpPr txBox="1"/>
          <p:nvPr/>
        </p:nvSpPr>
        <p:spPr>
          <a:xfrm>
            <a:off x="4137400" y="3787350"/>
            <a:ext cx="306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3617400" y="298980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48" name="Google Shape;148;p20"/>
          <p:cNvCxnSpPr>
            <a:stCxn id="137" idx="2"/>
            <a:endCxn id="137" idx="1"/>
          </p:cNvCxnSpPr>
          <p:nvPr/>
        </p:nvCxnSpPr>
        <p:spPr>
          <a:xfrm flipH="1" rot="10800000">
            <a:off x="3995050" y="2736725"/>
            <a:ext cx="102900" cy="248100"/>
          </a:xfrm>
          <a:prstGeom prst="curvedConnector4">
            <a:avLst>
              <a:gd fmla="val -231414" name="adj1"/>
              <a:gd fmla="val 237394" name="adj2"/>
            </a:avLst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" name="Google Shape;149;p20"/>
          <p:cNvSpPr txBox="1"/>
          <p:nvPr/>
        </p:nvSpPr>
        <p:spPr>
          <a:xfrm>
            <a:off x="5451750" y="3224525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50" name="Google Shape;150;p20"/>
          <p:cNvCxnSpPr>
            <a:stCxn id="138" idx="0"/>
            <a:endCxn id="137" idx="6"/>
          </p:cNvCxnSpPr>
          <p:nvPr/>
        </p:nvCxnSpPr>
        <p:spPr>
          <a:xfrm flipH="1" rot="5400000">
            <a:off x="4724796" y="2956775"/>
            <a:ext cx="709500" cy="7656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1" name="Google Shape;151;p20"/>
          <p:cNvSpPr txBox="1"/>
          <p:nvPr/>
        </p:nvSpPr>
        <p:spPr>
          <a:xfrm>
            <a:off x="6090025" y="3990425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6779288" y="351735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53" name="Google Shape;153;p20"/>
          <p:cNvCxnSpPr>
            <a:stCxn id="140" idx="4"/>
            <a:endCxn id="140" idx="6"/>
          </p:cNvCxnSpPr>
          <p:nvPr/>
        </p:nvCxnSpPr>
        <p:spPr>
          <a:xfrm rot="-5400000">
            <a:off x="7702626" y="4045025"/>
            <a:ext cx="351000" cy="351000"/>
          </a:xfrm>
          <a:prstGeom prst="curvedConnector4">
            <a:avLst>
              <a:gd fmla="val -67842" name="adj1"/>
              <a:gd fmla="val 167799" name="adj2"/>
            </a:avLst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4" name="Google Shape;154;p20"/>
          <p:cNvSpPr txBox="1"/>
          <p:nvPr/>
        </p:nvSpPr>
        <p:spPr>
          <a:xfrm>
            <a:off x="7373388" y="4513925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7513763" y="298980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5614663" y="270540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grpSp>
        <p:nvGrpSpPr>
          <p:cNvPr id="157" name="Google Shape;157;p20"/>
          <p:cNvGrpSpPr/>
          <p:nvPr/>
        </p:nvGrpSpPr>
        <p:grpSpPr>
          <a:xfrm>
            <a:off x="3565875" y="3232950"/>
            <a:ext cx="620700" cy="588600"/>
            <a:chOff x="3565875" y="2699550"/>
            <a:chExt cx="620700" cy="588600"/>
          </a:xfrm>
        </p:grpSpPr>
        <p:sp>
          <p:nvSpPr>
            <p:cNvPr id="158" name="Google Shape;158;p20"/>
            <p:cNvSpPr txBox="1"/>
            <p:nvPr/>
          </p:nvSpPr>
          <p:spPr>
            <a:xfrm>
              <a:off x="3565875" y="2983950"/>
              <a:ext cx="620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7474F"/>
                  </a:solidFill>
                  <a:latin typeface="Average"/>
                  <a:ea typeface="Average"/>
                  <a:cs typeface="Average"/>
                  <a:sym typeface="Average"/>
                </a:rPr>
                <a:t>START</a:t>
              </a:r>
              <a:endParaRPr sz="1000">
                <a:solidFill>
                  <a:srgbClr val="37474F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  <p:cxnSp>
          <p:nvCxnSpPr>
            <p:cNvPr id="159" name="Google Shape;159;p20"/>
            <p:cNvCxnSpPr>
              <a:stCxn id="158" idx="0"/>
            </p:cNvCxnSpPr>
            <p:nvPr/>
          </p:nvCxnSpPr>
          <p:spPr>
            <a:xfrm flipH="1" rot="10800000">
              <a:off x="3876225" y="2699550"/>
              <a:ext cx="221700" cy="284400"/>
            </a:xfrm>
            <a:prstGeom prst="straightConnector1">
              <a:avLst/>
            </a:prstGeom>
            <a:noFill/>
            <a:ln cap="flat" cmpd="sng" w="9525">
              <a:solidFill>
                <a:srgbClr val="3747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Finite State Machines</a:t>
            </a:r>
            <a:endParaRPr/>
          </a:p>
        </p:txBody>
      </p:sp>
      <p:sp>
        <p:nvSpPr>
          <p:cNvPr id="165" name="Google Shape;165;p21"/>
          <p:cNvSpPr txBox="1"/>
          <p:nvPr>
            <p:ph idx="1" type="body"/>
          </p:nvPr>
        </p:nvSpPr>
        <p:spPr>
          <a:xfrm>
            <a:off x="228600" y="914400"/>
            <a:ext cx="86442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Moore machine has an </a:t>
            </a:r>
            <a:r>
              <a:rPr lang="en" u="sng">
                <a:solidFill>
                  <a:schemeClr val="dk1"/>
                </a:solidFill>
              </a:rPr>
              <a:t>output function</a:t>
            </a:r>
            <a:r>
              <a:rPr lang="en">
                <a:solidFill>
                  <a:schemeClr val="dk1"/>
                </a:solidFill>
              </a:rPr>
              <a:t> which only requires the </a:t>
            </a:r>
            <a:r>
              <a:rPr lang="en" u="sng">
                <a:solidFill>
                  <a:schemeClr val="dk1"/>
                </a:solidFill>
              </a:rPr>
              <a:t>current state</a:t>
            </a:r>
            <a:r>
              <a:rPr lang="en">
                <a:solidFill>
                  <a:schemeClr val="dk1"/>
                </a:solidFill>
              </a:rPr>
              <a:t> as an input.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chemeClr val="dk1"/>
                </a:solidFill>
              </a:rPr>
              <a:t>F(S) → 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Mealy machine has an </a:t>
            </a:r>
            <a:r>
              <a:rPr lang="en" u="sng">
                <a:solidFill>
                  <a:schemeClr val="dk1"/>
                </a:solidFill>
              </a:rPr>
              <a:t>output function</a:t>
            </a:r>
            <a:r>
              <a:rPr lang="en">
                <a:solidFill>
                  <a:schemeClr val="dk1"/>
                </a:solidFill>
              </a:rPr>
              <a:t> which requires both the </a:t>
            </a:r>
            <a:r>
              <a:rPr lang="en" u="sng">
                <a:solidFill>
                  <a:schemeClr val="dk1"/>
                </a:solidFill>
              </a:rPr>
              <a:t>current state and current input</a:t>
            </a:r>
            <a:r>
              <a:rPr lang="en">
                <a:solidFill>
                  <a:schemeClr val="dk1"/>
                </a:solidFill>
              </a:rPr>
              <a:t> as input.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solidFill>
                  <a:schemeClr val="dk1"/>
                </a:solidFill>
              </a:rPr>
              <a:t>F(S, I) → 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b="1" lang="en" u="sng">
                <a:solidFill>
                  <a:schemeClr val="dk1"/>
                </a:solidFill>
              </a:rPr>
              <a:t>Moore</a:t>
            </a:r>
            <a:r>
              <a:rPr b="1" lang="en">
                <a:solidFill>
                  <a:schemeClr val="dk1"/>
                </a:solidFill>
              </a:rPr>
              <a:t> or Mealy?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6" name="Google Shape;166;p21"/>
          <p:cNvSpPr txBox="1"/>
          <p:nvPr>
            <p:ph idx="12" type="sldNum"/>
          </p:nvPr>
        </p:nvSpPr>
        <p:spPr>
          <a:xfrm>
            <a:off x="8603700" y="53767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3518650" y="2437650"/>
            <a:ext cx="4971600" cy="239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37474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3995050" y="263397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S_0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0</a:t>
            </a:r>
            <a:endParaRPr sz="800"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5111496" y="369432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S_1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1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6233600" y="263397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S_2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0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7351776" y="3694325"/>
            <a:ext cx="701700" cy="701700"/>
          </a:xfrm>
          <a:prstGeom prst="ellipse">
            <a:avLst/>
          </a:prstGeom>
          <a:solidFill>
            <a:srgbClr val="E0E0E0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S_3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Average"/>
                <a:ea typeface="Average"/>
                <a:cs typeface="Average"/>
                <a:sym typeface="Average"/>
              </a:rPr>
              <a:t>out = 1</a:t>
            </a:r>
            <a:endParaRPr>
              <a:solidFill>
                <a:srgbClr val="0000F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72" name="Google Shape;172;p21"/>
          <p:cNvCxnSpPr>
            <a:stCxn id="168" idx="4"/>
            <a:endCxn id="169" idx="2"/>
          </p:cNvCxnSpPr>
          <p:nvPr/>
        </p:nvCxnSpPr>
        <p:spPr>
          <a:xfrm flipH="1" rot="-5400000">
            <a:off x="4373950" y="3307625"/>
            <a:ext cx="709500" cy="7656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" name="Google Shape;173;p21"/>
          <p:cNvCxnSpPr>
            <a:stCxn id="169" idx="6"/>
            <a:endCxn id="170" idx="4"/>
          </p:cNvCxnSpPr>
          <p:nvPr/>
        </p:nvCxnSpPr>
        <p:spPr>
          <a:xfrm flipH="1" rot="10800000">
            <a:off x="5813196" y="3335675"/>
            <a:ext cx="771300" cy="7095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" name="Google Shape;174;p21"/>
          <p:cNvCxnSpPr>
            <a:stCxn id="170" idx="2"/>
            <a:endCxn id="168" idx="6"/>
          </p:cNvCxnSpPr>
          <p:nvPr/>
        </p:nvCxnSpPr>
        <p:spPr>
          <a:xfrm flipH="1">
            <a:off x="4696700" y="2984825"/>
            <a:ext cx="1536900" cy="6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5" name="Google Shape;175;p21"/>
          <p:cNvCxnSpPr>
            <a:stCxn id="170" idx="4"/>
            <a:endCxn id="171" idx="2"/>
          </p:cNvCxnSpPr>
          <p:nvPr/>
        </p:nvCxnSpPr>
        <p:spPr>
          <a:xfrm flipH="1" rot="-5400000">
            <a:off x="6613400" y="3306725"/>
            <a:ext cx="709500" cy="7674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" name="Google Shape;176;p21"/>
          <p:cNvCxnSpPr>
            <a:stCxn id="171" idx="0"/>
            <a:endCxn id="170" idx="6"/>
          </p:cNvCxnSpPr>
          <p:nvPr/>
        </p:nvCxnSpPr>
        <p:spPr>
          <a:xfrm flipH="1" rot="5400000">
            <a:off x="6964176" y="2955875"/>
            <a:ext cx="709500" cy="7674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7" name="Google Shape;177;p21"/>
          <p:cNvSpPr txBox="1"/>
          <p:nvPr/>
        </p:nvSpPr>
        <p:spPr>
          <a:xfrm>
            <a:off x="4137400" y="3787350"/>
            <a:ext cx="306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3617400" y="298980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79" name="Google Shape;179;p21"/>
          <p:cNvCxnSpPr>
            <a:stCxn id="168" idx="2"/>
            <a:endCxn id="168" idx="1"/>
          </p:cNvCxnSpPr>
          <p:nvPr/>
        </p:nvCxnSpPr>
        <p:spPr>
          <a:xfrm flipH="1" rot="10800000">
            <a:off x="3995050" y="2736725"/>
            <a:ext cx="102900" cy="248100"/>
          </a:xfrm>
          <a:prstGeom prst="curvedConnector4">
            <a:avLst>
              <a:gd fmla="val -231414" name="adj1"/>
              <a:gd fmla="val 237394" name="adj2"/>
            </a:avLst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0" name="Google Shape;180;p21"/>
          <p:cNvSpPr txBox="1"/>
          <p:nvPr/>
        </p:nvSpPr>
        <p:spPr>
          <a:xfrm>
            <a:off x="5451750" y="3224525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81" name="Google Shape;181;p21"/>
          <p:cNvCxnSpPr>
            <a:stCxn id="169" idx="0"/>
            <a:endCxn id="168" idx="6"/>
          </p:cNvCxnSpPr>
          <p:nvPr/>
        </p:nvCxnSpPr>
        <p:spPr>
          <a:xfrm flipH="1" rot="5400000">
            <a:off x="4724796" y="2956775"/>
            <a:ext cx="709500" cy="765600"/>
          </a:xfrm>
          <a:prstGeom prst="curvedConnector2">
            <a:avLst/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2" name="Google Shape;182;p21"/>
          <p:cNvSpPr txBox="1"/>
          <p:nvPr/>
        </p:nvSpPr>
        <p:spPr>
          <a:xfrm>
            <a:off x="6090025" y="3990425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6779288" y="351735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84" name="Google Shape;184;p21"/>
          <p:cNvCxnSpPr>
            <a:stCxn id="171" idx="4"/>
            <a:endCxn id="171" idx="6"/>
          </p:cNvCxnSpPr>
          <p:nvPr/>
        </p:nvCxnSpPr>
        <p:spPr>
          <a:xfrm rot="-5400000">
            <a:off x="7702626" y="4045025"/>
            <a:ext cx="351000" cy="351000"/>
          </a:xfrm>
          <a:prstGeom prst="curvedConnector4">
            <a:avLst>
              <a:gd fmla="val -67842" name="adj1"/>
              <a:gd fmla="val 167799" name="adj2"/>
            </a:avLst>
          </a:prstGeom>
          <a:noFill/>
          <a:ln cap="flat" cmpd="sng" w="9525">
            <a:solidFill>
              <a:srgbClr val="37474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5" name="Google Shape;185;p21"/>
          <p:cNvSpPr txBox="1"/>
          <p:nvPr/>
        </p:nvSpPr>
        <p:spPr>
          <a:xfrm>
            <a:off x="7373388" y="4513925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7513763" y="298980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614663" y="2705400"/>
            <a:ext cx="377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Average"/>
                <a:ea typeface="Average"/>
                <a:cs typeface="Average"/>
                <a:sym typeface="Average"/>
              </a:rPr>
              <a:t>B’</a:t>
            </a:r>
            <a:endParaRPr sz="1800">
              <a:solidFill>
                <a:srgbClr val="FF00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grpSp>
        <p:nvGrpSpPr>
          <p:cNvPr id="188" name="Google Shape;188;p21"/>
          <p:cNvGrpSpPr/>
          <p:nvPr/>
        </p:nvGrpSpPr>
        <p:grpSpPr>
          <a:xfrm>
            <a:off x="3565875" y="3232950"/>
            <a:ext cx="620700" cy="588600"/>
            <a:chOff x="3565875" y="2699550"/>
            <a:chExt cx="620700" cy="588600"/>
          </a:xfrm>
        </p:grpSpPr>
        <p:sp>
          <p:nvSpPr>
            <p:cNvPr id="189" name="Google Shape;189;p21"/>
            <p:cNvSpPr txBox="1"/>
            <p:nvPr/>
          </p:nvSpPr>
          <p:spPr>
            <a:xfrm>
              <a:off x="3565875" y="2983950"/>
              <a:ext cx="620700" cy="3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7474F"/>
                  </a:solidFill>
                  <a:latin typeface="Average"/>
                  <a:ea typeface="Average"/>
                  <a:cs typeface="Average"/>
                  <a:sym typeface="Average"/>
                </a:rPr>
                <a:t>START</a:t>
              </a:r>
              <a:endParaRPr sz="1000">
                <a:solidFill>
                  <a:srgbClr val="37474F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  <p:cxnSp>
          <p:nvCxnSpPr>
            <p:cNvPr id="190" name="Google Shape;190;p21"/>
            <p:cNvCxnSpPr>
              <a:stCxn id="189" idx="0"/>
            </p:cNvCxnSpPr>
            <p:nvPr/>
          </p:nvCxnSpPr>
          <p:spPr>
            <a:xfrm flipH="1" rot="10800000">
              <a:off x="3876225" y="2699550"/>
              <a:ext cx="221700" cy="284400"/>
            </a:xfrm>
            <a:prstGeom prst="straightConnector1">
              <a:avLst/>
            </a:prstGeom>
            <a:noFill/>
            <a:ln cap="flat" cmpd="sng" w="9525">
              <a:solidFill>
                <a:srgbClr val="3747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2: FSMs</a:t>
            </a:r>
            <a:endParaRPr/>
          </a:p>
        </p:txBody>
      </p:sp>
      <p:sp>
        <p:nvSpPr>
          <p:cNvPr id="196" name="Google Shape;19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solidFill>
                  <a:schemeClr val="dk1"/>
                </a:solidFill>
              </a:rPr>
              <a:t>Design a Moore machine where the output Y goes high (=1) when the last six bits of the input X were 100101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en">
                <a:solidFill>
                  <a:schemeClr val="dk1"/>
                </a:solidFill>
              </a:rPr>
              <a:t>Fill in the table: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650" y="2906970"/>
            <a:ext cx="4000425" cy="18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3</a:t>
            </a:r>
            <a:endParaRPr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Expose buggy instructor solutions for P2a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For this problem, your group will be submitting (to autograder.io) </a:t>
            </a:r>
            <a:r>
              <a:rPr b="1" lang="en" sz="1400" u="sng">
                <a:solidFill>
                  <a:schemeClr val="dk1"/>
                </a:solidFill>
              </a:rPr>
              <a:t>assembly code AND its correct output object file</a:t>
            </a:r>
            <a:r>
              <a:rPr lang="en" sz="1400">
                <a:solidFill>
                  <a:schemeClr val="dk1"/>
                </a:solidFill>
              </a:rPr>
              <a:t> when run through the project 2a assembler.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Once you have written test cases that expose the bugs, you must write the corresponding correct object file output and submit it to the autograder for full credit.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chemeClr val="dk1"/>
                </a:solidFill>
              </a:rPr>
              <a:t>In addition to the constraints listed in the project, </a:t>
            </a:r>
            <a:r>
              <a:rPr b="1" lang="en" sz="1400" u="sng">
                <a:solidFill>
                  <a:schemeClr val="dk1"/>
                </a:solidFill>
              </a:rPr>
              <a:t>each LC2K program you write must be limited to 4 lines or fewer</a:t>
            </a:r>
            <a:r>
              <a:rPr lang="en" sz="1400">
                <a:solidFill>
                  <a:schemeClr val="dk1"/>
                </a:solidFill>
              </a:rPr>
              <a:t>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No test cases should cause errors on a correct assembler.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 u="sng">
                <a:solidFill>
                  <a:schemeClr val="dk1"/>
                </a:solidFill>
              </a:rPr>
              <a:t>Each submission will be limited to 4 test cases</a:t>
            </a:r>
            <a:r>
              <a:rPr lang="en" sz="1400">
                <a:solidFill>
                  <a:schemeClr val="dk1"/>
                </a:solidFill>
              </a:rPr>
              <a:t>, but fewer may be needed.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Each output file name must be the same as the assembly, with the extension changed to .obj.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Slides</a:t>
            </a:r>
            <a:endParaRPr/>
          </a:p>
        </p:txBody>
      </p:sp>
      <p:sp>
        <p:nvSpPr>
          <p:cNvPr id="211" name="Google Shape;21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cover?</a:t>
            </a:r>
            <a:endParaRPr/>
          </a:p>
        </p:txBody>
      </p:sp>
      <p:sp>
        <p:nvSpPr>
          <p:cNvPr id="218" name="Google Shape;21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Gates					Problems 1, 2		Slides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13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Muxes, Decoders, ALU		Problem 3			Slides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19-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Propagation Delay			Problem 4			Slides </a:t>
            </a:r>
            <a:r>
              <a:rPr lang="en" u="sng">
                <a:solidFill>
                  <a:schemeClr val="hlink"/>
                </a:solidFill>
                <a:hlinkClick action="ppaction://hlinksldjump" r:id="rId5"/>
              </a:rPr>
              <a:t>29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Timing Diagrams			Problem 5			Slides </a:t>
            </a:r>
            <a:r>
              <a:rPr lang="en" u="sng">
                <a:solidFill>
                  <a:schemeClr val="hlink"/>
                </a:solidFill>
                <a:hlinkClick action="ppaction://hlinksldjump" r:id="rId6"/>
              </a:rPr>
              <a:t>32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action="ppaction://hlinksldjump" r:id="rId7"/>
              </a:rPr>
              <a:t>37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Latches &amp; Flip Flops		Problem 5			Slides </a:t>
            </a:r>
            <a:r>
              <a:rPr lang="en" u="sng">
                <a:solidFill>
                  <a:schemeClr val="hlink"/>
                </a:solidFill>
                <a:hlinkClick action="ppaction://hlinksldjump" r:id="rId8"/>
              </a:rPr>
              <a:t>34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Finite State Machines		Problems 6, 7		Slides </a:t>
            </a:r>
            <a:r>
              <a:rPr lang="en" u="sng">
                <a:solidFill>
                  <a:schemeClr val="hlink"/>
                </a:solidFill>
                <a:hlinkClick action="ppaction://hlinksldjump" r:id="rId9"/>
              </a:rPr>
              <a:t>42</a:t>
            </a:r>
            <a:endParaRPr/>
          </a:p>
        </p:txBody>
      </p:sp>
      <p:sp>
        <p:nvSpPr>
          <p:cNvPr id="219" name="Google Shape;219;p2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/>
          <p:nvPr/>
        </p:nvSpPr>
        <p:spPr>
          <a:xfrm>
            <a:off x="4032075" y="762000"/>
            <a:ext cx="5112000" cy="384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"/>
          <p:cNvSpPr txBox="1"/>
          <p:nvPr>
            <p:ph idx="1" type="body"/>
          </p:nvPr>
        </p:nvSpPr>
        <p:spPr>
          <a:xfrm>
            <a:off x="9325" y="1655075"/>
            <a:ext cx="4124400" cy="17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" sz="2000"/>
              <a:t>Logic Gates</a:t>
            </a:r>
            <a:r>
              <a:rPr lang="en" sz="2000">
                <a:solidFill>
                  <a:schemeClr val="dk1"/>
                </a:solidFill>
              </a:rPr>
              <a:t> i</a:t>
            </a: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mplement Boolean operators using transistors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" sz="1800"/>
              <a:t>Logic gates form the basis of computers.</a:t>
            </a:r>
            <a:endParaRPr sz="1800"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" sz="1800"/>
              <a:t>Implemented under the hood with transistors</a:t>
            </a:r>
            <a:endParaRPr sz="1800"/>
          </a:p>
          <a:p>
            <a:pPr indent="0" lvl="0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26"/>
          <p:cNvSpPr/>
          <p:nvPr/>
        </p:nvSpPr>
        <p:spPr>
          <a:xfrm>
            <a:off x="5665787" y="2876550"/>
            <a:ext cx="63600" cy="47700"/>
          </a:xfrm>
          <a:prstGeom prst="ellipse">
            <a:avLst/>
          </a:prstGeom>
          <a:solidFill>
            <a:srgbClr val="0078C1"/>
          </a:solidFill>
          <a:ln cap="flat" cmpd="sng" w="952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7953375" y="1514475"/>
            <a:ext cx="673200" cy="691800"/>
          </a:xfrm>
          <a:prstGeom prst="rect">
            <a:avLst/>
          </a:prstGeom>
          <a:solidFill>
            <a:srgbClr val="D4E0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5346700" y="1514475"/>
            <a:ext cx="453900" cy="445200"/>
          </a:xfrm>
          <a:prstGeom prst="rect">
            <a:avLst/>
          </a:prstGeom>
          <a:solidFill>
            <a:srgbClr val="D4E0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6"/>
          <p:cNvSpPr txBox="1"/>
          <p:nvPr/>
        </p:nvSpPr>
        <p:spPr>
          <a:xfrm>
            <a:off x="8031162" y="1528763"/>
            <a:ext cx="699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8027987" y="1666875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8027987" y="1806178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33" name="Google Shape;233;p26"/>
          <p:cNvSpPr txBox="1"/>
          <p:nvPr/>
        </p:nvSpPr>
        <p:spPr>
          <a:xfrm>
            <a:off x="8027987" y="1945481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34" name="Google Shape;234;p26"/>
          <p:cNvSpPr txBox="1"/>
          <p:nvPr/>
        </p:nvSpPr>
        <p:spPr>
          <a:xfrm>
            <a:off x="8027987" y="2084784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8207375" y="1528763"/>
            <a:ext cx="699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236" name="Google Shape;236;p26"/>
          <p:cNvSpPr txBox="1"/>
          <p:nvPr/>
        </p:nvSpPr>
        <p:spPr>
          <a:xfrm>
            <a:off x="8204200" y="1666875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37" name="Google Shape;237;p26"/>
          <p:cNvSpPr txBox="1"/>
          <p:nvPr/>
        </p:nvSpPr>
        <p:spPr>
          <a:xfrm>
            <a:off x="8204200" y="1806178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38" name="Google Shape;238;p26"/>
          <p:cNvSpPr txBox="1"/>
          <p:nvPr/>
        </p:nvSpPr>
        <p:spPr>
          <a:xfrm>
            <a:off x="8204200" y="1945481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39" name="Google Shape;239;p26"/>
          <p:cNvSpPr txBox="1"/>
          <p:nvPr/>
        </p:nvSpPr>
        <p:spPr>
          <a:xfrm>
            <a:off x="8204200" y="2084784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8447087" y="1528763"/>
            <a:ext cx="858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8443912" y="1666875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8443912" y="1806178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8443912" y="1945481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8443912" y="2084784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245" name="Google Shape;245;p26"/>
          <p:cNvCxnSpPr/>
          <p:nvPr/>
        </p:nvCxnSpPr>
        <p:spPr>
          <a:xfrm>
            <a:off x="8356600" y="1518046"/>
            <a:ext cx="1500" cy="685800"/>
          </a:xfrm>
          <a:prstGeom prst="straightConnector1">
            <a:avLst/>
          </a:prstGeom>
          <a:noFill/>
          <a:ln cap="flat" cmpd="sng" w="9525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6" name="Google Shape;246;p26"/>
          <p:cNvCxnSpPr/>
          <p:nvPr/>
        </p:nvCxnSpPr>
        <p:spPr>
          <a:xfrm>
            <a:off x="7956550" y="1659731"/>
            <a:ext cx="669900" cy="1200"/>
          </a:xfrm>
          <a:prstGeom prst="straightConnector1">
            <a:avLst/>
          </a:prstGeom>
          <a:noFill/>
          <a:ln cap="flat" cmpd="sng" w="9525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47" name="Google Shape;247;p26"/>
          <p:cNvSpPr txBox="1"/>
          <p:nvPr/>
        </p:nvSpPr>
        <p:spPr>
          <a:xfrm>
            <a:off x="6608762" y="1514475"/>
            <a:ext cx="674700" cy="691800"/>
          </a:xfrm>
          <a:prstGeom prst="rect">
            <a:avLst/>
          </a:prstGeom>
          <a:solidFill>
            <a:srgbClr val="D4E0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8" name="Google Shape;248;p26"/>
          <p:cNvCxnSpPr/>
          <p:nvPr/>
        </p:nvCxnSpPr>
        <p:spPr>
          <a:xfrm>
            <a:off x="7013575" y="1518046"/>
            <a:ext cx="1500" cy="685800"/>
          </a:xfrm>
          <a:prstGeom prst="straightConnector1">
            <a:avLst/>
          </a:prstGeom>
          <a:noFill/>
          <a:ln cap="flat" cmpd="sng" w="9525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49" name="Google Shape;249;p26"/>
          <p:cNvCxnSpPr/>
          <p:nvPr/>
        </p:nvCxnSpPr>
        <p:spPr>
          <a:xfrm>
            <a:off x="6618287" y="1659731"/>
            <a:ext cx="665100" cy="1200"/>
          </a:xfrm>
          <a:prstGeom prst="straightConnector1">
            <a:avLst/>
          </a:prstGeom>
          <a:noFill/>
          <a:ln cap="flat" cmpd="sng" w="9525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0" name="Google Shape;250;p26"/>
          <p:cNvSpPr txBox="1"/>
          <p:nvPr/>
        </p:nvSpPr>
        <p:spPr>
          <a:xfrm>
            <a:off x="6691312" y="1528763"/>
            <a:ext cx="699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6688137" y="1666875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6688137" y="1806178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6688137" y="1945481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6688137" y="2084784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6867525" y="1528763"/>
            <a:ext cx="699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6864350" y="1666875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6864350" y="1806178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6864350" y="1945481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6864350" y="2084784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7105650" y="1528763"/>
            <a:ext cx="858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7104062" y="1666875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7104062" y="1806178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7104062" y="1945481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7104062" y="2084784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5429250" y="1528763"/>
            <a:ext cx="699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5426075" y="1666875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5426075" y="1806178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5667375" y="1528763"/>
            <a:ext cx="858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5665787" y="1666875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5665787" y="1806178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271" name="Google Shape;271;p26"/>
          <p:cNvCxnSpPr/>
          <p:nvPr/>
        </p:nvCxnSpPr>
        <p:spPr>
          <a:xfrm>
            <a:off x="5578475" y="1518046"/>
            <a:ext cx="1500" cy="441600"/>
          </a:xfrm>
          <a:prstGeom prst="straightConnector1">
            <a:avLst/>
          </a:prstGeom>
          <a:noFill/>
          <a:ln cap="flat" cmpd="sng" w="9525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2" name="Google Shape;272;p26"/>
          <p:cNvCxnSpPr/>
          <p:nvPr/>
        </p:nvCxnSpPr>
        <p:spPr>
          <a:xfrm>
            <a:off x="5346700" y="1659731"/>
            <a:ext cx="453900" cy="1200"/>
          </a:xfrm>
          <a:prstGeom prst="straightConnector1">
            <a:avLst/>
          </a:prstGeom>
          <a:noFill/>
          <a:ln cap="flat" cmpd="sng" w="9525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3" name="Google Shape;273;p26"/>
          <p:cNvSpPr txBox="1"/>
          <p:nvPr/>
        </p:nvSpPr>
        <p:spPr>
          <a:xfrm>
            <a:off x="5926137" y="1178719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5162550" y="1165622"/>
            <a:ext cx="699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grpSp>
        <p:nvGrpSpPr>
          <p:cNvPr id="275" name="Google Shape;275;p26"/>
          <p:cNvGrpSpPr/>
          <p:nvPr/>
        </p:nvGrpSpPr>
        <p:grpSpPr>
          <a:xfrm>
            <a:off x="6473825" y="914400"/>
            <a:ext cx="958762" cy="486965"/>
            <a:chOff x="6473825" y="1219200"/>
            <a:chExt cx="958762" cy="649287"/>
          </a:xfrm>
        </p:grpSpPr>
        <p:sp>
          <p:nvSpPr>
            <p:cNvPr id="276" name="Google Shape;276;p26"/>
            <p:cNvSpPr/>
            <p:nvPr/>
          </p:nvSpPr>
          <p:spPr>
            <a:xfrm>
              <a:off x="6669087" y="1417637"/>
              <a:ext cx="454025" cy="450850"/>
            </a:xfrm>
            <a:custGeom>
              <a:rect b="b" l="l" r="r" t="t"/>
              <a:pathLst>
                <a:path extrusionOk="0" h="107" w="108">
                  <a:moveTo>
                    <a:pt x="108" y="53"/>
                  </a:moveTo>
                  <a:cubicBezTo>
                    <a:pt x="108" y="53"/>
                    <a:pt x="83" y="107"/>
                    <a:pt x="0" y="107"/>
                  </a:cubicBezTo>
                  <a:cubicBezTo>
                    <a:pt x="0" y="107"/>
                    <a:pt x="16" y="101"/>
                    <a:pt x="16" y="54"/>
                  </a:cubicBezTo>
                  <a:cubicBezTo>
                    <a:pt x="16" y="53"/>
                    <a:pt x="16" y="53"/>
                    <a:pt x="16" y="53"/>
                  </a:cubicBezTo>
                  <a:cubicBezTo>
                    <a:pt x="16" y="6"/>
                    <a:pt x="0" y="0"/>
                    <a:pt x="0" y="0"/>
                  </a:cubicBezTo>
                  <a:cubicBezTo>
                    <a:pt x="83" y="0"/>
                    <a:pt x="108" y="53"/>
                    <a:pt x="108" y="53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7" name="Google Shape;277;p26"/>
            <p:cNvCxnSpPr/>
            <p:nvPr/>
          </p:nvCxnSpPr>
          <p:spPr>
            <a:xfrm>
              <a:off x="6562725" y="1527175"/>
              <a:ext cx="1650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8" name="Google Shape;278;p26"/>
            <p:cNvCxnSpPr/>
            <p:nvPr/>
          </p:nvCxnSpPr>
          <p:spPr>
            <a:xfrm>
              <a:off x="6562725" y="1754187"/>
              <a:ext cx="1650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79" name="Google Shape;279;p26"/>
            <p:cNvCxnSpPr/>
            <p:nvPr/>
          </p:nvCxnSpPr>
          <p:spPr>
            <a:xfrm>
              <a:off x="7123112" y="1639887"/>
              <a:ext cx="1890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80" name="Google Shape;280;p26"/>
            <p:cNvSpPr txBox="1"/>
            <p:nvPr/>
          </p:nvSpPr>
          <p:spPr>
            <a:xfrm>
              <a:off x="6478587" y="1439862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281" name="Google Shape;281;p26"/>
            <p:cNvSpPr txBox="1"/>
            <p:nvPr/>
          </p:nvSpPr>
          <p:spPr>
            <a:xfrm>
              <a:off x="6473825" y="166687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282" name="Google Shape;282;p26"/>
            <p:cNvSpPr txBox="1"/>
            <p:nvPr/>
          </p:nvSpPr>
          <p:spPr>
            <a:xfrm>
              <a:off x="7354887" y="1579562"/>
              <a:ext cx="777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283" name="Google Shape;283;p26"/>
            <p:cNvSpPr txBox="1"/>
            <p:nvPr/>
          </p:nvSpPr>
          <p:spPr>
            <a:xfrm>
              <a:off x="6853214" y="1219200"/>
              <a:ext cx="3381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</a:t>
              </a:r>
              <a:endParaRPr/>
            </a:p>
          </p:txBody>
        </p:sp>
      </p:grpSp>
      <p:sp>
        <p:nvSpPr>
          <p:cNvPr id="284" name="Google Shape;284;p26"/>
          <p:cNvSpPr txBox="1"/>
          <p:nvPr/>
        </p:nvSpPr>
        <p:spPr>
          <a:xfrm>
            <a:off x="5457825" y="914400"/>
            <a:ext cx="101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5546725" y="914400"/>
            <a:ext cx="101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5635625" y="914400"/>
            <a:ext cx="858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grpSp>
        <p:nvGrpSpPr>
          <p:cNvPr id="287" name="Google Shape;287;p26"/>
          <p:cNvGrpSpPr/>
          <p:nvPr/>
        </p:nvGrpSpPr>
        <p:grpSpPr>
          <a:xfrm>
            <a:off x="7754937" y="914400"/>
            <a:ext cx="1084175" cy="486965"/>
            <a:chOff x="7754937" y="1219200"/>
            <a:chExt cx="1084175" cy="649287"/>
          </a:xfrm>
        </p:grpSpPr>
        <p:sp>
          <p:nvSpPr>
            <p:cNvPr id="288" name="Google Shape;288;p26"/>
            <p:cNvSpPr txBox="1"/>
            <p:nvPr/>
          </p:nvSpPr>
          <p:spPr>
            <a:xfrm>
              <a:off x="8761412" y="1579562"/>
              <a:ext cx="777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7989887" y="1412875"/>
              <a:ext cx="519112" cy="455612"/>
            </a:xfrm>
            <a:custGeom>
              <a:rect b="b" l="l" r="r" t="t"/>
              <a:pathLst>
                <a:path extrusionOk="0" h="108" w="123">
                  <a:moveTo>
                    <a:pt x="0" y="108"/>
                  </a:moveTo>
                  <a:cubicBezTo>
                    <a:pt x="69" y="108"/>
                    <a:pt x="69" y="108"/>
                    <a:pt x="69" y="108"/>
                  </a:cubicBezTo>
                  <a:cubicBezTo>
                    <a:pt x="99" y="108"/>
                    <a:pt x="123" y="84"/>
                    <a:pt x="123" y="54"/>
                  </a:cubicBezTo>
                  <a:cubicBezTo>
                    <a:pt x="123" y="24"/>
                    <a:pt x="99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90" name="Google Shape;290;p26"/>
            <p:cNvCxnSpPr/>
            <p:nvPr/>
          </p:nvCxnSpPr>
          <p:spPr>
            <a:xfrm>
              <a:off x="7843837" y="1527175"/>
              <a:ext cx="1428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1" name="Google Shape;291;p26"/>
            <p:cNvCxnSpPr/>
            <p:nvPr/>
          </p:nvCxnSpPr>
          <p:spPr>
            <a:xfrm>
              <a:off x="8509000" y="1639887"/>
              <a:ext cx="2094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2" name="Google Shape;292;p26"/>
            <p:cNvCxnSpPr/>
            <p:nvPr/>
          </p:nvCxnSpPr>
          <p:spPr>
            <a:xfrm>
              <a:off x="7843837" y="1754187"/>
              <a:ext cx="1428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293" name="Google Shape;293;p26"/>
            <p:cNvSpPr txBox="1"/>
            <p:nvPr/>
          </p:nvSpPr>
          <p:spPr>
            <a:xfrm>
              <a:off x="7756525" y="1441450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294" name="Google Shape;294;p26"/>
            <p:cNvSpPr txBox="1"/>
            <p:nvPr/>
          </p:nvSpPr>
          <p:spPr>
            <a:xfrm>
              <a:off x="7754937" y="1668462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295" name="Google Shape;295;p26"/>
            <p:cNvSpPr txBox="1"/>
            <p:nvPr/>
          </p:nvSpPr>
          <p:spPr>
            <a:xfrm>
              <a:off x="8145462" y="1219200"/>
              <a:ext cx="3048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</a:t>
              </a:r>
              <a:endParaRPr/>
            </a:p>
          </p:txBody>
        </p:sp>
      </p:grpSp>
      <p:grpSp>
        <p:nvGrpSpPr>
          <p:cNvPr id="296" name="Google Shape;296;p26"/>
          <p:cNvGrpSpPr/>
          <p:nvPr/>
        </p:nvGrpSpPr>
        <p:grpSpPr>
          <a:xfrm>
            <a:off x="6345237" y="2283619"/>
            <a:ext cx="1197025" cy="1321613"/>
            <a:chOff x="6345237" y="3044825"/>
            <a:chExt cx="1197025" cy="1762150"/>
          </a:xfrm>
        </p:grpSpPr>
        <p:cxnSp>
          <p:nvCxnSpPr>
            <p:cNvPr id="297" name="Google Shape;297;p26"/>
            <p:cNvCxnSpPr/>
            <p:nvPr/>
          </p:nvCxnSpPr>
          <p:spPr>
            <a:xfrm>
              <a:off x="6937375" y="3148012"/>
              <a:ext cx="1500" cy="15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8" name="Google Shape;298;p26"/>
            <p:cNvCxnSpPr/>
            <p:nvPr/>
          </p:nvCxnSpPr>
          <p:spPr>
            <a:xfrm>
              <a:off x="6850062" y="3148012"/>
              <a:ext cx="1761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299" name="Google Shape;299;p26"/>
            <p:cNvCxnSpPr/>
            <p:nvPr/>
          </p:nvCxnSpPr>
          <p:spPr>
            <a:xfrm>
              <a:off x="6878637" y="3119437"/>
              <a:ext cx="1095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0" name="Google Shape;300;p26"/>
            <p:cNvCxnSpPr/>
            <p:nvPr/>
          </p:nvCxnSpPr>
          <p:spPr>
            <a:xfrm>
              <a:off x="6911975" y="3086100"/>
              <a:ext cx="477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01" name="Google Shape;301;p26"/>
            <p:cNvSpPr/>
            <p:nvPr/>
          </p:nvSpPr>
          <p:spPr>
            <a:xfrm>
              <a:off x="6904037" y="3952875"/>
              <a:ext cx="68400" cy="63600"/>
            </a:xfrm>
            <a:prstGeom prst="ellipse">
              <a:avLst/>
            </a:prstGeom>
            <a:solidFill>
              <a:srgbClr val="0078C1"/>
            </a:solidFill>
            <a:ln cap="flat" cmpd="sng" w="952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2" name="Google Shape;302;p26"/>
            <p:cNvCxnSpPr/>
            <p:nvPr/>
          </p:nvCxnSpPr>
          <p:spPr>
            <a:xfrm>
              <a:off x="6934200" y="3986212"/>
              <a:ext cx="4365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3" name="Google Shape;303;p26"/>
            <p:cNvCxnSpPr/>
            <p:nvPr/>
          </p:nvCxnSpPr>
          <p:spPr>
            <a:xfrm flipH="1" rot="10800000">
              <a:off x="6761162" y="3232287"/>
              <a:ext cx="1500" cy="2364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4" name="Google Shape;304;p26"/>
            <p:cNvCxnSpPr/>
            <p:nvPr/>
          </p:nvCxnSpPr>
          <p:spPr>
            <a:xfrm>
              <a:off x="6559550" y="3351212"/>
              <a:ext cx="1968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5" name="Google Shape;305;p26"/>
            <p:cNvCxnSpPr/>
            <p:nvPr/>
          </p:nvCxnSpPr>
          <p:spPr>
            <a:xfrm flipH="1">
              <a:off x="6554799" y="3779837"/>
              <a:ext cx="2016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06" name="Google Shape;306;p26"/>
            <p:cNvSpPr/>
            <p:nvPr/>
          </p:nvSpPr>
          <p:spPr>
            <a:xfrm>
              <a:off x="6815137" y="3148012"/>
              <a:ext cx="122237" cy="935038"/>
            </a:xfrm>
            <a:custGeom>
              <a:rect b="b" l="l" r="r" t="t"/>
              <a:pathLst>
                <a:path extrusionOk="0" h="589" w="77">
                  <a:moveTo>
                    <a:pt x="77" y="589"/>
                  </a:moveTo>
                  <a:lnTo>
                    <a:pt x="77" y="467"/>
                  </a:lnTo>
                  <a:lnTo>
                    <a:pt x="0" y="467"/>
                  </a:lnTo>
                  <a:lnTo>
                    <a:pt x="0" y="329"/>
                  </a:lnTo>
                  <a:lnTo>
                    <a:pt x="77" y="329"/>
                  </a:lnTo>
                  <a:lnTo>
                    <a:pt x="77" y="197"/>
                  </a:lnTo>
                  <a:lnTo>
                    <a:pt x="0" y="197"/>
                  </a:lnTo>
                  <a:lnTo>
                    <a:pt x="0" y="59"/>
                  </a:lnTo>
                  <a:lnTo>
                    <a:pt x="77" y="59"/>
                  </a:lnTo>
                  <a:lnTo>
                    <a:pt x="77" y="0"/>
                  </a:lnTo>
                </a:path>
              </a:pathLst>
            </a:cu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7" name="Google Shape;307;p26"/>
            <p:cNvCxnSpPr/>
            <p:nvPr/>
          </p:nvCxnSpPr>
          <p:spPr>
            <a:xfrm>
              <a:off x="6937375" y="4513262"/>
              <a:ext cx="1500" cy="1398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08" name="Google Shape;308;p26"/>
            <p:cNvSpPr/>
            <p:nvPr/>
          </p:nvSpPr>
          <p:spPr>
            <a:xfrm>
              <a:off x="6684962" y="4083050"/>
              <a:ext cx="504825" cy="430212"/>
            </a:xfrm>
            <a:custGeom>
              <a:rect b="b" l="l" r="r" t="t"/>
              <a:pathLst>
                <a:path extrusionOk="0" h="271" w="318">
                  <a:moveTo>
                    <a:pt x="0" y="136"/>
                  </a:moveTo>
                  <a:lnTo>
                    <a:pt x="0" y="205"/>
                  </a:lnTo>
                  <a:lnTo>
                    <a:pt x="74" y="205"/>
                  </a:lnTo>
                  <a:lnTo>
                    <a:pt x="74" y="271"/>
                  </a:lnTo>
                  <a:lnTo>
                    <a:pt x="242" y="271"/>
                  </a:lnTo>
                  <a:lnTo>
                    <a:pt x="242" y="205"/>
                  </a:lnTo>
                  <a:lnTo>
                    <a:pt x="318" y="205"/>
                  </a:lnTo>
                  <a:lnTo>
                    <a:pt x="318" y="136"/>
                  </a:lnTo>
                  <a:lnTo>
                    <a:pt x="318" y="67"/>
                  </a:lnTo>
                  <a:lnTo>
                    <a:pt x="242" y="67"/>
                  </a:lnTo>
                  <a:lnTo>
                    <a:pt x="242" y="0"/>
                  </a:lnTo>
                  <a:lnTo>
                    <a:pt x="74" y="0"/>
                  </a:lnTo>
                  <a:lnTo>
                    <a:pt x="74" y="67"/>
                  </a:lnTo>
                  <a:lnTo>
                    <a:pt x="0" y="67"/>
                  </a:lnTo>
                  <a:lnTo>
                    <a:pt x="0" y="136"/>
                  </a:lnTo>
                  <a:close/>
                </a:path>
              </a:pathLst>
            </a:cu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09" name="Google Shape;309;p26"/>
            <p:cNvCxnSpPr/>
            <p:nvPr/>
          </p:nvCxnSpPr>
          <p:spPr>
            <a:xfrm>
              <a:off x="6761162" y="3662362"/>
              <a:ext cx="1500" cy="2397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10" name="Google Shape;310;p26"/>
            <p:cNvSpPr/>
            <p:nvPr/>
          </p:nvSpPr>
          <p:spPr>
            <a:xfrm>
              <a:off x="6908800" y="4640262"/>
              <a:ext cx="58737" cy="122237"/>
            </a:xfrm>
            <a:custGeom>
              <a:rect b="b" l="l" r="r" t="t"/>
              <a:pathLst>
                <a:path extrusionOk="0" h="77" w="37">
                  <a:moveTo>
                    <a:pt x="18" y="77"/>
                  </a:moveTo>
                  <a:lnTo>
                    <a:pt x="37" y="0"/>
                  </a:lnTo>
                  <a:lnTo>
                    <a:pt x="0" y="0"/>
                  </a:lnTo>
                  <a:lnTo>
                    <a:pt x="18" y="77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1" name="Google Shape;311;p26"/>
            <p:cNvCxnSpPr/>
            <p:nvPr/>
          </p:nvCxnSpPr>
          <p:spPr>
            <a:xfrm>
              <a:off x="6621462" y="4179887"/>
              <a:ext cx="1500" cy="2364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12" name="Google Shape;312;p26"/>
            <p:cNvCxnSpPr/>
            <p:nvPr/>
          </p:nvCxnSpPr>
          <p:spPr>
            <a:xfrm>
              <a:off x="7250112" y="4298950"/>
              <a:ext cx="1968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13" name="Google Shape;313;p26"/>
            <p:cNvCxnSpPr/>
            <p:nvPr/>
          </p:nvCxnSpPr>
          <p:spPr>
            <a:xfrm>
              <a:off x="6424612" y="4298950"/>
              <a:ext cx="1968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14" name="Google Shape;314;p26"/>
            <p:cNvCxnSpPr/>
            <p:nvPr/>
          </p:nvCxnSpPr>
          <p:spPr>
            <a:xfrm>
              <a:off x="7250112" y="4179887"/>
              <a:ext cx="1500" cy="2364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15" name="Google Shape;315;p26"/>
            <p:cNvSpPr txBox="1"/>
            <p:nvPr/>
          </p:nvSpPr>
          <p:spPr>
            <a:xfrm>
              <a:off x="6729412" y="304482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16" name="Google Shape;316;p26"/>
            <p:cNvSpPr txBox="1"/>
            <p:nvPr/>
          </p:nvSpPr>
          <p:spPr>
            <a:xfrm>
              <a:off x="6786562" y="463867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17" name="Google Shape;317;p26"/>
            <p:cNvSpPr txBox="1"/>
            <p:nvPr/>
          </p:nvSpPr>
          <p:spPr>
            <a:xfrm>
              <a:off x="6462712" y="326707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318" name="Google Shape;318;p26"/>
            <p:cNvSpPr txBox="1"/>
            <p:nvPr/>
          </p:nvSpPr>
          <p:spPr>
            <a:xfrm>
              <a:off x="6345237" y="4210050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319" name="Google Shape;319;p26"/>
            <p:cNvSpPr txBox="1"/>
            <p:nvPr/>
          </p:nvSpPr>
          <p:spPr>
            <a:xfrm>
              <a:off x="6462712" y="369887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320" name="Google Shape;320;p26"/>
            <p:cNvSpPr txBox="1"/>
            <p:nvPr/>
          </p:nvSpPr>
          <p:spPr>
            <a:xfrm>
              <a:off x="7472362" y="420052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321" name="Google Shape;321;p26"/>
            <p:cNvSpPr txBox="1"/>
            <p:nvPr/>
          </p:nvSpPr>
          <p:spPr>
            <a:xfrm>
              <a:off x="7404100" y="3916362"/>
              <a:ext cx="777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6684962" y="3316287"/>
              <a:ext cx="68400" cy="636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6684962" y="3746500"/>
              <a:ext cx="68400" cy="684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324" name="Google Shape;324;p26"/>
          <p:cNvCxnSpPr/>
          <p:nvPr/>
        </p:nvCxnSpPr>
        <p:spPr>
          <a:xfrm>
            <a:off x="5089525" y="2901553"/>
            <a:ext cx="227100" cy="1200"/>
          </a:xfrm>
          <a:prstGeom prst="straightConnector1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5" name="Google Shape;325;p26"/>
          <p:cNvCxnSpPr/>
          <p:nvPr/>
        </p:nvCxnSpPr>
        <p:spPr>
          <a:xfrm>
            <a:off x="5699125" y="3318272"/>
            <a:ext cx="1500" cy="41700"/>
          </a:xfrm>
          <a:prstGeom prst="straightConnector1">
            <a:avLst/>
          </a:prstGeom>
          <a:noFill/>
          <a:ln cap="flat" cmpd="sng" w="9525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6" name="Google Shape;326;p26"/>
          <p:cNvCxnSpPr/>
          <p:nvPr/>
        </p:nvCxnSpPr>
        <p:spPr>
          <a:xfrm>
            <a:off x="5611812" y="3359944"/>
            <a:ext cx="176100" cy="1200"/>
          </a:xfrm>
          <a:prstGeom prst="straightConnector1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7" name="Google Shape;327;p26"/>
          <p:cNvCxnSpPr/>
          <p:nvPr/>
        </p:nvCxnSpPr>
        <p:spPr>
          <a:xfrm>
            <a:off x="5645150" y="3384947"/>
            <a:ext cx="109500" cy="1200"/>
          </a:xfrm>
          <a:prstGeom prst="straightConnector1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8" name="Google Shape;328;p26"/>
          <p:cNvCxnSpPr/>
          <p:nvPr/>
        </p:nvCxnSpPr>
        <p:spPr>
          <a:xfrm>
            <a:off x="5675312" y="3407569"/>
            <a:ext cx="49200" cy="1200"/>
          </a:xfrm>
          <a:prstGeom prst="straightConnector1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29" name="Google Shape;329;p26"/>
          <p:cNvCxnSpPr/>
          <p:nvPr/>
        </p:nvCxnSpPr>
        <p:spPr>
          <a:xfrm>
            <a:off x="5695950" y="2897981"/>
            <a:ext cx="252300" cy="1200"/>
          </a:xfrm>
          <a:prstGeom prst="straightConnector1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30" name="Google Shape;330;p26"/>
          <p:cNvCxnSpPr/>
          <p:nvPr/>
        </p:nvCxnSpPr>
        <p:spPr>
          <a:xfrm flipH="1" rot="10800000">
            <a:off x="5518150" y="2576625"/>
            <a:ext cx="1500" cy="176100"/>
          </a:xfrm>
          <a:prstGeom prst="straightConnector1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1" name="Google Shape;331;p26"/>
          <p:cNvSpPr/>
          <p:nvPr/>
        </p:nvSpPr>
        <p:spPr>
          <a:xfrm>
            <a:off x="5321300" y="2664619"/>
            <a:ext cx="196850" cy="470297"/>
          </a:xfrm>
          <a:custGeom>
            <a:rect b="b" l="l" r="r" t="t"/>
            <a:pathLst>
              <a:path extrusionOk="0" h="395" w="124">
                <a:moveTo>
                  <a:pt x="122" y="395"/>
                </a:moveTo>
                <a:lnTo>
                  <a:pt x="0" y="395"/>
                </a:lnTo>
                <a:lnTo>
                  <a:pt x="0" y="0"/>
                </a:lnTo>
                <a:lnTo>
                  <a:pt x="124" y="0"/>
                </a:lnTo>
              </a:path>
            </a:pathLst>
          </a:custGeom>
          <a:noFill/>
          <a:ln cap="flat" cmpd="sng" w="17450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5578475" y="2368153"/>
            <a:ext cx="120650" cy="994172"/>
          </a:xfrm>
          <a:custGeom>
            <a:rect b="b" l="l" r="r" t="t"/>
            <a:pathLst>
              <a:path extrusionOk="0" h="835" w="76">
                <a:moveTo>
                  <a:pt x="76" y="835"/>
                </a:moveTo>
                <a:lnTo>
                  <a:pt x="76" y="713"/>
                </a:lnTo>
                <a:lnTo>
                  <a:pt x="0" y="713"/>
                </a:lnTo>
                <a:lnTo>
                  <a:pt x="0" y="575"/>
                </a:lnTo>
                <a:lnTo>
                  <a:pt x="76" y="575"/>
                </a:lnTo>
                <a:lnTo>
                  <a:pt x="76" y="318"/>
                </a:lnTo>
                <a:lnTo>
                  <a:pt x="0" y="318"/>
                </a:lnTo>
                <a:lnTo>
                  <a:pt x="0" y="180"/>
                </a:lnTo>
                <a:lnTo>
                  <a:pt x="76" y="180"/>
                </a:lnTo>
                <a:lnTo>
                  <a:pt x="76" y="0"/>
                </a:lnTo>
              </a:path>
            </a:pathLst>
          </a:custGeom>
          <a:noFill/>
          <a:ln cap="flat" cmpd="sng" w="17450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3" name="Google Shape;333;p26"/>
          <p:cNvCxnSpPr/>
          <p:nvPr/>
        </p:nvCxnSpPr>
        <p:spPr>
          <a:xfrm>
            <a:off x="5518150" y="3046809"/>
            <a:ext cx="1500" cy="177300"/>
          </a:xfrm>
          <a:prstGeom prst="straightConnector1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34" name="Google Shape;334;p26"/>
          <p:cNvSpPr/>
          <p:nvPr/>
        </p:nvSpPr>
        <p:spPr>
          <a:xfrm>
            <a:off x="5665787" y="2316956"/>
            <a:ext cx="63500" cy="51196"/>
          </a:xfrm>
          <a:custGeom>
            <a:rect b="b" l="l" r="r" t="t"/>
            <a:pathLst>
              <a:path extrusionOk="0" h="43" w="40">
                <a:moveTo>
                  <a:pt x="21" y="0"/>
                </a:moveTo>
                <a:lnTo>
                  <a:pt x="40" y="43"/>
                </a:lnTo>
                <a:lnTo>
                  <a:pt x="0" y="43"/>
                </a:lnTo>
                <a:lnTo>
                  <a:pt x="21" y="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5551487" y="2295525"/>
            <a:ext cx="699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5499100" y="3311128"/>
            <a:ext cx="699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5983287" y="2847975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4957762" y="2839640"/>
            <a:ext cx="77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5446712" y="2639615"/>
            <a:ext cx="63600" cy="501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5286375" y="2880122"/>
            <a:ext cx="63600" cy="46500"/>
          </a:xfrm>
          <a:prstGeom prst="ellipse">
            <a:avLst/>
          </a:prstGeom>
          <a:solidFill>
            <a:srgbClr val="0078C1"/>
          </a:solidFill>
          <a:ln cap="flat" cmpd="sng" w="952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1" name="Google Shape;341;p26"/>
          <p:cNvCxnSpPr/>
          <p:nvPr/>
        </p:nvCxnSpPr>
        <p:spPr>
          <a:xfrm>
            <a:off x="5721350" y="1229915"/>
            <a:ext cx="163500" cy="1200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42" name="Google Shape;342;p26"/>
          <p:cNvCxnSpPr/>
          <p:nvPr/>
        </p:nvCxnSpPr>
        <p:spPr>
          <a:xfrm>
            <a:off x="5262562" y="1229915"/>
            <a:ext cx="163500" cy="1200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43" name="Google Shape;343;p26"/>
          <p:cNvSpPr/>
          <p:nvPr/>
        </p:nvSpPr>
        <p:spPr>
          <a:xfrm>
            <a:off x="5426075" y="1101328"/>
            <a:ext cx="277812" cy="261938"/>
          </a:xfrm>
          <a:custGeom>
            <a:rect b="b" l="l" r="r" t="t"/>
            <a:pathLst>
              <a:path extrusionOk="0" h="220" w="175">
                <a:moveTo>
                  <a:pt x="0" y="220"/>
                </a:moveTo>
                <a:lnTo>
                  <a:pt x="175" y="108"/>
                </a:lnTo>
                <a:lnTo>
                  <a:pt x="0" y="0"/>
                </a:lnTo>
                <a:lnTo>
                  <a:pt x="0" y="22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5703887" y="1208484"/>
            <a:ext cx="68400" cy="47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4190996" y="1165625"/>
            <a:ext cx="6747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Symbol</a:t>
            </a:r>
            <a:endParaRPr/>
          </a:p>
        </p:txBody>
      </p:sp>
      <p:sp>
        <p:nvSpPr>
          <p:cNvPr id="346" name="Google Shape;346;p26"/>
          <p:cNvSpPr txBox="1"/>
          <p:nvPr/>
        </p:nvSpPr>
        <p:spPr>
          <a:xfrm>
            <a:off x="4191000" y="1681163"/>
            <a:ext cx="7206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Truth table</a:t>
            </a:r>
            <a:endParaRPr/>
          </a:p>
        </p:txBody>
      </p:sp>
      <p:sp>
        <p:nvSpPr>
          <p:cNvPr id="347" name="Google Shape;347;p26"/>
          <p:cNvSpPr txBox="1"/>
          <p:nvPr/>
        </p:nvSpPr>
        <p:spPr>
          <a:xfrm>
            <a:off x="4191000" y="2771775"/>
            <a:ext cx="7668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Transistor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circuit</a:t>
            </a:r>
            <a:endParaRPr/>
          </a:p>
        </p:txBody>
      </p:sp>
      <p:grpSp>
        <p:nvGrpSpPr>
          <p:cNvPr id="348" name="Google Shape;348;p26"/>
          <p:cNvGrpSpPr/>
          <p:nvPr/>
        </p:nvGrpSpPr>
        <p:grpSpPr>
          <a:xfrm>
            <a:off x="7681912" y="2283619"/>
            <a:ext cx="1217663" cy="1321613"/>
            <a:chOff x="7681912" y="3044825"/>
            <a:chExt cx="1217663" cy="1762150"/>
          </a:xfrm>
        </p:grpSpPr>
        <p:cxnSp>
          <p:nvCxnSpPr>
            <p:cNvPr id="349" name="Google Shape;349;p26"/>
            <p:cNvCxnSpPr/>
            <p:nvPr/>
          </p:nvCxnSpPr>
          <p:spPr>
            <a:xfrm>
              <a:off x="8277225" y="3805237"/>
              <a:ext cx="4335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0" name="Google Shape;350;p26"/>
            <p:cNvCxnSpPr/>
            <p:nvPr/>
          </p:nvCxnSpPr>
          <p:spPr>
            <a:xfrm>
              <a:off x="8099425" y="4324350"/>
              <a:ext cx="1500" cy="2349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1" name="Google Shape;351;p26"/>
            <p:cNvCxnSpPr/>
            <p:nvPr/>
          </p:nvCxnSpPr>
          <p:spPr>
            <a:xfrm>
              <a:off x="7902575" y="4441825"/>
              <a:ext cx="1968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2" name="Google Shape;352;p26"/>
            <p:cNvCxnSpPr/>
            <p:nvPr/>
          </p:nvCxnSpPr>
          <p:spPr>
            <a:xfrm flipH="1">
              <a:off x="7897949" y="4008437"/>
              <a:ext cx="1983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53" name="Google Shape;353;p26"/>
            <p:cNvSpPr/>
            <p:nvPr/>
          </p:nvSpPr>
          <p:spPr>
            <a:xfrm>
              <a:off x="8159750" y="3705225"/>
              <a:ext cx="117475" cy="938213"/>
            </a:xfrm>
            <a:custGeom>
              <a:rect b="b" l="l" r="r" t="t"/>
              <a:pathLst>
                <a:path extrusionOk="0" h="591" w="74">
                  <a:moveTo>
                    <a:pt x="74" y="0"/>
                  </a:moveTo>
                  <a:lnTo>
                    <a:pt x="74" y="122"/>
                  </a:lnTo>
                  <a:lnTo>
                    <a:pt x="0" y="122"/>
                  </a:lnTo>
                  <a:lnTo>
                    <a:pt x="0" y="260"/>
                  </a:lnTo>
                  <a:lnTo>
                    <a:pt x="74" y="260"/>
                  </a:lnTo>
                  <a:lnTo>
                    <a:pt x="74" y="262"/>
                  </a:lnTo>
                  <a:lnTo>
                    <a:pt x="74" y="395"/>
                  </a:lnTo>
                  <a:lnTo>
                    <a:pt x="0" y="395"/>
                  </a:lnTo>
                  <a:lnTo>
                    <a:pt x="0" y="533"/>
                  </a:lnTo>
                  <a:lnTo>
                    <a:pt x="74" y="533"/>
                  </a:lnTo>
                  <a:lnTo>
                    <a:pt x="74" y="591"/>
                  </a:lnTo>
                </a:path>
              </a:pathLst>
            </a:cu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54" name="Google Shape;354;p26"/>
            <p:cNvCxnSpPr/>
            <p:nvPr/>
          </p:nvCxnSpPr>
          <p:spPr>
            <a:xfrm flipH="1" rot="10800000">
              <a:off x="8277225" y="3139975"/>
              <a:ext cx="1500" cy="1398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55" name="Google Shape;355;p26"/>
            <p:cNvSpPr/>
            <p:nvPr/>
          </p:nvSpPr>
          <p:spPr>
            <a:xfrm>
              <a:off x="8024812" y="3275012"/>
              <a:ext cx="504825" cy="433387"/>
            </a:xfrm>
            <a:custGeom>
              <a:rect b="b" l="l" r="r" t="t"/>
              <a:pathLst>
                <a:path extrusionOk="0" h="273" w="318">
                  <a:moveTo>
                    <a:pt x="0" y="138"/>
                  </a:moveTo>
                  <a:lnTo>
                    <a:pt x="0" y="69"/>
                  </a:lnTo>
                  <a:lnTo>
                    <a:pt x="77" y="69"/>
                  </a:lnTo>
                  <a:lnTo>
                    <a:pt x="77" y="0"/>
                  </a:lnTo>
                  <a:lnTo>
                    <a:pt x="241" y="0"/>
                  </a:lnTo>
                  <a:lnTo>
                    <a:pt x="241" y="69"/>
                  </a:lnTo>
                  <a:lnTo>
                    <a:pt x="318" y="69"/>
                  </a:lnTo>
                  <a:lnTo>
                    <a:pt x="318" y="138"/>
                  </a:lnTo>
                  <a:lnTo>
                    <a:pt x="318" y="207"/>
                  </a:lnTo>
                  <a:lnTo>
                    <a:pt x="241" y="207"/>
                  </a:lnTo>
                  <a:lnTo>
                    <a:pt x="241" y="273"/>
                  </a:lnTo>
                  <a:lnTo>
                    <a:pt x="77" y="273"/>
                  </a:lnTo>
                  <a:lnTo>
                    <a:pt x="77" y="207"/>
                  </a:lnTo>
                  <a:lnTo>
                    <a:pt x="0" y="207"/>
                  </a:lnTo>
                  <a:lnTo>
                    <a:pt x="0" y="138"/>
                  </a:lnTo>
                  <a:close/>
                </a:path>
              </a:pathLst>
            </a:cu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56" name="Google Shape;356;p26"/>
            <p:cNvCxnSpPr/>
            <p:nvPr/>
          </p:nvCxnSpPr>
          <p:spPr>
            <a:xfrm flipH="1" rot="10800000">
              <a:off x="8099425" y="3889475"/>
              <a:ext cx="1500" cy="2412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7" name="Google Shape;357;p26"/>
            <p:cNvCxnSpPr/>
            <p:nvPr/>
          </p:nvCxnSpPr>
          <p:spPr>
            <a:xfrm flipH="1" rot="10800000">
              <a:off x="7966075" y="3376662"/>
              <a:ext cx="1500" cy="2349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8" name="Google Shape;358;p26"/>
            <p:cNvCxnSpPr/>
            <p:nvPr/>
          </p:nvCxnSpPr>
          <p:spPr>
            <a:xfrm>
              <a:off x="8634412" y="3494087"/>
              <a:ext cx="1650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59" name="Google Shape;359;p26"/>
            <p:cNvCxnSpPr/>
            <p:nvPr/>
          </p:nvCxnSpPr>
          <p:spPr>
            <a:xfrm>
              <a:off x="7762875" y="3494087"/>
              <a:ext cx="1557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60" name="Google Shape;360;p26"/>
            <p:cNvCxnSpPr/>
            <p:nvPr/>
          </p:nvCxnSpPr>
          <p:spPr>
            <a:xfrm flipH="1" rot="10800000">
              <a:off x="8588375" y="3376662"/>
              <a:ext cx="1500" cy="2349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61" name="Google Shape;361;p26"/>
            <p:cNvSpPr/>
            <p:nvPr/>
          </p:nvSpPr>
          <p:spPr>
            <a:xfrm>
              <a:off x="7889875" y="3460750"/>
              <a:ext cx="66600" cy="666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8601075" y="3460750"/>
              <a:ext cx="63600" cy="636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63" name="Google Shape;363;p26"/>
            <p:cNvCxnSpPr/>
            <p:nvPr/>
          </p:nvCxnSpPr>
          <p:spPr>
            <a:xfrm>
              <a:off x="8277225" y="3148012"/>
              <a:ext cx="1500" cy="15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64" name="Google Shape;364;p26"/>
            <p:cNvCxnSpPr/>
            <p:nvPr/>
          </p:nvCxnSpPr>
          <p:spPr>
            <a:xfrm>
              <a:off x="8188325" y="3148012"/>
              <a:ext cx="1761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65" name="Google Shape;365;p26"/>
            <p:cNvCxnSpPr/>
            <p:nvPr/>
          </p:nvCxnSpPr>
          <p:spPr>
            <a:xfrm>
              <a:off x="8221662" y="3119437"/>
              <a:ext cx="1095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66" name="Google Shape;366;p26"/>
            <p:cNvCxnSpPr/>
            <p:nvPr/>
          </p:nvCxnSpPr>
          <p:spPr>
            <a:xfrm>
              <a:off x="8256587" y="3086100"/>
              <a:ext cx="45900" cy="1500"/>
            </a:xfrm>
            <a:prstGeom prst="straightConnector1">
              <a:avLst/>
            </a:prstGeom>
            <a:noFill/>
            <a:ln cap="flat" cmpd="sng" w="174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67" name="Google Shape;367;p26"/>
            <p:cNvSpPr/>
            <p:nvPr/>
          </p:nvSpPr>
          <p:spPr>
            <a:xfrm>
              <a:off x="8247062" y="4640262"/>
              <a:ext cx="63500" cy="122237"/>
            </a:xfrm>
            <a:custGeom>
              <a:rect b="b" l="l" r="r" t="t"/>
              <a:pathLst>
                <a:path extrusionOk="0" h="77" w="40">
                  <a:moveTo>
                    <a:pt x="21" y="77"/>
                  </a:moveTo>
                  <a:lnTo>
                    <a:pt x="40" y="0"/>
                  </a:lnTo>
                  <a:lnTo>
                    <a:pt x="0" y="0"/>
                  </a:lnTo>
                  <a:lnTo>
                    <a:pt x="21" y="77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8085137" y="304482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369" name="Google Shape;369;p26"/>
            <p:cNvSpPr txBox="1"/>
            <p:nvPr/>
          </p:nvSpPr>
          <p:spPr>
            <a:xfrm>
              <a:off x="8120062" y="463867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70" name="Google Shape;370;p26"/>
            <p:cNvSpPr txBox="1"/>
            <p:nvPr/>
          </p:nvSpPr>
          <p:spPr>
            <a:xfrm>
              <a:off x="7681912" y="3405187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371" name="Google Shape;371;p26"/>
            <p:cNvSpPr txBox="1"/>
            <p:nvPr/>
          </p:nvSpPr>
          <p:spPr>
            <a:xfrm>
              <a:off x="8829675" y="340042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8742362" y="3732212"/>
              <a:ext cx="777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sp>
          <p:nvSpPr>
            <p:cNvPr id="373" name="Google Shape;373;p26"/>
            <p:cNvSpPr txBox="1"/>
            <p:nvPr/>
          </p:nvSpPr>
          <p:spPr>
            <a:xfrm>
              <a:off x="7805737" y="3925887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374" name="Google Shape;374;p26"/>
            <p:cNvSpPr txBox="1"/>
            <p:nvPr/>
          </p:nvSpPr>
          <p:spPr>
            <a:xfrm>
              <a:off x="7805737" y="4346575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8247062" y="3771900"/>
              <a:ext cx="63600" cy="68400"/>
            </a:xfrm>
            <a:prstGeom prst="ellipse">
              <a:avLst/>
            </a:prstGeom>
            <a:solidFill>
              <a:srgbClr val="0078C1"/>
            </a:solidFill>
            <a:ln cap="flat" cmpd="sng" w="952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376" name="Google Shape;3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6575" y="3743325"/>
            <a:ext cx="766764" cy="867963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6"/>
          <p:cNvSpPr txBox="1"/>
          <p:nvPr/>
        </p:nvSpPr>
        <p:spPr>
          <a:xfrm>
            <a:off x="5157900" y="4568425"/>
            <a:ext cx="39813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en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and 0 each actually correspond to a voltage range</a:t>
            </a:r>
            <a:endParaRPr/>
          </a:p>
        </p:txBody>
      </p:sp>
      <p:sp>
        <p:nvSpPr>
          <p:cNvPr id="378" name="Google Shape;37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Gates</a:t>
            </a:r>
            <a:endParaRPr/>
          </a:p>
        </p:txBody>
      </p:sp>
      <p:sp>
        <p:nvSpPr>
          <p:cNvPr id="379" name="Google Shape;379;p2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7"/>
          <p:cNvSpPr/>
          <p:nvPr/>
        </p:nvSpPr>
        <p:spPr>
          <a:xfrm>
            <a:off x="4201875" y="1402075"/>
            <a:ext cx="4942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7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Logic Gates</a:t>
            </a:r>
            <a:endParaRPr/>
          </a:p>
        </p:txBody>
      </p:sp>
      <p:sp>
        <p:nvSpPr>
          <p:cNvPr id="386" name="Google Shape;386;p2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i="1" lang="en"/>
              <a:t>combinational logic</a:t>
            </a:r>
            <a:r>
              <a:rPr lang="en"/>
              <a:t>, output is determined solely by the inputs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On the right are the 6 most common logic gates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NOR and NAND are both functionally complete -- any boolean function can be constructed from NANDs or NORs</a:t>
            </a:r>
            <a:endParaRPr/>
          </a:p>
        </p:txBody>
      </p:sp>
      <p:sp>
        <p:nvSpPr>
          <p:cNvPr id="387" name="Google Shape;387;p2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8" name="Google Shape;3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225" y="1586025"/>
            <a:ext cx="4636476" cy="23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8"/>
          <p:cNvSpPr/>
          <p:nvPr/>
        </p:nvSpPr>
        <p:spPr>
          <a:xfrm>
            <a:off x="346150" y="1545750"/>
            <a:ext cx="5112000" cy="245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8"/>
          <p:cNvSpPr txBox="1"/>
          <p:nvPr>
            <p:ph type="title"/>
          </p:nvPr>
        </p:nvSpPr>
        <p:spPr>
          <a:xfrm>
            <a:off x="214600" y="487525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Using gates with more than 2 inputs</a:t>
            </a:r>
            <a:endParaRPr/>
          </a:p>
        </p:txBody>
      </p:sp>
      <p:pic>
        <p:nvPicPr>
          <p:cNvPr id="395" name="Google Shape;3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75" y="1713878"/>
            <a:ext cx="4666059" cy="198834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8"/>
          <p:cNvSpPr txBox="1"/>
          <p:nvPr/>
        </p:nvSpPr>
        <p:spPr>
          <a:xfrm>
            <a:off x="5705100" y="2616625"/>
            <a:ext cx="3196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think of as AND(a,b,c)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p2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"/>
          <p:cNvSpPr/>
          <p:nvPr/>
        </p:nvSpPr>
        <p:spPr>
          <a:xfrm>
            <a:off x="168200" y="2901200"/>
            <a:ext cx="3289200" cy="80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9"/>
          <p:cNvSpPr txBox="1"/>
          <p:nvPr>
            <p:ph idx="1" type="body"/>
          </p:nvPr>
        </p:nvSpPr>
        <p:spPr>
          <a:xfrm>
            <a:off x="168200" y="1196650"/>
            <a:ext cx="8610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200" u="none">
                <a:solidFill>
                  <a:schemeClr val="accent1"/>
                </a:solidFill>
              </a:rPr>
              <a:t>Convert the following </a:t>
            </a:r>
            <a:r>
              <a:rPr lang="en" sz="2200">
                <a:solidFill>
                  <a:schemeClr val="accent1"/>
                </a:solidFill>
              </a:rPr>
              <a:t>logic gates to a logic equation.</a:t>
            </a:r>
            <a:endParaRPr sz="22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</a:rPr>
              <a:t>(Hint: Start from the output, work back to the inputs.)</a:t>
            </a:r>
            <a:endParaRPr sz="1600">
              <a:solidFill>
                <a:schemeClr val="accent1"/>
              </a:solidFill>
            </a:endParaRPr>
          </a:p>
        </p:txBody>
      </p:sp>
      <p:cxnSp>
        <p:nvCxnSpPr>
          <p:cNvPr id="404" name="Google Shape;404;p29"/>
          <p:cNvCxnSpPr/>
          <p:nvPr/>
        </p:nvCxnSpPr>
        <p:spPr>
          <a:xfrm>
            <a:off x="2209200" y="3148428"/>
            <a:ext cx="1983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5" name="Google Shape;405;p29"/>
          <p:cNvCxnSpPr/>
          <p:nvPr/>
        </p:nvCxnSpPr>
        <p:spPr>
          <a:xfrm>
            <a:off x="2155225" y="3353215"/>
            <a:ext cx="2475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06" name="Google Shape;406;p29"/>
          <p:cNvCxnSpPr/>
          <p:nvPr/>
        </p:nvCxnSpPr>
        <p:spPr>
          <a:xfrm>
            <a:off x="1609125" y="3353215"/>
            <a:ext cx="1938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7" name="Google Shape;407;p29"/>
          <p:cNvSpPr/>
          <p:nvPr/>
        </p:nvSpPr>
        <p:spPr>
          <a:xfrm>
            <a:off x="1807562" y="3200815"/>
            <a:ext cx="322262" cy="308371"/>
          </a:xfrm>
          <a:custGeom>
            <a:rect b="b" l="l" r="r" t="t"/>
            <a:pathLst>
              <a:path extrusionOk="0" h="259" w="203">
                <a:moveTo>
                  <a:pt x="0" y="259"/>
                </a:moveTo>
                <a:lnTo>
                  <a:pt x="203" y="128"/>
                </a:lnTo>
                <a:lnTo>
                  <a:pt x="0" y="0"/>
                </a:lnTo>
                <a:lnTo>
                  <a:pt x="0" y="259"/>
                </a:lnTo>
                <a:close/>
              </a:path>
            </a:pathLst>
          </a:custGeom>
          <a:solidFill>
            <a:srgbClr val="FFFFFF"/>
          </a:solidFill>
          <a:ln cap="flat" cmpd="sng" w="1427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2134587" y="3323450"/>
            <a:ext cx="74700" cy="59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9" name="Google Shape;409;p29"/>
          <p:cNvCxnSpPr/>
          <p:nvPr/>
        </p:nvCxnSpPr>
        <p:spPr>
          <a:xfrm>
            <a:off x="899512" y="3449656"/>
            <a:ext cx="2475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410" name="Google Shape;410;p29"/>
          <p:cNvCxnSpPr/>
          <p:nvPr/>
        </p:nvCxnSpPr>
        <p:spPr>
          <a:xfrm>
            <a:off x="348650" y="3449656"/>
            <a:ext cx="1983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11" name="Google Shape;411;p29"/>
          <p:cNvSpPr/>
          <p:nvPr/>
        </p:nvSpPr>
        <p:spPr>
          <a:xfrm>
            <a:off x="551850" y="3297256"/>
            <a:ext cx="322262" cy="308371"/>
          </a:xfrm>
          <a:custGeom>
            <a:rect b="b" l="l" r="r" t="t"/>
            <a:pathLst>
              <a:path extrusionOk="0" h="259" w="203">
                <a:moveTo>
                  <a:pt x="0" y="259"/>
                </a:moveTo>
                <a:lnTo>
                  <a:pt x="203" y="128"/>
                </a:lnTo>
                <a:lnTo>
                  <a:pt x="0" y="0"/>
                </a:lnTo>
                <a:lnTo>
                  <a:pt x="0" y="259"/>
                </a:lnTo>
                <a:close/>
              </a:path>
            </a:pathLst>
          </a:custGeom>
          <a:solidFill>
            <a:srgbClr val="FFFFFF"/>
          </a:solidFill>
          <a:ln cap="flat" cmpd="sng" w="1427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878875" y="3419890"/>
            <a:ext cx="74700" cy="597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13" name="Google Shape;413;p29"/>
          <p:cNvCxnSpPr/>
          <p:nvPr/>
        </p:nvCxnSpPr>
        <p:spPr>
          <a:xfrm>
            <a:off x="3012475" y="3248440"/>
            <a:ext cx="2079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14" name="Google Shape;414;p29"/>
          <p:cNvSpPr/>
          <p:nvPr/>
        </p:nvSpPr>
        <p:spPr>
          <a:xfrm>
            <a:off x="2407637" y="3047225"/>
            <a:ext cx="609600" cy="402431"/>
          </a:xfrm>
          <a:custGeom>
            <a:rect b="b" l="l" r="r" t="t"/>
            <a:pathLst>
              <a:path extrusionOk="0" h="108" w="123">
                <a:moveTo>
                  <a:pt x="0" y="108"/>
                </a:moveTo>
                <a:cubicBezTo>
                  <a:pt x="69" y="108"/>
                  <a:pt x="69" y="108"/>
                  <a:pt x="69" y="108"/>
                </a:cubicBezTo>
                <a:cubicBezTo>
                  <a:pt x="99" y="108"/>
                  <a:pt x="123" y="84"/>
                  <a:pt x="123" y="54"/>
                </a:cubicBezTo>
                <a:cubicBezTo>
                  <a:pt x="123" y="24"/>
                  <a:pt x="99" y="0"/>
                  <a:pt x="6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8"/>
                </a:lnTo>
                <a:close/>
              </a:path>
            </a:pathLst>
          </a:custGeom>
          <a:solidFill>
            <a:srgbClr val="FFFFFF"/>
          </a:solidFill>
          <a:ln cap="flat" cmpd="sng" w="1427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29"/>
          <p:cNvSpPr txBox="1"/>
          <p:nvPr/>
        </p:nvSpPr>
        <p:spPr>
          <a:xfrm>
            <a:off x="2088550" y="3066275"/>
            <a:ext cx="921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16" name="Google Shape;416;p29"/>
          <p:cNvSpPr txBox="1"/>
          <p:nvPr/>
        </p:nvSpPr>
        <p:spPr>
          <a:xfrm>
            <a:off x="831250" y="3178194"/>
            <a:ext cx="921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17" name="Google Shape;417;p29"/>
          <p:cNvSpPr txBox="1"/>
          <p:nvPr/>
        </p:nvSpPr>
        <p:spPr>
          <a:xfrm>
            <a:off x="231175" y="3373456"/>
            <a:ext cx="825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18" name="Google Shape;418;p29"/>
          <p:cNvSpPr txBox="1"/>
          <p:nvPr/>
        </p:nvSpPr>
        <p:spPr>
          <a:xfrm>
            <a:off x="3258537" y="3181765"/>
            <a:ext cx="1017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sp>
        <p:nvSpPr>
          <p:cNvPr id="419" name="Google Shape;419;p29"/>
          <p:cNvSpPr/>
          <p:nvPr/>
        </p:nvSpPr>
        <p:spPr>
          <a:xfrm>
            <a:off x="1077312" y="3155572"/>
            <a:ext cx="536575" cy="395288"/>
          </a:xfrm>
          <a:custGeom>
            <a:rect b="b" l="l" r="r" t="t"/>
            <a:pathLst>
              <a:path extrusionOk="0" h="106" w="108">
                <a:moveTo>
                  <a:pt x="108" y="53"/>
                </a:moveTo>
                <a:cubicBezTo>
                  <a:pt x="108" y="53"/>
                  <a:pt x="83" y="106"/>
                  <a:pt x="0" y="106"/>
                </a:cubicBezTo>
                <a:cubicBezTo>
                  <a:pt x="0" y="106"/>
                  <a:pt x="17" y="101"/>
                  <a:pt x="17" y="54"/>
                </a:cubicBezTo>
                <a:cubicBezTo>
                  <a:pt x="17" y="52"/>
                  <a:pt x="17" y="52"/>
                  <a:pt x="17" y="52"/>
                </a:cubicBezTo>
                <a:cubicBezTo>
                  <a:pt x="17" y="5"/>
                  <a:pt x="0" y="0"/>
                  <a:pt x="0" y="0"/>
                </a:cubicBezTo>
                <a:cubicBezTo>
                  <a:pt x="83" y="0"/>
                  <a:pt x="108" y="53"/>
                  <a:pt x="108" y="53"/>
                </a:cubicBezTo>
                <a:close/>
              </a:path>
            </a:pathLst>
          </a:custGeom>
          <a:solidFill>
            <a:srgbClr val="FFFFFF"/>
          </a:solidFill>
          <a:ln cap="flat" cmpd="sng" w="1427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0" name="Google Shape;420;p29"/>
          <p:cNvCxnSpPr/>
          <p:nvPr/>
        </p:nvCxnSpPr>
        <p:spPr>
          <a:xfrm>
            <a:off x="958250" y="3252013"/>
            <a:ext cx="1890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21" name="Google Shape;42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1: Gates to Logical Equation</a:t>
            </a:r>
            <a:endParaRPr/>
          </a:p>
        </p:txBody>
      </p:sp>
      <p:sp>
        <p:nvSpPr>
          <p:cNvPr id="422" name="Google Shape;422;p2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29"/>
          <p:cNvSpPr txBox="1"/>
          <p:nvPr/>
        </p:nvSpPr>
        <p:spPr>
          <a:xfrm>
            <a:off x="4103025" y="3047225"/>
            <a:ext cx="5040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= a &amp;&amp; !(b || !c)		//C/C++ Logical Form</a:t>
            </a:r>
            <a:endParaRPr sz="17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0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2: Build another Gate out of NAND Gates</a:t>
            </a:r>
            <a:endParaRPr/>
          </a:p>
        </p:txBody>
      </p:sp>
      <p:sp>
        <p:nvSpPr>
          <p:cNvPr id="429" name="Google Shape;429;p30"/>
          <p:cNvSpPr txBox="1"/>
          <p:nvPr>
            <p:ph idx="1" type="body"/>
          </p:nvPr>
        </p:nvSpPr>
        <p:spPr>
          <a:xfrm>
            <a:off x="311700" y="1004625"/>
            <a:ext cx="8520600" cy="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Given the below construction from 4 functionally complete NAND gates, what other elementary gate is represented?</a:t>
            </a:r>
            <a:endParaRPr/>
          </a:p>
        </p:txBody>
      </p:sp>
      <p:sp>
        <p:nvSpPr>
          <p:cNvPr id="430" name="Google Shape;430;p3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31" name="Google Shape;431;p30"/>
          <p:cNvGraphicFramePr/>
          <p:nvPr/>
        </p:nvGraphicFramePr>
        <p:xfrm>
          <a:off x="604925" y="226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{D0EA4C8C-1894-42AE-A1C6-5AD5D6AD3A33}</a:tableStyleId>
              </a:tblPr>
              <a:tblGrid>
                <a:gridCol w="1166300"/>
                <a:gridCol w="1166300"/>
                <a:gridCol w="1166300"/>
              </a:tblGrid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2" name="Google Shape;432;p30"/>
          <p:cNvSpPr txBox="1"/>
          <p:nvPr/>
        </p:nvSpPr>
        <p:spPr>
          <a:xfrm>
            <a:off x="604925" y="1725175"/>
            <a:ext cx="3498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NAND Gate Truth Table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33" name="Google Shape;433;p30"/>
          <p:cNvPicPr preferRelativeResize="0"/>
          <p:nvPr/>
        </p:nvPicPr>
        <p:blipFill rotWithShape="1">
          <a:blip r:embed="rId3">
            <a:alphaModFix/>
          </a:blip>
          <a:srcRect b="15005" l="4576" r="3714" t="14745"/>
          <a:stretch/>
        </p:blipFill>
        <p:spPr>
          <a:xfrm>
            <a:off x="4229475" y="2370975"/>
            <a:ext cx="4602825" cy="20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2: Build another Gate out of NAND Gates</a:t>
            </a:r>
            <a:endParaRPr/>
          </a:p>
        </p:txBody>
      </p:sp>
      <p:sp>
        <p:nvSpPr>
          <p:cNvPr id="439" name="Google Shape;439;p31"/>
          <p:cNvSpPr txBox="1"/>
          <p:nvPr>
            <p:ph idx="1" type="body"/>
          </p:nvPr>
        </p:nvSpPr>
        <p:spPr>
          <a:xfrm>
            <a:off x="311700" y="1034725"/>
            <a:ext cx="8520600" cy="6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Given the below construction from 4 functionally complete NAND gates, what other elementary gate is represented?</a:t>
            </a:r>
            <a:endParaRPr/>
          </a:p>
        </p:txBody>
      </p:sp>
      <p:sp>
        <p:nvSpPr>
          <p:cNvPr id="440" name="Google Shape;440;p3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31"/>
          <p:cNvSpPr txBox="1"/>
          <p:nvPr/>
        </p:nvSpPr>
        <p:spPr>
          <a:xfrm>
            <a:off x="152400" y="1836100"/>
            <a:ext cx="50424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^ B = (A &amp; ~B) | (~A &amp; B)		Definition</a:t>
            </a:r>
            <a:endParaRPr sz="16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~~((A &amp; ~B) | (~A &amp; B))			Double Negation</a:t>
            </a:r>
            <a:endParaRPr sz="16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~(~(A &amp; ~B) &amp; ~(~A &amp; B))		DeMorgan’s Law</a:t>
            </a:r>
            <a:endParaRPr sz="16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</a:t>
            </a:r>
            <a:r>
              <a:rPr lang="en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~(~(A &amp; ~(A &amp; B)) &amp; ~(~(A &amp; B) &amp; B))										Absorption 2x</a:t>
            </a:r>
            <a:endParaRPr sz="16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~(~(A &amp; </a:t>
            </a:r>
            <a:r>
              <a:rPr lang="en" sz="16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~(A &amp; B)</a:t>
            </a:r>
            <a:r>
              <a:rPr lang="en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&amp; ~(</a:t>
            </a:r>
            <a:r>
              <a:rPr lang="en" sz="16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~(A &amp; B)</a:t>
            </a:r>
            <a:r>
              <a:rPr lang="en" sz="16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&amp; B))</a:t>
            </a:r>
            <a:endParaRPr sz="1600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442" name="Google Shape;442;p31"/>
          <p:cNvGraphicFramePr/>
          <p:nvPr/>
        </p:nvGraphicFramePr>
        <p:xfrm>
          <a:off x="5297225" y="231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{D0EA4C8C-1894-42AE-A1C6-5AD5D6AD3A33}</a:tableStyleId>
              </a:tblPr>
              <a:tblGrid>
                <a:gridCol w="1166300"/>
                <a:gridCol w="1166300"/>
                <a:gridCol w="1166300"/>
              </a:tblGrid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accent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accent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accent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accent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43" name="Google Shape;443;p31"/>
          <p:cNvSpPr txBox="1"/>
          <p:nvPr/>
        </p:nvSpPr>
        <p:spPr>
          <a:xfrm>
            <a:off x="5297225" y="1771750"/>
            <a:ext cx="34989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Final</a:t>
            </a:r>
            <a:r>
              <a:rPr lang="en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Gate Truth Table</a:t>
            </a:r>
            <a:endParaRPr sz="24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2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Multiplexers (MUX) Allow the Selection of Inputs</a:t>
            </a:r>
            <a:endParaRPr/>
          </a:p>
        </p:txBody>
      </p:sp>
      <p:sp>
        <p:nvSpPr>
          <p:cNvPr id="449" name="Google Shape;449;p32"/>
          <p:cNvSpPr txBox="1"/>
          <p:nvPr>
            <p:ph idx="1" type="body"/>
          </p:nvPr>
        </p:nvSpPr>
        <p:spPr>
          <a:xfrm>
            <a:off x="311700" y="1152475"/>
            <a:ext cx="8520600" cy="10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MUXs select one of N multiple inputs, and are controlled by log</a:t>
            </a:r>
            <a:r>
              <a:rPr baseline="-25000" lang="en"/>
              <a:t>2</a:t>
            </a:r>
            <a:r>
              <a:rPr lang="en"/>
              <a:t>(N) bits.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We assume that a selection of all 0s selects the top-most input</a:t>
            </a:r>
            <a:endParaRPr/>
          </a:p>
        </p:txBody>
      </p:sp>
      <p:pic>
        <p:nvPicPr>
          <p:cNvPr id="450" name="Google Shape;45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900" y="2319525"/>
            <a:ext cx="4113931" cy="239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7875" y="2319525"/>
            <a:ext cx="1739225" cy="239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2"/>
          <p:cNvSpPr txBox="1"/>
          <p:nvPr/>
        </p:nvSpPr>
        <p:spPr>
          <a:xfrm>
            <a:off x="4045250" y="4318225"/>
            <a:ext cx="24213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C/C++ Form: C = S ? B : A</a:t>
            </a:r>
            <a:endParaRPr>
              <a:solidFill>
                <a:schemeClr val="accent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Bit Muxes</a:t>
            </a:r>
            <a:endParaRPr/>
          </a:p>
        </p:txBody>
      </p:sp>
      <p:cxnSp>
        <p:nvCxnSpPr>
          <p:cNvPr id="458" name="Google Shape;458;p33"/>
          <p:cNvCxnSpPr/>
          <p:nvPr/>
        </p:nvCxnSpPr>
        <p:spPr>
          <a:xfrm rot="10800000">
            <a:off x="5138784" y="1783695"/>
            <a:ext cx="5940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" name="Google Shape;459;p33"/>
          <p:cNvCxnSpPr/>
          <p:nvPr/>
        </p:nvCxnSpPr>
        <p:spPr>
          <a:xfrm rot="10800000">
            <a:off x="5138784" y="2128362"/>
            <a:ext cx="5940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33"/>
          <p:cNvCxnSpPr/>
          <p:nvPr/>
        </p:nvCxnSpPr>
        <p:spPr>
          <a:xfrm rot="10800000">
            <a:off x="5138784" y="2490785"/>
            <a:ext cx="5940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3"/>
          <p:cNvCxnSpPr/>
          <p:nvPr/>
        </p:nvCxnSpPr>
        <p:spPr>
          <a:xfrm rot="10800000">
            <a:off x="5138784" y="2865045"/>
            <a:ext cx="5940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33"/>
          <p:cNvCxnSpPr/>
          <p:nvPr/>
        </p:nvCxnSpPr>
        <p:spPr>
          <a:xfrm rot="10800000">
            <a:off x="6208525" y="2383732"/>
            <a:ext cx="5940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" name="Google Shape;463;p33"/>
          <p:cNvCxnSpPr/>
          <p:nvPr/>
        </p:nvCxnSpPr>
        <p:spPr>
          <a:xfrm rot="10800000">
            <a:off x="5941138" y="3212625"/>
            <a:ext cx="4200" cy="7917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33"/>
          <p:cNvCxnSpPr/>
          <p:nvPr/>
        </p:nvCxnSpPr>
        <p:spPr>
          <a:xfrm rot="10800000">
            <a:off x="6040738" y="3185278"/>
            <a:ext cx="2700" cy="8175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33"/>
          <p:cNvSpPr/>
          <p:nvPr/>
        </p:nvSpPr>
        <p:spPr>
          <a:xfrm rot="5400000">
            <a:off x="5067366" y="2144925"/>
            <a:ext cx="1804800" cy="477600"/>
          </a:xfrm>
          <a:prstGeom prst="trapezoid">
            <a:avLst>
              <a:gd fmla="val 25000" name="adj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3"/>
          <p:cNvSpPr txBox="1"/>
          <p:nvPr/>
        </p:nvSpPr>
        <p:spPr>
          <a:xfrm>
            <a:off x="5193226" y="1429600"/>
            <a:ext cx="419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5193226" y="1778975"/>
            <a:ext cx="419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01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5193225" y="2132525"/>
            <a:ext cx="419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9" name="Google Shape;469;p33"/>
          <p:cNvSpPr txBox="1"/>
          <p:nvPr/>
        </p:nvSpPr>
        <p:spPr>
          <a:xfrm>
            <a:off x="5193226" y="2530450"/>
            <a:ext cx="4776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0" name="Google Shape;470;p33"/>
          <p:cNvSpPr txBox="1"/>
          <p:nvPr/>
        </p:nvSpPr>
        <p:spPr>
          <a:xfrm>
            <a:off x="6307624" y="2100025"/>
            <a:ext cx="4197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Out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71" name="Google Shape;471;p33"/>
          <p:cNvSpPr txBox="1"/>
          <p:nvPr/>
        </p:nvSpPr>
        <p:spPr>
          <a:xfrm>
            <a:off x="5750429" y="1661567"/>
            <a:ext cx="3705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MUX</a:t>
            </a:r>
            <a:endParaRPr sz="2800"/>
          </a:p>
        </p:txBody>
      </p:sp>
      <p:pic>
        <p:nvPicPr>
          <p:cNvPr id="472" name="Google Shape;4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4288" y="955738"/>
            <a:ext cx="3095625" cy="364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4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Decoders Turn n-digit Bf mbers to 2</a:t>
            </a:r>
            <a:r>
              <a:rPr baseline="30000" lang="en"/>
              <a:t>n</a:t>
            </a:r>
            <a:r>
              <a:rPr lang="en"/>
              <a:t> Outputs</a:t>
            </a:r>
            <a:endParaRPr/>
          </a:p>
        </p:txBody>
      </p:sp>
      <p:sp>
        <p:nvSpPr>
          <p:cNvPr id="478" name="Google Shape;478;p34"/>
          <p:cNvSpPr txBox="1"/>
          <p:nvPr>
            <p:ph idx="1" type="body"/>
          </p:nvPr>
        </p:nvSpPr>
        <p:spPr>
          <a:xfrm>
            <a:off x="311700" y="1152475"/>
            <a:ext cx="8520600" cy="10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Decoders can be used to select one output from a specific input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Uses “one-hot” encoding, where only one line can be enabled at once </a:t>
            </a:r>
            <a:endParaRPr/>
          </a:p>
        </p:txBody>
      </p:sp>
      <p:sp>
        <p:nvSpPr>
          <p:cNvPr id="479" name="Google Shape;479;p3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0" name="Google Shape;480;p34"/>
          <p:cNvPicPr preferRelativeResize="0"/>
          <p:nvPr/>
        </p:nvPicPr>
        <p:blipFill rotWithShape="1">
          <a:blip r:embed="rId3">
            <a:alphaModFix/>
          </a:blip>
          <a:srcRect b="0" l="0" r="0" t="9991"/>
          <a:stretch/>
        </p:blipFill>
        <p:spPr>
          <a:xfrm>
            <a:off x="387900" y="2213575"/>
            <a:ext cx="3252300" cy="255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42200" y="2567875"/>
            <a:ext cx="4790100" cy="19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8-entry 4-bit ROM</a:t>
            </a:r>
            <a:endParaRPr/>
          </a:p>
        </p:txBody>
      </p:sp>
      <p:sp>
        <p:nvSpPr>
          <p:cNvPr id="487" name="Google Shape;487;p3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88" name="Google Shape;488;p35"/>
          <p:cNvCxnSpPr/>
          <p:nvPr/>
        </p:nvCxnSpPr>
        <p:spPr>
          <a:xfrm>
            <a:off x="2054041" y="2486937"/>
            <a:ext cx="0" cy="8913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35"/>
          <p:cNvCxnSpPr/>
          <p:nvPr/>
        </p:nvCxnSpPr>
        <p:spPr>
          <a:xfrm>
            <a:off x="8036651" y="1398064"/>
            <a:ext cx="657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35"/>
          <p:cNvCxnSpPr/>
          <p:nvPr/>
        </p:nvCxnSpPr>
        <p:spPr>
          <a:xfrm>
            <a:off x="8036651" y="1654269"/>
            <a:ext cx="657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35"/>
          <p:cNvCxnSpPr/>
          <p:nvPr/>
        </p:nvCxnSpPr>
        <p:spPr>
          <a:xfrm>
            <a:off x="8036651" y="1910475"/>
            <a:ext cx="657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35"/>
          <p:cNvSpPr txBox="1"/>
          <p:nvPr/>
        </p:nvSpPr>
        <p:spPr>
          <a:xfrm>
            <a:off x="8811425" y="1156400"/>
            <a:ext cx="454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baseline="-25000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baseline="-2500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aseline="-25000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aseline="-2500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5"/>
          <p:cNvSpPr/>
          <p:nvPr/>
        </p:nvSpPr>
        <p:spPr>
          <a:xfrm>
            <a:off x="7116792" y="757550"/>
            <a:ext cx="919800" cy="3458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3x8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4" name="Google Shape;494;p35"/>
          <p:cNvCxnSpPr/>
          <p:nvPr/>
        </p:nvCxnSpPr>
        <p:spPr>
          <a:xfrm rot="10800000">
            <a:off x="3371592" y="3960119"/>
            <a:ext cx="37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35"/>
          <p:cNvCxnSpPr/>
          <p:nvPr/>
        </p:nvCxnSpPr>
        <p:spPr>
          <a:xfrm rot="10800000">
            <a:off x="3371592" y="1013756"/>
            <a:ext cx="37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35"/>
          <p:cNvCxnSpPr/>
          <p:nvPr/>
        </p:nvCxnSpPr>
        <p:spPr>
          <a:xfrm rot="10800000">
            <a:off x="3371592" y="1398064"/>
            <a:ext cx="37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35"/>
          <p:cNvCxnSpPr/>
          <p:nvPr/>
        </p:nvCxnSpPr>
        <p:spPr>
          <a:xfrm rot="10800000">
            <a:off x="3371592" y="1846423"/>
            <a:ext cx="37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35"/>
          <p:cNvCxnSpPr/>
          <p:nvPr/>
        </p:nvCxnSpPr>
        <p:spPr>
          <a:xfrm rot="10800000">
            <a:off x="3371592" y="2294783"/>
            <a:ext cx="374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35"/>
          <p:cNvCxnSpPr/>
          <p:nvPr/>
        </p:nvCxnSpPr>
        <p:spPr>
          <a:xfrm rot="10800000">
            <a:off x="3371592" y="2743143"/>
            <a:ext cx="37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35"/>
          <p:cNvCxnSpPr/>
          <p:nvPr/>
        </p:nvCxnSpPr>
        <p:spPr>
          <a:xfrm rot="10800000">
            <a:off x="3371592" y="3191502"/>
            <a:ext cx="37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35"/>
          <p:cNvCxnSpPr/>
          <p:nvPr/>
        </p:nvCxnSpPr>
        <p:spPr>
          <a:xfrm rot="10800000">
            <a:off x="3371592" y="3575811"/>
            <a:ext cx="3745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35"/>
          <p:cNvCxnSpPr/>
          <p:nvPr/>
        </p:nvCxnSpPr>
        <p:spPr>
          <a:xfrm>
            <a:off x="3897288" y="1013756"/>
            <a:ext cx="0" cy="3522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35"/>
          <p:cNvCxnSpPr/>
          <p:nvPr/>
        </p:nvCxnSpPr>
        <p:spPr>
          <a:xfrm>
            <a:off x="4685738" y="1013756"/>
            <a:ext cx="0" cy="352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35"/>
          <p:cNvCxnSpPr/>
          <p:nvPr/>
        </p:nvCxnSpPr>
        <p:spPr>
          <a:xfrm>
            <a:off x="5539892" y="1013756"/>
            <a:ext cx="0" cy="3522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35"/>
          <p:cNvCxnSpPr/>
          <p:nvPr/>
        </p:nvCxnSpPr>
        <p:spPr>
          <a:xfrm>
            <a:off x="6394047" y="1013756"/>
            <a:ext cx="0" cy="3522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35"/>
          <p:cNvSpPr txBox="1"/>
          <p:nvPr/>
        </p:nvSpPr>
        <p:spPr>
          <a:xfrm>
            <a:off x="3897288" y="4344427"/>
            <a:ext cx="318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5"/>
          <p:cNvSpPr txBox="1"/>
          <p:nvPr/>
        </p:nvSpPr>
        <p:spPr>
          <a:xfrm>
            <a:off x="4685738" y="4344427"/>
            <a:ext cx="318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35"/>
          <p:cNvSpPr txBox="1"/>
          <p:nvPr/>
        </p:nvSpPr>
        <p:spPr>
          <a:xfrm>
            <a:off x="5539892" y="4344427"/>
            <a:ext cx="318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6394047" y="4344427"/>
            <a:ext cx="318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0" name="Google Shape;510;p35"/>
          <p:cNvGrpSpPr/>
          <p:nvPr/>
        </p:nvGrpSpPr>
        <p:grpSpPr>
          <a:xfrm>
            <a:off x="3420932" y="1013756"/>
            <a:ext cx="5437021" cy="3730993"/>
            <a:chOff x="1236" y="1296"/>
            <a:chExt cx="3972" cy="2796"/>
          </a:xfrm>
        </p:grpSpPr>
        <p:cxnSp>
          <p:nvCxnSpPr>
            <p:cNvPr id="511" name="Google Shape;511;p35"/>
            <p:cNvCxnSpPr/>
            <p:nvPr/>
          </p:nvCxnSpPr>
          <p:spPr>
            <a:xfrm>
              <a:off x="3408" y="1344"/>
              <a:ext cx="0" cy="270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12" name="Google Shape;512;p35"/>
            <p:cNvSpPr/>
            <p:nvPr/>
          </p:nvSpPr>
          <p:spPr>
            <a:xfrm>
              <a:off x="1632" y="3792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5"/>
            <p:cNvSpPr/>
            <p:nvPr/>
          </p:nvSpPr>
          <p:spPr>
            <a:xfrm>
              <a:off x="2832" y="3792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5"/>
            <p:cNvSpPr/>
            <p:nvPr/>
          </p:nvSpPr>
          <p:spPr>
            <a:xfrm>
              <a:off x="2208" y="3792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5"/>
            <p:cNvSpPr/>
            <p:nvPr/>
          </p:nvSpPr>
          <p:spPr>
            <a:xfrm>
              <a:off x="3456" y="3792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6" name="Google Shape;516;p35"/>
            <p:cNvCxnSpPr/>
            <p:nvPr/>
          </p:nvCxnSpPr>
          <p:spPr>
            <a:xfrm>
              <a:off x="4608" y="1776"/>
              <a:ext cx="6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" name="Google Shape;517;p35"/>
            <p:cNvCxnSpPr/>
            <p:nvPr/>
          </p:nvCxnSpPr>
          <p:spPr>
            <a:xfrm>
              <a:off x="4608" y="1584"/>
              <a:ext cx="6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8" name="Google Shape;518;p35"/>
            <p:cNvCxnSpPr/>
            <p:nvPr/>
          </p:nvCxnSpPr>
          <p:spPr>
            <a:xfrm>
              <a:off x="1584" y="1296"/>
              <a:ext cx="0" cy="270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9" name="Google Shape;519;p35"/>
            <p:cNvCxnSpPr/>
            <p:nvPr/>
          </p:nvCxnSpPr>
          <p:spPr>
            <a:xfrm rot="10800000">
              <a:off x="1236" y="2256"/>
              <a:ext cx="2700" cy="0"/>
            </a:xfrm>
            <a:prstGeom prst="straightConnector1">
              <a:avLst/>
            </a:prstGeom>
            <a:noFill/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20" name="Google Shape;520;p35"/>
          <p:cNvSpPr txBox="1"/>
          <p:nvPr/>
        </p:nvSpPr>
        <p:spPr>
          <a:xfrm>
            <a:off x="7103104" y="872309"/>
            <a:ext cx="249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7116792" y="3809332"/>
            <a:ext cx="249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35"/>
          <p:cNvSpPr txBox="1"/>
          <p:nvPr/>
        </p:nvSpPr>
        <p:spPr>
          <a:xfrm>
            <a:off x="7116792" y="2143996"/>
            <a:ext cx="2490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3" name="Google Shape;523;p35"/>
          <p:cNvGrpSpPr/>
          <p:nvPr/>
        </p:nvGrpSpPr>
        <p:grpSpPr>
          <a:xfrm>
            <a:off x="2700924" y="949704"/>
            <a:ext cx="3627418" cy="2562055"/>
            <a:chOff x="710" y="1248"/>
            <a:chExt cx="2650" cy="1920"/>
          </a:xfrm>
        </p:grpSpPr>
        <p:grpSp>
          <p:nvGrpSpPr>
            <p:cNvPr id="524" name="Google Shape;524;p35"/>
            <p:cNvGrpSpPr/>
            <p:nvPr/>
          </p:nvGrpSpPr>
          <p:grpSpPr>
            <a:xfrm>
              <a:off x="1536" y="1248"/>
              <a:ext cx="1824" cy="1920"/>
              <a:chOff x="1536" y="1248"/>
              <a:chExt cx="1824" cy="1920"/>
            </a:xfrm>
          </p:grpSpPr>
          <p:sp>
            <p:nvSpPr>
              <p:cNvPr id="525" name="Google Shape;525;p35"/>
              <p:cNvSpPr/>
              <p:nvPr/>
            </p:nvSpPr>
            <p:spPr>
              <a:xfrm>
                <a:off x="2736" y="2544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35"/>
              <p:cNvSpPr/>
              <p:nvPr/>
            </p:nvSpPr>
            <p:spPr>
              <a:xfrm>
                <a:off x="1536" y="3168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7" name="Google Shape;527;p35"/>
              <p:cNvSpPr/>
              <p:nvPr/>
            </p:nvSpPr>
            <p:spPr>
              <a:xfrm>
                <a:off x="1536" y="1248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35"/>
              <p:cNvSpPr/>
              <p:nvPr/>
            </p:nvSpPr>
            <p:spPr>
              <a:xfrm>
                <a:off x="3360" y="1248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35"/>
              <p:cNvSpPr/>
              <p:nvPr/>
            </p:nvSpPr>
            <p:spPr>
              <a:xfrm>
                <a:off x="3360" y="2880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35"/>
              <p:cNvSpPr/>
              <p:nvPr/>
            </p:nvSpPr>
            <p:spPr>
              <a:xfrm>
                <a:off x="2736" y="1872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5"/>
              <p:cNvSpPr/>
              <p:nvPr/>
            </p:nvSpPr>
            <p:spPr>
              <a:xfrm>
                <a:off x="2112" y="1536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35"/>
              <p:cNvSpPr/>
              <p:nvPr/>
            </p:nvSpPr>
            <p:spPr>
              <a:xfrm>
                <a:off x="1536" y="2208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35"/>
              <p:cNvSpPr/>
              <p:nvPr/>
            </p:nvSpPr>
            <p:spPr>
              <a:xfrm>
                <a:off x="3360" y="2208"/>
                <a:ext cx="0" cy="0"/>
              </a:xfrm>
              <a:prstGeom prst="ellipse">
                <a:avLst/>
              </a:prstGeom>
              <a:solidFill>
                <a:srgbClr val="00000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34" name="Google Shape;534;p35"/>
            <p:cNvSpPr txBox="1"/>
            <p:nvPr/>
          </p:nvSpPr>
          <p:spPr>
            <a:xfrm>
              <a:off x="710" y="1895"/>
              <a:ext cx="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5" name="Google Shape;535;p35"/>
          <p:cNvSpPr txBox="1"/>
          <p:nvPr/>
        </p:nvSpPr>
        <p:spPr>
          <a:xfrm>
            <a:off x="8158619" y="778033"/>
            <a:ext cx="7881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5"/>
          <p:cNvSpPr txBox="1"/>
          <p:nvPr/>
        </p:nvSpPr>
        <p:spPr>
          <a:xfrm>
            <a:off x="3017229" y="4475875"/>
            <a:ext cx="735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5"/>
          <p:cNvSpPr/>
          <p:nvPr/>
        </p:nvSpPr>
        <p:spPr>
          <a:xfrm>
            <a:off x="3654577" y="2072421"/>
            <a:ext cx="618900" cy="603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35"/>
          <p:cNvCxnSpPr>
            <a:stCxn id="537" idx="1"/>
            <a:endCxn id="539" idx="0"/>
          </p:cNvCxnSpPr>
          <p:nvPr/>
        </p:nvCxnSpPr>
        <p:spPr>
          <a:xfrm flipH="1">
            <a:off x="2343313" y="2160772"/>
            <a:ext cx="1401900" cy="231000"/>
          </a:xfrm>
          <a:prstGeom prst="straightConnector1">
            <a:avLst/>
          </a:prstGeom>
          <a:solidFill>
            <a:srgbClr val="A3B2C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35"/>
          <p:cNvCxnSpPr>
            <a:stCxn id="537" idx="4"/>
            <a:endCxn id="539" idx="5"/>
          </p:cNvCxnSpPr>
          <p:nvPr/>
        </p:nvCxnSpPr>
        <p:spPr>
          <a:xfrm flipH="1">
            <a:off x="2805727" y="2675721"/>
            <a:ext cx="1158300" cy="804600"/>
          </a:xfrm>
          <a:prstGeom prst="straightConnector1">
            <a:avLst/>
          </a:prstGeom>
          <a:solidFill>
            <a:srgbClr val="A3B2C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35"/>
          <p:cNvSpPr/>
          <p:nvPr/>
        </p:nvSpPr>
        <p:spPr>
          <a:xfrm>
            <a:off x="1689408" y="2391908"/>
            <a:ext cx="1308000" cy="1275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35"/>
          <p:cNvCxnSpPr/>
          <p:nvPr/>
        </p:nvCxnSpPr>
        <p:spPr>
          <a:xfrm rot="10800000">
            <a:off x="2186928" y="2807194"/>
            <a:ext cx="7905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35"/>
          <p:cNvCxnSpPr/>
          <p:nvPr/>
        </p:nvCxnSpPr>
        <p:spPr>
          <a:xfrm>
            <a:off x="2054041" y="3378319"/>
            <a:ext cx="0" cy="197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43" name="Google Shape;543;p35"/>
          <p:cNvGrpSpPr/>
          <p:nvPr/>
        </p:nvGrpSpPr>
        <p:grpSpPr>
          <a:xfrm>
            <a:off x="2186924" y="2926075"/>
            <a:ext cx="339192" cy="330694"/>
            <a:chOff x="881874" y="3992300"/>
            <a:chExt cx="544800" cy="544800"/>
          </a:xfrm>
        </p:grpSpPr>
        <p:sp>
          <p:nvSpPr>
            <p:cNvPr id="544" name="Google Shape;544;p35"/>
            <p:cNvSpPr/>
            <p:nvPr/>
          </p:nvSpPr>
          <p:spPr>
            <a:xfrm rot="-8100000">
              <a:off x="932172" y="4101571"/>
              <a:ext cx="444204" cy="326259"/>
            </a:xfrm>
            <a:prstGeom prst="triangle">
              <a:avLst>
                <a:gd fmla="val 50000" name="adj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45" name="Google Shape;545;p35"/>
            <p:cNvCxnSpPr/>
            <p:nvPr/>
          </p:nvCxnSpPr>
          <p:spPr>
            <a:xfrm>
              <a:off x="886686" y="4264752"/>
              <a:ext cx="269100" cy="269100"/>
            </a:xfrm>
            <a:prstGeom prst="straightConnector1">
              <a:avLst/>
            </a:prstGeom>
            <a:solidFill>
              <a:srgbClr val="A3B2C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46" name="Google Shape;546;p35"/>
          <p:cNvCxnSpPr/>
          <p:nvPr/>
        </p:nvCxnSpPr>
        <p:spPr>
          <a:xfrm flipH="1" rot="10800000">
            <a:off x="2431302" y="2829386"/>
            <a:ext cx="188700" cy="181200"/>
          </a:xfrm>
          <a:prstGeom prst="straightConnector1">
            <a:avLst/>
          </a:prstGeom>
          <a:solidFill>
            <a:srgbClr val="A3B2C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7" name="Google Shape;547;p35"/>
          <p:cNvCxnSpPr>
            <a:stCxn id="542" idx="0"/>
          </p:cNvCxnSpPr>
          <p:nvPr/>
        </p:nvCxnSpPr>
        <p:spPr>
          <a:xfrm flipH="1" rot="10800000">
            <a:off x="2054041" y="3165019"/>
            <a:ext cx="211200" cy="213300"/>
          </a:xfrm>
          <a:prstGeom prst="straightConnector1">
            <a:avLst/>
          </a:prstGeom>
          <a:solidFill>
            <a:srgbClr val="A3B2C1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p35"/>
          <p:cNvSpPr txBox="1"/>
          <p:nvPr/>
        </p:nvSpPr>
        <p:spPr>
          <a:xfrm>
            <a:off x="1850" y="2152883"/>
            <a:ext cx="1620900" cy="25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diode only allows current to flow in one direction.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prevents a ‘1’ from propagating to other lines.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9" name="Google Shape;549;p35"/>
          <p:cNvCxnSpPr/>
          <p:nvPr/>
        </p:nvCxnSpPr>
        <p:spPr>
          <a:xfrm>
            <a:off x="2025335" y="1035052"/>
            <a:ext cx="0" cy="8913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35"/>
          <p:cNvSpPr/>
          <p:nvPr/>
        </p:nvSpPr>
        <p:spPr>
          <a:xfrm>
            <a:off x="3626224" y="808546"/>
            <a:ext cx="618900" cy="603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p35"/>
          <p:cNvCxnSpPr>
            <a:stCxn id="550" idx="4"/>
            <a:endCxn id="552" idx="5"/>
          </p:cNvCxnSpPr>
          <p:nvPr/>
        </p:nvCxnSpPr>
        <p:spPr>
          <a:xfrm flipH="1">
            <a:off x="2777074" y="1411846"/>
            <a:ext cx="1158600" cy="616800"/>
          </a:xfrm>
          <a:prstGeom prst="straightConnector1">
            <a:avLst/>
          </a:prstGeom>
          <a:solidFill>
            <a:srgbClr val="A3B2C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2" name="Google Shape;552;p35"/>
          <p:cNvSpPr/>
          <p:nvPr/>
        </p:nvSpPr>
        <p:spPr>
          <a:xfrm>
            <a:off x="1660703" y="940022"/>
            <a:ext cx="1308000" cy="12753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35"/>
          <p:cNvCxnSpPr/>
          <p:nvPr/>
        </p:nvCxnSpPr>
        <p:spPr>
          <a:xfrm rot="10800000">
            <a:off x="2130923" y="1355309"/>
            <a:ext cx="8178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35"/>
          <p:cNvCxnSpPr/>
          <p:nvPr/>
        </p:nvCxnSpPr>
        <p:spPr>
          <a:xfrm>
            <a:off x="2025335" y="1926434"/>
            <a:ext cx="0" cy="197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35"/>
          <p:cNvCxnSpPr>
            <a:stCxn id="550" idx="0"/>
            <a:endCxn id="552" idx="0"/>
          </p:cNvCxnSpPr>
          <p:nvPr/>
        </p:nvCxnSpPr>
        <p:spPr>
          <a:xfrm flipH="1">
            <a:off x="2314774" y="808546"/>
            <a:ext cx="1620900" cy="131400"/>
          </a:xfrm>
          <a:prstGeom prst="straightConnector1">
            <a:avLst/>
          </a:prstGeom>
          <a:solidFill>
            <a:srgbClr val="A3B2C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35"/>
          <p:cNvCxnSpPr/>
          <p:nvPr/>
        </p:nvCxnSpPr>
        <p:spPr>
          <a:xfrm rot="10800000">
            <a:off x="1723853" y="2807194"/>
            <a:ext cx="2073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7" name="Google Shape;557;p35"/>
          <p:cNvSpPr/>
          <p:nvPr/>
        </p:nvSpPr>
        <p:spPr>
          <a:xfrm rot="-2656282">
            <a:off x="1834233" y="2746289"/>
            <a:ext cx="450393" cy="444029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35"/>
          <p:cNvSpPr/>
          <p:nvPr/>
        </p:nvSpPr>
        <p:spPr>
          <a:xfrm rot="-2656282">
            <a:off x="1787641" y="1300962"/>
            <a:ext cx="450393" cy="444029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59" name="Google Shape;559;p35"/>
          <p:cNvCxnSpPr/>
          <p:nvPr/>
        </p:nvCxnSpPr>
        <p:spPr>
          <a:xfrm rot="10800000">
            <a:off x="1689538" y="1355309"/>
            <a:ext cx="2115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0" name="Google Shape;560;p35"/>
          <p:cNvSpPr/>
          <p:nvPr/>
        </p:nvSpPr>
        <p:spPr>
          <a:xfrm rot="-2656246">
            <a:off x="1865607" y="2774219"/>
            <a:ext cx="383354" cy="377839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35"/>
          <p:cNvSpPr/>
          <p:nvPr/>
        </p:nvSpPr>
        <p:spPr>
          <a:xfrm>
            <a:off x="3798721" y="2198706"/>
            <a:ext cx="197100" cy="19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562" name="Google Shape;562;p35"/>
          <p:cNvSpPr/>
          <p:nvPr/>
        </p:nvSpPr>
        <p:spPr>
          <a:xfrm>
            <a:off x="6295469" y="917668"/>
            <a:ext cx="197100" cy="19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563" name="Google Shape;563;p35"/>
          <p:cNvSpPr/>
          <p:nvPr/>
        </p:nvSpPr>
        <p:spPr>
          <a:xfrm>
            <a:off x="4582871" y="1301976"/>
            <a:ext cx="197100" cy="19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564" name="Google Shape;564;p35"/>
          <p:cNvSpPr/>
          <p:nvPr/>
        </p:nvSpPr>
        <p:spPr>
          <a:xfrm>
            <a:off x="5441315" y="1750336"/>
            <a:ext cx="197100" cy="19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565" name="Google Shape;565;p35"/>
          <p:cNvSpPr/>
          <p:nvPr/>
        </p:nvSpPr>
        <p:spPr>
          <a:xfrm>
            <a:off x="6295469" y="2198696"/>
            <a:ext cx="197100" cy="19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566" name="Google Shape;566;p35"/>
          <p:cNvSpPr/>
          <p:nvPr/>
        </p:nvSpPr>
        <p:spPr>
          <a:xfrm>
            <a:off x="5441315" y="2647055"/>
            <a:ext cx="197100" cy="19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567" name="Google Shape;567;p35"/>
          <p:cNvSpPr/>
          <p:nvPr/>
        </p:nvSpPr>
        <p:spPr>
          <a:xfrm>
            <a:off x="6295469" y="3079402"/>
            <a:ext cx="197100" cy="19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568" name="Google Shape;568;p35"/>
          <p:cNvSpPr/>
          <p:nvPr/>
        </p:nvSpPr>
        <p:spPr>
          <a:xfrm>
            <a:off x="3798710" y="3479723"/>
            <a:ext cx="197100" cy="192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000000"/>
              </a:highlight>
            </a:endParaRPr>
          </a:p>
        </p:txBody>
      </p:sp>
      <p:sp>
        <p:nvSpPr>
          <p:cNvPr id="569" name="Google Shape;569;p35"/>
          <p:cNvSpPr txBox="1"/>
          <p:nvPr/>
        </p:nvSpPr>
        <p:spPr>
          <a:xfrm>
            <a:off x="8426575" y="1088525"/>
            <a:ext cx="318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110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6"/>
          <p:cNvSpPr txBox="1"/>
          <p:nvPr>
            <p:ph type="title"/>
          </p:nvPr>
        </p:nvSpPr>
        <p:spPr>
          <a:xfrm>
            <a:off x="228600" y="3810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two 1-bit numbers together</a:t>
            </a:r>
            <a:endParaRPr/>
          </a:p>
        </p:txBody>
      </p:sp>
      <p:sp>
        <p:nvSpPr>
          <p:cNvPr id="575" name="Google Shape;575;p36"/>
          <p:cNvSpPr txBox="1"/>
          <p:nvPr>
            <p:ph idx="1" type="body"/>
          </p:nvPr>
        </p:nvSpPr>
        <p:spPr>
          <a:xfrm>
            <a:off x="228600" y="1066800"/>
            <a:ext cx="8610600" cy="150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Circuit </a:t>
            </a:r>
            <a:r>
              <a:rPr lang="en"/>
              <a:t>Adds A + B, outputs Sum and Carry</a:t>
            </a:r>
            <a:endParaRPr/>
          </a:p>
        </p:txBody>
      </p:sp>
      <p:pic>
        <p:nvPicPr>
          <p:cNvPr id="576" name="Google Shape;576;p36"/>
          <p:cNvPicPr preferRelativeResize="0"/>
          <p:nvPr/>
        </p:nvPicPr>
        <p:blipFill rotWithShape="1">
          <a:blip r:embed="rId3">
            <a:alphaModFix/>
          </a:blip>
          <a:srcRect b="3044" l="0" r="0" t="0"/>
          <a:stretch/>
        </p:blipFill>
        <p:spPr>
          <a:xfrm>
            <a:off x="731750" y="1861520"/>
            <a:ext cx="3559775" cy="209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7" name="Google Shape;577;p36"/>
          <p:cNvGraphicFramePr/>
          <p:nvPr/>
        </p:nvGraphicFramePr>
        <p:xfrm>
          <a:off x="5269350" y="172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{D0EA4C8C-1894-42AE-A1C6-5AD5D6AD3A33}</a:tableStyleId>
              </a:tblPr>
              <a:tblGrid>
                <a:gridCol w="562375"/>
                <a:gridCol w="562375"/>
                <a:gridCol w="562375"/>
                <a:gridCol w="562375"/>
              </a:tblGrid>
              <a:tr h="4640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Inputs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Outputs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4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a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b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c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s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4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1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</a:rPr>
                        <a:t>0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78" name="Google Shape;578;p3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 txBox="1"/>
          <p:nvPr>
            <p:ph type="title"/>
          </p:nvPr>
        </p:nvSpPr>
        <p:spPr>
          <a:xfrm>
            <a:off x="228600" y="3810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two 1-bit numbers together</a:t>
            </a:r>
            <a:endParaRPr/>
          </a:p>
        </p:txBody>
      </p:sp>
      <p:sp>
        <p:nvSpPr>
          <p:cNvPr id="584" name="Google Shape;584;p37"/>
          <p:cNvSpPr txBox="1"/>
          <p:nvPr>
            <p:ph idx="1" type="body"/>
          </p:nvPr>
        </p:nvSpPr>
        <p:spPr>
          <a:xfrm>
            <a:off x="228600" y="1066800"/>
            <a:ext cx="8610600" cy="150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use the carry in the next bit, we use a </a:t>
            </a:r>
            <a:r>
              <a:rPr b="1" lang="en"/>
              <a:t>Full Adder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previous was a </a:t>
            </a:r>
            <a:r>
              <a:rPr b="1" lang="en"/>
              <a:t>Half Adder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 Adder: Adds A + B </a:t>
            </a:r>
            <a:r>
              <a:rPr b="1" lang="en"/>
              <a:t>+ Carry</a:t>
            </a:r>
            <a:r>
              <a:rPr lang="en"/>
              <a:t>, outputs Sum and Carry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Carry In is 0, the Full Adder behaves like a Half</a:t>
            </a:r>
            <a:endParaRPr/>
          </a:p>
        </p:txBody>
      </p:sp>
      <p:pic>
        <p:nvPicPr>
          <p:cNvPr id="585" name="Google Shape;58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625" y="2526167"/>
            <a:ext cx="2431125" cy="231718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6" name="Google Shape;586;p37"/>
          <p:cNvGraphicFramePr/>
          <p:nvPr/>
        </p:nvGraphicFramePr>
        <p:xfrm>
          <a:off x="6609475" y="10993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{D0EA4C8C-1894-42AE-A1C6-5AD5D6AD3A33}</a:tableStyleId>
              </a:tblPr>
              <a:tblGrid>
                <a:gridCol w="486225"/>
                <a:gridCol w="486225"/>
                <a:gridCol w="486225"/>
                <a:gridCol w="486225"/>
                <a:gridCol w="486225"/>
              </a:tblGrid>
              <a:tr h="36667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Inputs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Outputs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b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</a:rPr>
                        <a:t>in</a:t>
                      </a:r>
                      <a:endParaRPr baseline="-25000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</a:t>
                      </a:r>
                      <a:r>
                        <a:rPr baseline="-25000" lang="en" sz="1200">
                          <a:solidFill>
                            <a:schemeClr val="dk1"/>
                          </a:solidFill>
                        </a:rPr>
                        <a:t>out</a:t>
                      </a:r>
                      <a:endParaRPr baseline="-25000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87" name="Google Shape;587;p3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8"/>
          <p:cNvSpPr txBox="1"/>
          <p:nvPr>
            <p:ph type="title"/>
          </p:nvPr>
        </p:nvSpPr>
        <p:spPr>
          <a:xfrm>
            <a:off x="228600" y="3810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Ripple Carry </a:t>
            </a:r>
            <a:r>
              <a:rPr lang="en"/>
              <a:t>Adder</a:t>
            </a:r>
            <a:endParaRPr/>
          </a:p>
        </p:txBody>
      </p:sp>
      <p:sp>
        <p:nvSpPr>
          <p:cNvPr id="593" name="Google Shape;593;p38"/>
          <p:cNvSpPr txBox="1"/>
          <p:nvPr>
            <p:ph idx="1" type="body"/>
          </p:nvPr>
        </p:nvSpPr>
        <p:spPr>
          <a:xfrm>
            <a:off x="228600" y="914400"/>
            <a:ext cx="8610600" cy="2588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We can combine FAs together to create an adder that performs addition like we do by hand.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4" name="Google Shape;5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775" y="2207325"/>
            <a:ext cx="657225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9"/>
          <p:cNvSpPr txBox="1"/>
          <p:nvPr>
            <p:ph type="title"/>
          </p:nvPr>
        </p:nvSpPr>
        <p:spPr>
          <a:xfrm>
            <a:off x="228600" y="3810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Logical Unit (ALU)</a:t>
            </a:r>
            <a:endParaRPr/>
          </a:p>
        </p:txBody>
      </p:sp>
      <p:sp>
        <p:nvSpPr>
          <p:cNvPr id="601" name="Google Shape;601;p39"/>
          <p:cNvSpPr txBox="1"/>
          <p:nvPr>
            <p:ph idx="1" type="body"/>
          </p:nvPr>
        </p:nvSpPr>
        <p:spPr>
          <a:xfrm>
            <a:off x="228600" y="914400"/>
            <a:ext cx="86106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“heart” of the computer processor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LC2K: Can execute either an addition of two (32 bit) numbers, or a noring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MUX Control Scheme: 0 - Addition; 1 - Nor</a:t>
            </a:r>
            <a:endParaRPr/>
          </a:p>
        </p:txBody>
      </p:sp>
      <p:pic>
        <p:nvPicPr>
          <p:cNvPr id="602" name="Google Shape;6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350" y="2524175"/>
            <a:ext cx="2976025" cy="190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9"/>
          <p:cNvPicPr preferRelativeResize="0"/>
          <p:nvPr/>
        </p:nvPicPr>
        <p:blipFill rotWithShape="1">
          <a:blip r:embed="rId4">
            <a:alphaModFix/>
          </a:blip>
          <a:srcRect b="0" l="0" r="0" t="2343"/>
          <a:stretch/>
        </p:blipFill>
        <p:spPr>
          <a:xfrm>
            <a:off x="5554375" y="2267750"/>
            <a:ext cx="2095500" cy="2474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0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Equality Checking</a:t>
            </a:r>
            <a:endParaRPr/>
          </a:p>
        </p:txBody>
      </p:sp>
      <p:sp>
        <p:nvSpPr>
          <p:cNvPr id="610" name="Google Shape;610;p40"/>
          <p:cNvSpPr txBox="1"/>
          <p:nvPr>
            <p:ph idx="1" type="body"/>
          </p:nvPr>
        </p:nvSpPr>
        <p:spPr>
          <a:xfrm>
            <a:off x="228600" y="914400"/>
            <a:ext cx="86106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ALU always checks for equality.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be done with bitwise XNOR, then AND on all bits.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can be done by subtracting A-B and NOR on all bits.</a:t>
            </a:r>
            <a:endParaRPr/>
          </a:p>
        </p:txBody>
      </p:sp>
      <p:sp>
        <p:nvSpPr>
          <p:cNvPr id="611" name="Google Shape;611;p4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12" name="Google Shape;612;p40"/>
          <p:cNvGraphicFramePr/>
          <p:nvPr/>
        </p:nvGraphicFramePr>
        <p:xfrm>
          <a:off x="454275" y="211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{D0EA4C8C-1894-42AE-A1C6-5AD5D6AD3A33}</a:tableStyleId>
              </a:tblPr>
              <a:tblGrid>
                <a:gridCol w="1166300"/>
                <a:gridCol w="1166300"/>
                <a:gridCol w="1166300"/>
              </a:tblGrid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Q</a:t>
                      </a:r>
                      <a:endParaRPr b="1" sz="20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2000">
                        <a:solidFill>
                          <a:schemeClr val="dk2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13" name="Google Shape;613;p40"/>
          <p:cNvPicPr preferRelativeResize="0"/>
          <p:nvPr/>
        </p:nvPicPr>
        <p:blipFill rotWithShape="1">
          <a:blip r:embed="rId3">
            <a:alphaModFix/>
          </a:blip>
          <a:srcRect b="0" l="0" r="0" t="1912"/>
          <a:stretch/>
        </p:blipFill>
        <p:spPr>
          <a:xfrm>
            <a:off x="5554375" y="2256750"/>
            <a:ext cx="2095500" cy="2485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40"/>
          <p:cNvSpPr txBox="1"/>
          <p:nvPr/>
        </p:nvSpPr>
        <p:spPr>
          <a:xfrm>
            <a:off x="6724950" y="1994425"/>
            <a:ext cx="7362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eq?</a:t>
            </a:r>
            <a:endParaRPr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15" name="Google Shape;615;p40"/>
          <p:cNvCxnSpPr/>
          <p:nvPr/>
        </p:nvCxnSpPr>
        <p:spPr>
          <a:xfrm flipH="1" rot="10800000">
            <a:off x="6634075" y="2225275"/>
            <a:ext cx="328800" cy="2940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1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3: Short Answer Questions</a:t>
            </a:r>
            <a:endParaRPr/>
          </a:p>
        </p:txBody>
      </p:sp>
      <p:sp>
        <p:nvSpPr>
          <p:cNvPr id="621" name="Google Shape;62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have an </a:t>
            </a:r>
            <a:r>
              <a:rPr i="1" lang="en"/>
              <a:t>n</a:t>
            </a:r>
            <a:r>
              <a:rPr lang="en"/>
              <a:t>-</a:t>
            </a:r>
            <a:r>
              <a:rPr lang="en"/>
              <a:t>input MUX (e.g. A</a:t>
            </a:r>
            <a:r>
              <a:rPr baseline="-25000" lang="en"/>
              <a:t>1</a:t>
            </a:r>
            <a:r>
              <a:rPr lang="en"/>
              <a:t>, A</a:t>
            </a:r>
            <a:r>
              <a:rPr baseline="-25000" lang="en"/>
              <a:t>2</a:t>
            </a:r>
            <a:r>
              <a:rPr lang="en"/>
              <a:t>, …, A</a:t>
            </a:r>
            <a:r>
              <a:rPr baseline="-25000" lang="en"/>
              <a:t>n</a:t>
            </a:r>
            <a:r>
              <a:rPr lang="en"/>
              <a:t>) how many control bits do we need?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True or False: The number of select lines in an 8x1 MUX is equal to the number of input lines in a 3x8 Decoder</a:t>
            </a:r>
            <a:endParaRPr/>
          </a:p>
        </p:txBody>
      </p:sp>
      <p:sp>
        <p:nvSpPr>
          <p:cNvPr id="622" name="Google Shape;622;p4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41"/>
          <p:cNvSpPr txBox="1"/>
          <p:nvPr/>
        </p:nvSpPr>
        <p:spPr>
          <a:xfrm>
            <a:off x="377900" y="1924450"/>
            <a:ext cx="8145600" cy="29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⌈</a:t>
            </a:r>
            <a:r>
              <a:rPr lang="en" sz="20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</a:t>
            </a:r>
            <a:r>
              <a:rPr baseline="-25000" lang="en" sz="20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" sz="20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(n)</a:t>
            </a:r>
            <a:r>
              <a:rPr lang="en" sz="36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⌉</a:t>
            </a:r>
            <a:endParaRPr sz="2000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True</a:t>
            </a:r>
            <a:endParaRPr sz="2000"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2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Propagation Delay Influences How Circuits Are Built</a:t>
            </a:r>
            <a:endParaRPr/>
          </a:p>
        </p:txBody>
      </p:sp>
      <p:sp>
        <p:nvSpPr>
          <p:cNvPr id="629" name="Google Shape;629;p42"/>
          <p:cNvSpPr txBox="1"/>
          <p:nvPr>
            <p:ph idx="1" type="body"/>
          </p:nvPr>
        </p:nvSpPr>
        <p:spPr>
          <a:xfrm>
            <a:off x="311700" y="1152475"/>
            <a:ext cx="8520600" cy="11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Physical changes in voltage levels take time to reach the other end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With circuits consisting of multiple paths, have to wait on all paths</a:t>
            </a:r>
            <a:endParaRPr/>
          </a:p>
        </p:txBody>
      </p:sp>
      <p:sp>
        <p:nvSpPr>
          <p:cNvPr id="630" name="Google Shape;630;p4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1" name="Google Shape;631;p42"/>
          <p:cNvPicPr preferRelativeResize="0"/>
          <p:nvPr/>
        </p:nvPicPr>
        <p:blipFill rotWithShape="1">
          <a:blip r:embed="rId3">
            <a:alphaModFix/>
          </a:blip>
          <a:srcRect b="15005" l="4576" r="3714" t="14745"/>
          <a:stretch/>
        </p:blipFill>
        <p:spPr>
          <a:xfrm>
            <a:off x="311695" y="2391822"/>
            <a:ext cx="5139451" cy="22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2"/>
          <p:cNvSpPr txBox="1"/>
          <p:nvPr/>
        </p:nvSpPr>
        <p:spPr>
          <a:xfrm>
            <a:off x="5845225" y="2682125"/>
            <a:ext cx="2987100" cy="1571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Consider the propagation delay for our XOR gate if each NAND gate takes 2ns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We have a 6ns delay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3" name="Google Shape;633;p42"/>
          <p:cNvSpPr txBox="1"/>
          <p:nvPr/>
        </p:nvSpPr>
        <p:spPr>
          <a:xfrm>
            <a:off x="1187825" y="3310013"/>
            <a:ext cx="632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2 ns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4" name="Google Shape;634;p42"/>
          <p:cNvSpPr txBox="1"/>
          <p:nvPr/>
        </p:nvSpPr>
        <p:spPr>
          <a:xfrm>
            <a:off x="4064525" y="3310025"/>
            <a:ext cx="632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2 ns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5" name="Google Shape;635;p42"/>
          <p:cNvSpPr txBox="1"/>
          <p:nvPr/>
        </p:nvSpPr>
        <p:spPr>
          <a:xfrm>
            <a:off x="2636825" y="2682113"/>
            <a:ext cx="632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2 ns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6" name="Google Shape;636;p42"/>
          <p:cNvSpPr txBox="1"/>
          <p:nvPr/>
        </p:nvSpPr>
        <p:spPr>
          <a:xfrm>
            <a:off x="2636825" y="3937913"/>
            <a:ext cx="632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Helvetica Neue"/>
                <a:ea typeface="Helvetica Neue"/>
                <a:cs typeface="Helvetica Neue"/>
                <a:sym typeface="Helvetica Neue"/>
              </a:rPr>
              <a:t>2 ns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3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4: Calculate the Propagation Delay</a:t>
            </a:r>
            <a:endParaRPr/>
          </a:p>
        </p:txBody>
      </p:sp>
      <p:sp>
        <p:nvSpPr>
          <p:cNvPr id="642" name="Google Shape;642;p43"/>
          <p:cNvSpPr txBox="1"/>
          <p:nvPr>
            <p:ph idx="1" type="body"/>
          </p:nvPr>
        </p:nvSpPr>
        <p:spPr>
          <a:xfrm>
            <a:off x="311700" y="1152475"/>
            <a:ext cx="8520600" cy="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Calculate the propagation delay in the following circuit, assuming the delays are 2ns for NAND, 4ns for NOR, and 5ns for OR</a:t>
            </a:r>
            <a:endParaRPr/>
          </a:p>
        </p:txBody>
      </p:sp>
      <p:sp>
        <p:nvSpPr>
          <p:cNvPr id="643" name="Google Shape;643;p4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4" name="Google Shape;644;p43"/>
          <p:cNvPicPr preferRelativeResize="0"/>
          <p:nvPr/>
        </p:nvPicPr>
        <p:blipFill rotWithShape="1">
          <a:blip r:embed="rId3">
            <a:alphaModFix/>
          </a:blip>
          <a:srcRect b="9866" l="21772" r="17477" t="3815"/>
          <a:stretch/>
        </p:blipFill>
        <p:spPr>
          <a:xfrm>
            <a:off x="1129480" y="2381238"/>
            <a:ext cx="2525625" cy="22430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5" name="Google Shape;645;p43"/>
          <p:cNvGrpSpPr/>
          <p:nvPr/>
        </p:nvGrpSpPr>
        <p:grpSpPr>
          <a:xfrm>
            <a:off x="1133350" y="2391825"/>
            <a:ext cx="2525625" cy="2243052"/>
            <a:chOff x="3636375" y="2435300"/>
            <a:chExt cx="2525625" cy="2243052"/>
          </a:xfrm>
        </p:grpSpPr>
        <p:pic>
          <p:nvPicPr>
            <p:cNvPr id="646" name="Google Shape;646;p43"/>
            <p:cNvPicPr preferRelativeResize="0"/>
            <p:nvPr/>
          </p:nvPicPr>
          <p:blipFill rotWithShape="1">
            <a:blip r:embed="rId3">
              <a:alphaModFix/>
            </a:blip>
            <a:srcRect b="9866" l="21772" r="17477" t="3815"/>
            <a:stretch/>
          </p:blipFill>
          <p:spPr>
            <a:xfrm>
              <a:off x="3636375" y="2435300"/>
              <a:ext cx="2525625" cy="22430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p43"/>
            <p:cNvSpPr txBox="1"/>
            <p:nvPr/>
          </p:nvSpPr>
          <p:spPr>
            <a:xfrm>
              <a:off x="3924475" y="2516000"/>
              <a:ext cx="2538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3"/>
            <p:cNvSpPr txBox="1"/>
            <p:nvPr/>
          </p:nvSpPr>
          <p:spPr>
            <a:xfrm>
              <a:off x="5570350" y="3363025"/>
              <a:ext cx="2538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3"/>
            <p:cNvSpPr txBox="1"/>
            <p:nvPr/>
          </p:nvSpPr>
          <p:spPr>
            <a:xfrm>
              <a:off x="4805900" y="3750625"/>
              <a:ext cx="2538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3"/>
            <p:cNvSpPr txBox="1"/>
            <p:nvPr/>
          </p:nvSpPr>
          <p:spPr>
            <a:xfrm>
              <a:off x="3924475" y="4197100"/>
              <a:ext cx="2538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3"/>
            <p:cNvSpPr txBox="1"/>
            <p:nvPr/>
          </p:nvSpPr>
          <p:spPr>
            <a:xfrm>
              <a:off x="3986300" y="3356550"/>
              <a:ext cx="2538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3"/>
            <p:cNvSpPr txBox="1"/>
            <p:nvPr/>
          </p:nvSpPr>
          <p:spPr>
            <a:xfrm>
              <a:off x="4805900" y="2933475"/>
              <a:ext cx="253800" cy="38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3" name="Google Shape;653;p43"/>
          <p:cNvSpPr txBox="1"/>
          <p:nvPr/>
        </p:nvSpPr>
        <p:spPr>
          <a:xfrm>
            <a:off x="4109000" y="2918300"/>
            <a:ext cx="4282800" cy="1190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Helvetica Neue"/>
                <a:ea typeface="Helvetica Neue"/>
                <a:cs typeface="Helvetica Neue"/>
                <a:sym typeface="Helvetica Neue"/>
              </a:rPr>
              <a:t>Longest Path: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Helvetica Neue"/>
                <a:ea typeface="Helvetica Neue"/>
                <a:cs typeface="Helvetica Neue"/>
                <a:sym typeface="Helvetica Neue"/>
              </a:rPr>
              <a:t>5ns + 5ns + 2ns = 12ns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4"/>
          <p:cNvSpPr txBox="1"/>
          <p:nvPr>
            <p:ph type="title"/>
          </p:nvPr>
        </p:nvSpPr>
        <p:spPr>
          <a:xfrm>
            <a:off x="228600" y="3810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Ripple Carry Adder</a:t>
            </a:r>
            <a:endParaRPr/>
          </a:p>
        </p:txBody>
      </p:sp>
      <p:sp>
        <p:nvSpPr>
          <p:cNvPr id="659" name="Google Shape;659;p44"/>
          <p:cNvSpPr txBox="1"/>
          <p:nvPr>
            <p:ph idx="1" type="body"/>
          </p:nvPr>
        </p:nvSpPr>
        <p:spPr>
          <a:xfrm>
            <a:off x="228600" y="1086875"/>
            <a:ext cx="8610600" cy="241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there are so many gates within each full adder, the propagation delay can be quite high!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0" name="Google Shape;66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5638" y="2110775"/>
            <a:ext cx="7472724" cy="22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5"/>
          <p:cNvSpPr/>
          <p:nvPr/>
        </p:nvSpPr>
        <p:spPr>
          <a:xfrm>
            <a:off x="311700" y="2571750"/>
            <a:ext cx="3018000" cy="196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45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Diagrams</a:t>
            </a:r>
            <a:endParaRPr/>
          </a:p>
        </p:txBody>
      </p:sp>
      <p:sp>
        <p:nvSpPr>
          <p:cNvPr id="668" name="Google Shape;668;p45"/>
          <p:cNvSpPr txBox="1"/>
          <p:nvPr>
            <p:ph idx="1" type="body"/>
          </p:nvPr>
        </p:nvSpPr>
        <p:spPr>
          <a:xfrm>
            <a:off x="311700" y="1152475"/>
            <a:ext cx="8520600" cy="1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We use timing diagrams to represent the values of outputs given values of inputs at times.</a:t>
            </a:r>
            <a:endParaRPr/>
          </a:p>
        </p:txBody>
      </p:sp>
      <p:sp>
        <p:nvSpPr>
          <p:cNvPr id="669" name="Google Shape;669;p4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70" name="Google Shape;670;p45"/>
          <p:cNvGrpSpPr/>
          <p:nvPr/>
        </p:nvGrpSpPr>
        <p:grpSpPr>
          <a:xfrm>
            <a:off x="582214" y="2778212"/>
            <a:ext cx="2441128" cy="1373372"/>
            <a:chOff x="7754937" y="1219200"/>
            <a:chExt cx="1084175" cy="649287"/>
          </a:xfrm>
        </p:grpSpPr>
        <p:sp>
          <p:nvSpPr>
            <p:cNvPr id="671" name="Google Shape;671;p45"/>
            <p:cNvSpPr txBox="1"/>
            <p:nvPr/>
          </p:nvSpPr>
          <p:spPr>
            <a:xfrm>
              <a:off x="8761412" y="1579562"/>
              <a:ext cx="777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000"/>
            </a:p>
          </p:txBody>
        </p:sp>
        <p:sp>
          <p:nvSpPr>
            <p:cNvPr id="672" name="Google Shape;672;p45"/>
            <p:cNvSpPr/>
            <p:nvPr/>
          </p:nvSpPr>
          <p:spPr>
            <a:xfrm>
              <a:off x="7989887" y="1412875"/>
              <a:ext cx="519112" cy="455612"/>
            </a:xfrm>
            <a:custGeom>
              <a:rect b="b" l="l" r="r" t="t"/>
              <a:pathLst>
                <a:path extrusionOk="0" h="108" w="123">
                  <a:moveTo>
                    <a:pt x="0" y="108"/>
                  </a:moveTo>
                  <a:cubicBezTo>
                    <a:pt x="69" y="108"/>
                    <a:pt x="69" y="108"/>
                    <a:pt x="69" y="108"/>
                  </a:cubicBezTo>
                  <a:cubicBezTo>
                    <a:pt x="99" y="108"/>
                    <a:pt x="123" y="84"/>
                    <a:pt x="123" y="54"/>
                  </a:cubicBezTo>
                  <a:cubicBezTo>
                    <a:pt x="123" y="24"/>
                    <a:pt x="99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73" name="Google Shape;673;p45"/>
            <p:cNvCxnSpPr/>
            <p:nvPr/>
          </p:nvCxnSpPr>
          <p:spPr>
            <a:xfrm>
              <a:off x="7843837" y="1527175"/>
              <a:ext cx="1428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74" name="Google Shape;674;p45"/>
            <p:cNvCxnSpPr/>
            <p:nvPr/>
          </p:nvCxnSpPr>
          <p:spPr>
            <a:xfrm>
              <a:off x="8509000" y="1639887"/>
              <a:ext cx="2094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75" name="Google Shape;675;p45"/>
            <p:cNvCxnSpPr/>
            <p:nvPr/>
          </p:nvCxnSpPr>
          <p:spPr>
            <a:xfrm>
              <a:off x="7843837" y="1754187"/>
              <a:ext cx="1428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76" name="Google Shape;676;p45"/>
            <p:cNvSpPr txBox="1"/>
            <p:nvPr/>
          </p:nvSpPr>
          <p:spPr>
            <a:xfrm>
              <a:off x="7756525" y="1441450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2000"/>
            </a:p>
          </p:txBody>
        </p:sp>
        <p:sp>
          <p:nvSpPr>
            <p:cNvPr id="677" name="Google Shape;677;p45"/>
            <p:cNvSpPr txBox="1"/>
            <p:nvPr/>
          </p:nvSpPr>
          <p:spPr>
            <a:xfrm>
              <a:off x="7754937" y="1668462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2000"/>
            </a:p>
          </p:txBody>
        </p:sp>
        <p:sp>
          <p:nvSpPr>
            <p:cNvPr id="678" name="Google Shape;678;p45"/>
            <p:cNvSpPr txBox="1"/>
            <p:nvPr/>
          </p:nvSpPr>
          <p:spPr>
            <a:xfrm>
              <a:off x="8145462" y="1219200"/>
              <a:ext cx="3048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</a:t>
              </a:r>
              <a:endParaRPr sz="2000"/>
            </a:p>
          </p:txBody>
        </p:sp>
      </p:grpSp>
      <p:sp>
        <p:nvSpPr>
          <p:cNvPr id="679" name="Google Shape;679;p45"/>
          <p:cNvSpPr txBox="1"/>
          <p:nvPr/>
        </p:nvSpPr>
        <p:spPr>
          <a:xfrm>
            <a:off x="4961550" y="2085400"/>
            <a:ext cx="741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80" name="Google Shape;680;p45"/>
          <p:cNvCxnSpPr/>
          <p:nvPr/>
        </p:nvCxnSpPr>
        <p:spPr>
          <a:xfrm>
            <a:off x="5577375" y="2071400"/>
            <a:ext cx="2694300" cy="34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5"/>
          <p:cNvCxnSpPr/>
          <p:nvPr/>
        </p:nvCxnSpPr>
        <p:spPr>
          <a:xfrm flipH="1" rot="10800000">
            <a:off x="5577375" y="2722200"/>
            <a:ext cx="2722200" cy="342900"/>
          </a:xfrm>
          <a:prstGeom prst="bentConnector3">
            <a:avLst>
              <a:gd fmla="val 2545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45"/>
          <p:cNvCxnSpPr/>
          <p:nvPr/>
        </p:nvCxnSpPr>
        <p:spPr>
          <a:xfrm flipH="1" rot="10800000">
            <a:off x="5542375" y="3379900"/>
            <a:ext cx="1399500" cy="420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3" name="Google Shape;683;p45"/>
          <p:cNvCxnSpPr/>
          <p:nvPr/>
        </p:nvCxnSpPr>
        <p:spPr>
          <a:xfrm>
            <a:off x="6948975" y="3366025"/>
            <a:ext cx="1287600" cy="4059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6"/>
          <p:cNvSpPr/>
          <p:nvPr/>
        </p:nvSpPr>
        <p:spPr>
          <a:xfrm>
            <a:off x="311700" y="2571750"/>
            <a:ext cx="3018000" cy="196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6"/>
          <p:cNvSpPr txBox="1"/>
          <p:nvPr>
            <p:ph type="title"/>
          </p:nvPr>
        </p:nvSpPr>
        <p:spPr>
          <a:xfrm>
            <a:off x="311700" y="0"/>
            <a:ext cx="74079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Timing Diagrams with Delay</a:t>
            </a:r>
            <a:endParaRPr/>
          </a:p>
        </p:txBody>
      </p:sp>
      <p:sp>
        <p:nvSpPr>
          <p:cNvPr id="690" name="Google Shape;69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Timing Diagrams can also represent delay.</a:t>
            </a:r>
            <a:endParaRPr/>
          </a:p>
        </p:txBody>
      </p:sp>
      <p:sp>
        <p:nvSpPr>
          <p:cNvPr id="691" name="Google Shape;691;p4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92" name="Google Shape;692;p46"/>
          <p:cNvGrpSpPr/>
          <p:nvPr/>
        </p:nvGrpSpPr>
        <p:grpSpPr>
          <a:xfrm>
            <a:off x="582214" y="2778212"/>
            <a:ext cx="2441128" cy="1373372"/>
            <a:chOff x="7754937" y="1219200"/>
            <a:chExt cx="1084175" cy="649287"/>
          </a:xfrm>
        </p:grpSpPr>
        <p:sp>
          <p:nvSpPr>
            <p:cNvPr id="693" name="Google Shape;693;p46"/>
            <p:cNvSpPr txBox="1"/>
            <p:nvPr/>
          </p:nvSpPr>
          <p:spPr>
            <a:xfrm>
              <a:off x="8761412" y="1579562"/>
              <a:ext cx="777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sz="2000"/>
            </a:p>
          </p:txBody>
        </p:sp>
        <p:sp>
          <p:nvSpPr>
            <p:cNvPr id="694" name="Google Shape;694;p46"/>
            <p:cNvSpPr/>
            <p:nvPr/>
          </p:nvSpPr>
          <p:spPr>
            <a:xfrm>
              <a:off x="7989887" y="1412875"/>
              <a:ext cx="519112" cy="455612"/>
            </a:xfrm>
            <a:custGeom>
              <a:rect b="b" l="l" r="r" t="t"/>
              <a:pathLst>
                <a:path extrusionOk="0" h="108" w="123">
                  <a:moveTo>
                    <a:pt x="0" y="108"/>
                  </a:moveTo>
                  <a:cubicBezTo>
                    <a:pt x="69" y="108"/>
                    <a:pt x="69" y="108"/>
                    <a:pt x="69" y="108"/>
                  </a:cubicBezTo>
                  <a:cubicBezTo>
                    <a:pt x="99" y="108"/>
                    <a:pt x="123" y="84"/>
                    <a:pt x="123" y="54"/>
                  </a:cubicBezTo>
                  <a:cubicBezTo>
                    <a:pt x="123" y="24"/>
                    <a:pt x="99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95" name="Google Shape;695;p46"/>
            <p:cNvCxnSpPr/>
            <p:nvPr/>
          </p:nvCxnSpPr>
          <p:spPr>
            <a:xfrm>
              <a:off x="7843837" y="1527175"/>
              <a:ext cx="1428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96" name="Google Shape;696;p46"/>
            <p:cNvCxnSpPr/>
            <p:nvPr/>
          </p:nvCxnSpPr>
          <p:spPr>
            <a:xfrm>
              <a:off x="8509000" y="1639887"/>
              <a:ext cx="2094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697" name="Google Shape;697;p46"/>
            <p:cNvCxnSpPr/>
            <p:nvPr/>
          </p:nvCxnSpPr>
          <p:spPr>
            <a:xfrm>
              <a:off x="7843837" y="1754187"/>
              <a:ext cx="142800" cy="1500"/>
            </a:xfrm>
            <a:prstGeom prst="straightConnector1">
              <a:avLst/>
            </a:prstGeom>
            <a:noFill/>
            <a:ln cap="flat" cmpd="sng" w="174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698" name="Google Shape;698;p46"/>
            <p:cNvSpPr txBox="1"/>
            <p:nvPr/>
          </p:nvSpPr>
          <p:spPr>
            <a:xfrm>
              <a:off x="7756525" y="1441450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2000"/>
            </a:p>
          </p:txBody>
        </p:sp>
        <p:sp>
          <p:nvSpPr>
            <p:cNvPr id="699" name="Google Shape;699;p46"/>
            <p:cNvSpPr txBox="1"/>
            <p:nvPr/>
          </p:nvSpPr>
          <p:spPr>
            <a:xfrm>
              <a:off x="7754937" y="1668462"/>
              <a:ext cx="699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sz="2000"/>
            </a:p>
          </p:txBody>
        </p:sp>
        <p:sp>
          <p:nvSpPr>
            <p:cNvPr id="700" name="Google Shape;700;p46"/>
            <p:cNvSpPr txBox="1"/>
            <p:nvPr/>
          </p:nvSpPr>
          <p:spPr>
            <a:xfrm>
              <a:off x="8145462" y="1219200"/>
              <a:ext cx="3048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AND</a:t>
              </a:r>
              <a:endParaRPr sz="2000"/>
            </a:p>
          </p:txBody>
        </p:sp>
      </p:grpSp>
      <p:cxnSp>
        <p:nvCxnSpPr>
          <p:cNvPr id="701" name="Google Shape;701;p46"/>
          <p:cNvCxnSpPr/>
          <p:nvPr/>
        </p:nvCxnSpPr>
        <p:spPr>
          <a:xfrm>
            <a:off x="5577375" y="2071400"/>
            <a:ext cx="2694300" cy="349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46"/>
          <p:cNvCxnSpPr/>
          <p:nvPr/>
        </p:nvCxnSpPr>
        <p:spPr>
          <a:xfrm flipH="1" rot="10800000">
            <a:off x="5577375" y="2722200"/>
            <a:ext cx="2722200" cy="342900"/>
          </a:xfrm>
          <a:prstGeom prst="bentConnector3">
            <a:avLst>
              <a:gd fmla="val 2545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46"/>
          <p:cNvCxnSpPr/>
          <p:nvPr/>
        </p:nvCxnSpPr>
        <p:spPr>
          <a:xfrm flipH="1" rot="10800000">
            <a:off x="5591375" y="3379900"/>
            <a:ext cx="1756200" cy="420000"/>
          </a:xfrm>
          <a:prstGeom prst="bentConnector3">
            <a:avLst>
              <a:gd fmla="val 59771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46"/>
          <p:cNvCxnSpPr/>
          <p:nvPr/>
        </p:nvCxnSpPr>
        <p:spPr>
          <a:xfrm>
            <a:off x="7354775" y="3366100"/>
            <a:ext cx="944700" cy="419700"/>
          </a:xfrm>
          <a:prstGeom prst="bentConnector3">
            <a:avLst>
              <a:gd fmla="val -28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5" name="Google Shape;705;p46"/>
          <p:cNvSpPr txBox="1"/>
          <p:nvPr/>
        </p:nvSpPr>
        <p:spPr>
          <a:xfrm>
            <a:off x="1441575" y="3415000"/>
            <a:ext cx="64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1 ns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06" name="Google Shape;706;p46"/>
          <p:cNvCxnSpPr/>
          <p:nvPr/>
        </p:nvCxnSpPr>
        <p:spPr>
          <a:xfrm flipH="1" rot="10800000">
            <a:off x="5556375" y="4205875"/>
            <a:ext cx="3918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707" name="Google Shape;707;p46"/>
          <p:cNvSpPr txBox="1"/>
          <p:nvPr/>
        </p:nvSpPr>
        <p:spPr>
          <a:xfrm>
            <a:off x="5514375" y="3890875"/>
            <a:ext cx="47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1ns</a:t>
            </a:r>
            <a:endParaRPr sz="12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08" name="Google Shape;708;p46"/>
          <p:cNvCxnSpPr/>
          <p:nvPr/>
        </p:nvCxnSpPr>
        <p:spPr>
          <a:xfrm flipH="1" rot="-5400000">
            <a:off x="6221125" y="3198125"/>
            <a:ext cx="510900" cy="174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09" name="Google Shape;709;p46"/>
          <p:cNvCxnSpPr/>
          <p:nvPr/>
        </p:nvCxnSpPr>
        <p:spPr>
          <a:xfrm flipH="1" rot="-5400000">
            <a:off x="6798500" y="2690725"/>
            <a:ext cx="755700" cy="370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0" name="Google Shape;710;p46"/>
          <p:cNvSpPr txBox="1"/>
          <p:nvPr/>
        </p:nvSpPr>
        <p:spPr>
          <a:xfrm>
            <a:off x="4961550" y="2085400"/>
            <a:ext cx="741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7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Storage - Implementing Memory</a:t>
            </a:r>
            <a:endParaRPr/>
          </a:p>
        </p:txBody>
      </p:sp>
      <p:sp>
        <p:nvSpPr>
          <p:cNvPr id="716" name="Google Shape;716;p47"/>
          <p:cNvSpPr txBox="1"/>
          <p:nvPr>
            <p:ph idx="1" type="body"/>
          </p:nvPr>
        </p:nvSpPr>
        <p:spPr>
          <a:xfrm>
            <a:off x="228600" y="1148838"/>
            <a:ext cx="8610600" cy="342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to save the state of a bit/signal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i.e If we press a button to turn on a light, we want the light to stay on even after we stop pressing the button.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relevant example: read/write data in a register file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Use: Latches &amp; Flip Flops</a:t>
            </a:r>
            <a:endParaRPr/>
          </a:p>
        </p:txBody>
      </p:sp>
      <p:sp>
        <p:nvSpPr>
          <p:cNvPr id="717" name="Google Shape;717;p4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oogle Shape;72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9252" y="2309000"/>
            <a:ext cx="3645450" cy="23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8"/>
          <p:cNvSpPr txBox="1"/>
          <p:nvPr>
            <p:ph type="title"/>
          </p:nvPr>
        </p:nvSpPr>
        <p:spPr>
          <a:xfrm>
            <a:off x="228600" y="0"/>
            <a:ext cx="7491300" cy="100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 Latch - Implementation of Memory</a:t>
            </a:r>
            <a:endParaRPr/>
          </a:p>
        </p:txBody>
      </p:sp>
      <p:sp>
        <p:nvSpPr>
          <p:cNvPr id="724" name="Google Shape;724;p48"/>
          <p:cNvSpPr txBox="1"/>
          <p:nvPr>
            <p:ph idx="1" type="body"/>
          </p:nvPr>
        </p:nvSpPr>
        <p:spPr>
          <a:xfrm>
            <a:off x="228600" y="914400"/>
            <a:ext cx="5037300" cy="23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Two inputs: S (Set) and R (Reset)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Two outputs: Q and Not Q (</a:t>
            </a:r>
            <a:r>
              <a:rPr lang="en"/>
              <a:t>opposites</a:t>
            </a:r>
            <a:r>
              <a:rPr lang="en" sz="1800"/>
              <a:t>)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SR Latches work because of feedback, notice how outputs from one NOR gate are driving outputs of the other.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 0 state - “holds the current data”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 1 state - reset, writes a 0 to data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0 state - set writes a 1 to data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725" name="Google Shape;72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9126" y="783413"/>
            <a:ext cx="1615475" cy="1578975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9"/>
          <p:cNvSpPr txBox="1"/>
          <p:nvPr>
            <p:ph idx="1" type="body"/>
          </p:nvPr>
        </p:nvSpPr>
        <p:spPr>
          <a:xfrm>
            <a:off x="228600" y="914400"/>
            <a:ext cx="86106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what happens when S=1 and R=1?</a:t>
            </a:r>
            <a:endParaRPr/>
          </a:p>
        </p:txBody>
      </p:sp>
      <p:pic>
        <p:nvPicPr>
          <p:cNvPr id="732" name="Google Shape;73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050" y="1659338"/>
            <a:ext cx="60579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4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4" name="Google Shape;734;p49"/>
          <p:cNvSpPr txBox="1"/>
          <p:nvPr>
            <p:ph type="title"/>
          </p:nvPr>
        </p:nvSpPr>
        <p:spPr>
          <a:xfrm>
            <a:off x="228600" y="0"/>
            <a:ext cx="7491300" cy="1009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 Latch - Implementation of Memory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0"/>
          <p:cNvSpPr txBox="1"/>
          <p:nvPr>
            <p:ph idx="1" type="body"/>
          </p:nvPr>
        </p:nvSpPr>
        <p:spPr>
          <a:xfrm>
            <a:off x="228600" y="1066800"/>
            <a:ext cx="86106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signals being fed in: the Data and a Gating Signal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State of the output changes while G is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G is 0, no set or reset: SR latch in state 0 0, so value is held</a:t>
            </a:r>
            <a:endParaRPr/>
          </a:p>
        </p:txBody>
      </p:sp>
      <p:pic>
        <p:nvPicPr>
          <p:cNvPr id="740" name="Google Shape;7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050" y="2453225"/>
            <a:ext cx="4314950" cy="18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9950" y="2250725"/>
            <a:ext cx="4345274" cy="24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3" name="Google Shape;743;p50"/>
          <p:cNvSpPr txBox="1"/>
          <p:nvPr/>
        </p:nvSpPr>
        <p:spPr>
          <a:xfrm>
            <a:off x="228600" y="0"/>
            <a:ext cx="7491300" cy="10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6D9EE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D-Latch - Another way to implement Memory</a:t>
            </a:r>
            <a:endParaRPr sz="2800">
              <a:solidFill>
                <a:srgbClr val="6D9EE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1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Clocks</a:t>
            </a:r>
            <a:endParaRPr/>
          </a:p>
        </p:txBody>
      </p:sp>
      <p:sp>
        <p:nvSpPr>
          <p:cNvPr id="749" name="Google Shape;749;p51"/>
          <p:cNvSpPr txBox="1"/>
          <p:nvPr>
            <p:ph idx="1" type="body"/>
          </p:nvPr>
        </p:nvSpPr>
        <p:spPr>
          <a:xfrm>
            <a:off x="228600" y="914400"/>
            <a:ext cx="86106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 pulse. Switches from 0 to 1 periodically (equal intervals)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determine this interval, but it stays constant once set.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will be useful when we do operations with different propagation delays</a:t>
            </a:r>
            <a:endParaRPr/>
          </a:p>
        </p:txBody>
      </p:sp>
      <p:pic>
        <p:nvPicPr>
          <p:cNvPr id="750" name="Google Shape;7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500" y="2634600"/>
            <a:ext cx="6200775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5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2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D-Flip Flop</a:t>
            </a:r>
            <a:endParaRPr/>
          </a:p>
        </p:txBody>
      </p:sp>
      <p:sp>
        <p:nvSpPr>
          <p:cNvPr id="757" name="Google Shape;757;p52"/>
          <p:cNvSpPr txBox="1"/>
          <p:nvPr>
            <p:ph idx="1" type="body"/>
          </p:nvPr>
        </p:nvSpPr>
        <p:spPr>
          <a:xfrm>
            <a:off x="228600" y="914400"/>
            <a:ext cx="8610600" cy="36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D Latches chained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</a:t>
            </a:r>
            <a:r>
              <a:rPr lang="en"/>
              <a:t>signals being fed in: the Data and the Clock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State of the output changes while clock is changing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Rising-Edge Triggered OR Falling-Edge Triggered</a:t>
            </a:r>
            <a:endParaRPr/>
          </a:p>
        </p:txBody>
      </p:sp>
      <p:pic>
        <p:nvPicPr>
          <p:cNvPr id="758" name="Google Shape;75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25" y="2567750"/>
            <a:ext cx="40753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2475" y="2361001"/>
            <a:ext cx="4278500" cy="225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7700" y="1015425"/>
            <a:ext cx="2154350" cy="1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5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3"/>
          <p:cNvSpPr txBox="1"/>
          <p:nvPr/>
        </p:nvSpPr>
        <p:spPr>
          <a:xfrm>
            <a:off x="373050" y="131400"/>
            <a:ext cx="8474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4A86E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 Latch vs. D Flip-Flop</a:t>
            </a:r>
            <a:endParaRPr sz="2800">
              <a:solidFill>
                <a:srgbClr val="4A86E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7" name="Google Shape;767;p53"/>
          <p:cNvSpPr txBox="1"/>
          <p:nvPr/>
        </p:nvSpPr>
        <p:spPr>
          <a:xfrm>
            <a:off x="76200" y="1760075"/>
            <a:ext cx="4862100" cy="21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•"/>
            </a:pPr>
            <a:r>
              <a:rPr lang="en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Latch is level-sensitive</a:t>
            </a:r>
            <a:endParaRPr sz="2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–"/>
            </a:pPr>
            <a:r>
              <a:rPr lang="en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Stores D when Clk=1 (Boxes)</a:t>
            </a:r>
            <a:endParaRPr sz="2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•"/>
            </a:pPr>
            <a:r>
              <a:rPr lang="en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Flip-flop is edge triggered</a:t>
            </a:r>
            <a:endParaRPr sz="2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9210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Helvetica Neue"/>
              <a:buChar char="–"/>
            </a:pPr>
            <a:r>
              <a:rPr lang="en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Stores D when Clk changes from 0 to 1 (Rising Edge, dotte</a:t>
            </a:r>
            <a:r>
              <a:rPr lang="en" sz="2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 lines)</a:t>
            </a:r>
            <a:endParaRPr sz="2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8" name="Google Shape;768;p53"/>
          <p:cNvSpPr/>
          <p:nvPr/>
        </p:nvSpPr>
        <p:spPr>
          <a:xfrm>
            <a:off x="4938301" y="974700"/>
            <a:ext cx="4053300" cy="3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53"/>
          <p:cNvSpPr/>
          <p:nvPr/>
        </p:nvSpPr>
        <p:spPr>
          <a:xfrm>
            <a:off x="5749267" y="1448145"/>
            <a:ext cx="3229736" cy="364477"/>
          </a:xfrm>
          <a:custGeom>
            <a:rect b="b" l="l" r="r" t="t"/>
            <a:pathLst>
              <a:path extrusionOk="0" h="194" w="1536">
                <a:moveTo>
                  <a:pt x="1536" y="194"/>
                </a:moveTo>
                <a:lnTo>
                  <a:pt x="1265" y="194"/>
                </a:lnTo>
                <a:lnTo>
                  <a:pt x="1265" y="0"/>
                </a:lnTo>
                <a:lnTo>
                  <a:pt x="960" y="0"/>
                </a:lnTo>
                <a:lnTo>
                  <a:pt x="960" y="194"/>
                </a:lnTo>
                <a:lnTo>
                  <a:pt x="628" y="194"/>
                </a:lnTo>
                <a:lnTo>
                  <a:pt x="628" y="0"/>
                </a:lnTo>
                <a:lnTo>
                  <a:pt x="324" y="0"/>
                </a:lnTo>
                <a:lnTo>
                  <a:pt x="324" y="194"/>
                </a:lnTo>
                <a:lnTo>
                  <a:pt x="0" y="194"/>
                </a:lnTo>
              </a:path>
            </a:pathLst>
          </a:custGeom>
          <a:noFill/>
          <a:ln cap="flat" cmpd="sng" w="20625">
            <a:solidFill>
              <a:srgbClr val="0079C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53"/>
          <p:cNvSpPr/>
          <p:nvPr/>
        </p:nvSpPr>
        <p:spPr>
          <a:xfrm>
            <a:off x="5749267" y="2026801"/>
            <a:ext cx="3229736" cy="375750"/>
          </a:xfrm>
          <a:custGeom>
            <a:rect b="b" l="l" r="r" t="t"/>
            <a:pathLst>
              <a:path extrusionOk="0" h="200" w="1536">
                <a:moveTo>
                  <a:pt x="1536" y="200"/>
                </a:moveTo>
                <a:lnTo>
                  <a:pt x="1145" y="200"/>
                </a:lnTo>
                <a:lnTo>
                  <a:pt x="1145" y="6"/>
                </a:lnTo>
                <a:lnTo>
                  <a:pt x="840" y="6"/>
                </a:lnTo>
                <a:lnTo>
                  <a:pt x="840" y="200"/>
                </a:lnTo>
                <a:lnTo>
                  <a:pt x="733" y="200"/>
                </a:lnTo>
                <a:lnTo>
                  <a:pt x="733" y="6"/>
                </a:lnTo>
                <a:lnTo>
                  <a:pt x="428" y="6"/>
                </a:lnTo>
                <a:lnTo>
                  <a:pt x="428" y="197"/>
                </a:lnTo>
                <a:lnTo>
                  <a:pt x="191" y="197"/>
                </a:lnTo>
                <a:lnTo>
                  <a:pt x="191" y="0"/>
                </a:lnTo>
                <a:lnTo>
                  <a:pt x="84" y="0"/>
                </a:lnTo>
                <a:lnTo>
                  <a:pt x="84" y="194"/>
                </a:lnTo>
                <a:lnTo>
                  <a:pt x="0" y="194"/>
                </a:lnTo>
              </a:path>
            </a:pathLst>
          </a:custGeom>
          <a:noFill/>
          <a:ln cap="flat" cmpd="sng" w="20625">
            <a:solidFill>
              <a:srgbClr val="0079C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p53"/>
          <p:cNvSpPr/>
          <p:nvPr/>
        </p:nvSpPr>
        <p:spPr>
          <a:xfrm>
            <a:off x="5742958" y="2680606"/>
            <a:ext cx="3229736" cy="364478"/>
          </a:xfrm>
          <a:custGeom>
            <a:rect b="b" l="l" r="r" t="t"/>
            <a:pathLst>
              <a:path extrusionOk="0" h="194" w="1536">
                <a:moveTo>
                  <a:pt x="0" y="191"/>
                </a:moveTo>
                <a:lnTo>
                  <a:pt x="490" y="191"/>
                </a:lnTo>
                <a:lnTo>
                  <a:pt x="490" y="0"/>
                </a:lnTo>
                <a:lnTo>
                  <a:pt x="1145" y="0"/>
                </a:lnTo>
                <a:lnTo>
                  <a:pt x="1145" y="194"/>
                </a:lnTo>
                <a:lnTo>
                  <a:pt x="1536" y="194"/>
                </a:lnTo>
              </a:path>
            </a:pathLst>
          </a:custGeom>
          <a:noFill/>
          <a:ln cap="flat" cmpd="sng" w="20625">
            <a:solidFill>
              <a:srgbClr val="0079C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53"/>
          <p:cNvSpPr/>
          <p:nvPr/>
        </p:nvSpPr>
        <p:spPr>
          <a:xfrm>
            <a:off x="5749267" y="3403925"/>
            <a:ext cx="3236044" cy="356963"/>
          </a:xfrm>
          <a:custGeom>
            <a:rect b="b" l="l" r="r" t="t"/>
            <a:pathLst>
              <a:path extrusionOk="0" h="190" w="1539">
                <a:moveTo>
                  <a:pt x="0" y="190"/>
                </a:moveTo>
                <a:lnTo>
                  <a:pt x="988" y="190"/>
                </a:lnTo>
                <a:lnTo>
                  <a:pt x="988" y="0"/>
                </a:lnTo>
                <a:lnTo>
                  <a:pt x="1539" y="0"/>
                </a:lnTo>
              </a:path>
            </a:pathLst>
          </a:custGeom>
          <a:noFill/>
          <a:ln cap="flat" cmpd="sng" w="20625">
            <a:solidFill>
              <a:srgbClr val="0079C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3" name="Google Shape;773;p53"/>
          <p:cNvCxnSpPr/>
          <p:nvPr/>
        </p:nvCxnSpPr>
        <p:spPr>
          <a:xfrm>
            <a:off x="6430539" y="980336"/>
            <a:ext cx="1800" cy="3111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dot"/>
            <a:miter lim="800000"/>
            <a:headEnd len="med" w="med" type="none"/>
            <a:tailEnd len="med" w="med" type="none"/>
          </a:ln>
        </p:spPr>
      </p:cxnSp>
      <p:cxnSp>
        <p:nvCxnSpPr>
          <p:cNvPr id="774" name="Google Shape;774;p53"/>
          <p:cNvCxnSpPr/>
          <p:nvPr/>
        </p:nvCxnSpPr>
        <p:spPr>
          <a:xfrm>
            <a:off x="7767851" y="980336"/>
            <a:ext cx="1800" cy="3111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dot"/>
            <a:miter lim="800000"/>
            <a:headEnd len="med" w="med" type="none"/>
            <a:tailEnd len="med" w="med" type="none"/>
          </a:ln>
        </p:spPr>
      </p:cxnSp>
      <p:sp>
        <p:nvSpPr>
          <p:cNvPr id="775" name="Google Shape;775;p53"/>
          <p:cNvSpPr txBox="1"/>
          <p:nvPr/>
        </p:nvSpPr>
        <p:spPr>
          <a:xfrm>
            <a:off x="5381295" y="1508265"/>
            <a:ext cx="2901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6" name="Google Shape;776;p53"/>
          <p:cNvSpPr txBox="1"/>
          <p:nvPr/>
        </p:nvSpPr>
        <p:spPr>
          <a:xfrm>
            <a:off x="5530587" y="2077526"/>
            <a:ext cx="1452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7" name="Google Shape;777;p53"/>
          <p:cNvSpPr txBox="1"/>
          <p:nvPr/>
        </p:nvSpPr>
        <p:spPr>
          <a:xfrm>
            <a:off x="4678996" y="2727574"/>
            <a:ext cx="975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 </a:t>
            </a: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8" name="Google Shape;778;p53"/>
          <p:cNvSpPr txBox="1"/>
          <p:nvPr/>
        </p:nvSpPr>
        <p:spPr>
          <a:xfrm>
            <a:off x="4447700" y="3473439"/>
            <a:ext cx="11988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0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 flip-flop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9" name="Google Shape;779;p53"/>
          <p:cNvSpPr txBox="1"/>
          <p:nvPr/>
        </p:nvSpPr>
        <p:spPr>
          <a:xfrm>
            <a:off x="7479782" y="3505377"/>
            <a:ext cx="2229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0" name="Google Shape;780;p53"/>
          <p:cNvSpPr txBox="1"/>
          <p:nvPr/>
        </p:nvSpPr>
        <p:spPr>
          <a:xfrm>
            <a:off x="8215724" y="2791452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1" name="Google Shape;781;p53"/>
          <p:cNvSpPr txBox="1"/>
          <p:nvPr/>
        </p:nvSpPr>
        <p:spPr>
          <a:xfrm>
            <a:off x="6590344" y="2791452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2" name="Google Shape;782;p53"/>
          <p:cNvSpPr txBox="1"/>
          <p:nvPr/>
        </p:nvSpPr>
        <p:spPr>
          <a:xfrm>
            <a:off x="8234649" y="2152676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3" name="Google Shape;783;p53"/>
          <p:cNvSpPr txBox="1"/>
          <p:nvPr/>
        </p:nvSpPr>
        <p:spPr>
          <a:xfrm>
            <a:off x="7347313" y="2152676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4" name="Google Shape;784;p53"/>
          <p:cNvSpPr txBox="1"/>
          <p:nvPr/>
        </p:nvSpPr>
        <p:spPr>
          <a:xfrm>
            <a:off x="6487311" y="2152676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785" name="Google Shape;785;p53"/>
          <p:cNvSpPr txBox="1"/>
          <p:nvPr/>
        </p:nvSpPr>
        <p:spPr>
          <a:xfrm>
            <a:off x="6487311" y="3505377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6" name="Google Shape;786;p53"/>
          <p:cNvSpPr txBox="1"/>
          <p:nvPr/>
        </p:nvSpPr>
        <p:spPr>
          <a:xfrm>
            <a:off x="5770294" y="2152676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7" name="Google Shape;787;p53"/>
          <p:cNvSpPr txBox="1"/>
          <p:nvPr/>
        </p:nvSpPr>
        <p:spPr>
          <a:xfrm>
            <a:off x="6262324" y="1513901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8" name="Google Shape;788;p53"/>
          <p:cNvSpPr txBox="1"/>
          <p:nvPr/>
        </p:nvSpPr>
        <p:spPr>
          <a:xfrm>
            <a:off x="7614354" y="1513901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b="0" i="1" lang="en" sz="1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9" name="Google Shape;789;p53"/>
          <p:cNvSpPr/>
          <p:nvPr/>
        </p:nvSpPr>
        <p:spPr>
          <a:xfrm>
            <a:off x="6428075" y="1207894"/>
            <a:ext cx="637500" cy="1930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1" name="Google Shape;791;p53"/>
          <p:cNvSpPr/>
          <p:nvPr/>
        </p:nvSpPr>
        <p:spPr>
          <a:xfrm>
            <a:off x="7767850" y="1207894"/>
            <a:ext cx="637500" cy="1930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53"/>
          <p:cNvSpPr txBox="1"/>
          <p:nvPr/>
        </p:nvSpPr>
        <p:spPr>
          <a:xfrm>
            <a:off x="6487299" y="2138464"/>
            <a:ext cx="111300" cy="2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rPr i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4"/>
          <p:cNvSpPr txBox="1"/>
          <p:nvPr>
            <p:ph type="title"/>
          </p:nvPr>
        </p:nvSpPr>
        <p:spPr>
          <a:xfrm>
            <a:off x="0" y="0"/>
            <a:ext cx="7719600" cy="11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5: Timing Diagram for Rising-Edge FF</a:t>
            </a:r>
            <a:endParaRPr/>
          </a:p>
        </p:txBody>
      </p:sp>
      <p:sp>
        <p:nvSpPr>
          <p:cNvPr id="798" name="Google Shape;798;p54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What does the output signal Q look like for a rising-edge flip-flop?</a:t>
            </a:r>
            <a:endParaRPr/>
          </a:p>
        </p:txBody>
      </p:sp>
      <p:sp>
        <p:nvSpPr>
          <p:cNvPr id="799" name="Google Shape;799;p5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0" name="Google Shape;80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934" y="1801375"/>
            <a:ext cx="5588133" cy="29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7925" y="1795168"/>
            <a:ext cx="5652974" cy="2978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5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Finite-</a:t>
            </a:r>
            <a:r>
              <a:rPr lang="en"/>
              <a:t>S</a:t>
            </a:r>
            <a:r>
              <a:rPr i="0" lang="en" u="none"/>
              <a:t>tate </a:t>
            </a:r>
            <a:r>
              <a:rPr lang="en"/>
              <a:t>M</a:t>
            </a:r>
            <a:r>
              <a:rPr i="0" lang="en" u="none"/>
              <a:t>achine Definition</a:t>
            </a:r>
            <a:endParaRPr/>
          </a:p>
        </p:txBody>
      </p:sp>
      <p:sp>
        <p:nvSpPr>
          <p:cNvPr id="808" name="Google Shape;808;p55"/>
          <p:cNvSpPr txBox="1"/>
          <p:nvPr>
            <p:ph idx="1" type="body"/>
          </p:nvPr>
        </p:nvSpPr>
        <p:spPr>
          <a:xfrm>
            <a:off x="560575" y="1079100"/>
            <a:ext cx="7509900" cy="3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/>
              <a:t>Describes desired behavior of sequential circuit.</a:t>
            </a:r>
            <a:endParaRPr sz="2100"/>
          </a:p>
          <a:p>
            <a:pPr indent="-2984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lang="en" sz="2000"/>
              <a:t>Like Boolean equations for combinational behavior.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FSM consists of:</a:t>
            </a:r>
            <a:endParaRPr sz="2000"/>
          </a:p>
          <a:p>
            <a:pPr indent="-2984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lang="en" sz="2000"/>
              <a:t>Set of inputs &amp; outputs</a:t>
            </a:r>
            <a:endParaRPr sz="2000"/>
          </a:p>
          <a:p>
            <a:pPr indent="-241300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en" sz="2000"/>
              <a:t>These are digital logic: bits, wires, numbers</a:t>
            </a:r>
            <a:endParaRPr sz="2000"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en" sz="2000" u="none"/>
              <a:t>Set of states</a:t>
            </a:r>
            <a:endParaRPr i="0" sz="2000" u="none"/>
          </a:p>
          <a:p>
            <a:pPr indent="-241300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en" sz="2000"/>
              <a:t>Each specifies output values</a:t>
            </a:r>
            <a:endParaRPr sz="2000"/>
          </a:p>
          <a:p>
            <a:pPr indent="-241300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en" sz="2000"/>
              <a:t>One is the </a:t>
            </a:r>
            <a:r>
              <a:rPr i="0" lang="en" sz="2000" u="none"/>
              <a:t>Initial state, </a:t>
            </a:r>
            <a:r>
              <a:rPr lang="en" sz="2000"/>
              <a:t>Ex: “Off”</a:t>
            </a:r>
            <a:endParaRPr sz="2000"/>
          </a:p>
          <a:p>
            <a:pPr indent="-2857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en" sz="2000" u="none"/>
              <a:t>Set of transitions</a:t>
            </a:r>
            <a:endParaRPr sz="2000"/>
          </a:p>
          <a:p>
            <a:pPr indent="-241300" lvl="2" marL="1143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</a:pPr>
            <a:r>
              <a:rPr lang="en" sz="2000"/>
              <a:t>Transition: &lt;State, Input Value, Next State&gt;</a:t>
            </a:r>
            <a:endParaRPr i="0" sz="1600" u="none"/>
          </a:p>
        </p:txBody>
      </p:sp>
      <p:sp>
        <p:nvSpPr>
          <p:cNvPr id="809" name="Google Shape;809;p5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6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lang="en"/>
              <a:t>FSM Representations</a:t>
            </a:r>
            <a:endParaRPr/>
          </a:p>
        </p:txBody>
      </p:sp>
      <p:sp>
        <p:nvSpPr>
          <p:cNvPr id="816" name="Google Shape;816;p56"/>
          <p:cNvSpPr txBox="1"/>
          <p:nvPr/>
        </p:nvSpPr>
        <p:spPr>
          <a:xfrm>
            <a:off x="609850" y="3644825"/>
            <a:ext cx="78660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" sz="2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often draw FSM graphically</a:t>
            </a:r>
            <a:r>
              <a:rPr lang="en" sz="2200">
                <a:solidFill>
                  <a:schemeClr val="dk2"/>
                </a:solidFill>
              </a:rPr>
              <a:t> as</a:t>
            </a:r>
            <a:r>
              <a:rPr b="0" i="0" lang="en" sz="2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1" i="1" lang="en" sz="22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state diagram</a:t>
            </a:r>
            <a:endParaRPr b="1" i="1" sz="2200" u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000">
                <a:solidFill>
                  <a:schemeClr val="dk2"/>
                </a:solidFill>
              </a:rPr>
              <a:t>Can also use </a:t>
            </a:r>
            <a:r>
              <a:rPr b="1" lang="en" sz="2000">
                <a:solidFill>
                  <a:schemeClr val="dk2"/>
                </a:solidFill>
              </a:rPr>
              <a:t>state table</a:t>
            </a:r>
            <a:r>
              <a:rPr lang="en" sz="2000">
                <a:solidFill>
                  <a:schemeClr val="dk2"/>
                </a:solidFill>
              </a:rPr>
              <a:t> or textual languages</a:t>
            </a:r>
            <a:endParaRPr b="1" i="1" sz="2200">
              <a:solidFill>
                <a:schemeClr val="dk2"/>
              </a:solidFill>
            </a:endParaRPr>
          </a:p>
        </p:txBody>
      </p:sp>
      <p:sp>
        <p:nvSpPr>
          <p:cNvPr id="817" name="Google Shape;817;p5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8" name="Google Shape;818;p56"/>
          <p:cNvPicPr preferRelativeResize="0"/>
          <p:nvPr/>
        </p:nvPicPr>
        <p:blipFill rotWithShape="1">
          <a:blip r:embed="rId3">
            <a:alphaModFix/>
          </a:blip>
          <a:srcRect b="10416" l="9968" r="2358" t="8519"/>
          <a:stretch/>
        </p:blipFill>
        <p:spPr>
          <a:xfrm>
            <a:off x="507700" y="1122900"/>
            <a:ext cx="3308500" cy="240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8325" y="1228025"/>
            <a:ext cx="4446725" cy="226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7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How To Capture Desired Behavior as FSM</a:t>
            </a:r>
            <a:endParaRPr/>
          </a:p>
        </p:txBody>
      </p:sp>
      <p:sp>
        <p:nvSpPr>
          <p:cNvPr id="825" name="Google Shape;825;p57"/>
          <p:cNvSpPr txBox="1"/>
          <p:nvPr>
            <p:ph idx="1" type="body"/>
          </p:nvPr>
        </p:nvSpPr>
        <p:spPr>
          <a:xfrm>
            <a:off x="228600" y="1257300"/>
            <a:ext cx="86106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1" lang="en" sz="2400" u="none">
                <a:latin typeface="Arial"/>
                <a:ea typeface="Arial"/>
                <a:cs typeface="Arial"/>
                <a:sym typeface="Arial"/>
              </a:rPr>
              <a:t>List states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</a:pPr>
            <a:r>
              <a:rPr b="0" i="0" lang="en" sz="2000" u="none">
                <a:latin typeface="Arial"/>
                <a:ea typeface="Arial"/>
                <a:cs typeface="Arial"/>
                <a:sym typeface="Arial"/>
              </a:rPr>
              <a:t>Give meaningful names, show initial state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</a:pPr>
            <a:r>
              <a:rPr b="0" i="0" lang="en" sz="2000" u="none">
                <a:latin typeface="Arial"/>
                <a:ea typeface="Arial"/>
                <a:cs typeface="Arial"/>
                <a:sym typeface="Arial"/>
              </a:rPr>
              <a:t>Optionally add some transitions if they help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1" lang="en" sz="2400" u="none">
                <a:latin typeface="Arial"/>
                <a:ea typeface="Arial"/>
                <a:cs typeface="Arial"/>
                <a:sym typeface="Arial"/>
              </a:rPr>
              <a:t>Create transitions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</a:pPr>
            <a:r>
              <a:rPr b="0" i="0" lang="en" sz="2000" u="none">
                <a:latin typeface="Arial"/>
                <a:ea typeface="Arial"/>
                <a:cs typeface="Arial"/>
                <a:sym typeface="Arial"/>
              </a:rPr>
              <a:t>For each state, define </a:t>
            </a:r>
            <a:r>
              <a:rPr b="1" i="0" lang="en" sz="2000" u="none">
                <a:latin typeface="Arial"/>
                <a:ea typeface="Arial"/>
                <a:cs typeface="Arial"/>
                <a:sym typeface="Arial"/>
              </a:rPr>
              <a:t>all possible</a:t>
            </a:r>
            <a:r>
              <a:rPr b="0" i="0" lang="en" sz="2000" u="none">
                <a:latin typeface="Arial"/>
                <a:ea typeface="Arial"/>
                <a:cs typeface="Arial"/>
                <a:sym typeface="Arial"/>
              </a:rPr>
              <a:t> transitions leaving that state.</a:t>
            </a:r>
            <a:endParaRPr b="0" i="0" sz="2000" u="none">
              <a:latin typeface="Arial"/>
              <a:ea typeface="Arial"/>
              <a:cs typeface="Arial"/>
              <a:sym typeface="Arial"/>
            </a:endParaRPr>
          </a:p>
          <a:p>
            <a:pPr indent="-2413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■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Make a transition for every possible input value.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1" lang="en" sz="2400" u="none">
                <a:latin typeface="Arial"/>
                <a:ea typeface="Arial"/>
                <a:cs typeface="Arial"/>
                <a:sym typeface="Arial"/>
              </a:rPr>
              <a:t>Refine the FSM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</a:pPr>
            <a:r>
              <a:rPr b="0" i="0" lang="en" sz="2000" u="none">
                <a:latin typeface="Arial"/>
                <a:ea typeface="Arial"/>
                <a:cs typeface="Arial"/>
                <a:sym typeface="Arial"/>
              </a:rPr>
              <a:t>Execute the FSM mentally and make any needed improvements. </a:t>
            </a:r>
            <a:endParaRPr/>
          </a:p>
        </p:txBody>
      </p:sp>
      <p:sp>
        <p:nvSpPr>
          <p:cNvPr id="826" name="Google Shape;826;p5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8"/>
          <p:cNvSpPr txBox="1"/>
          <p:nvPr>
            <p:ph type="title"/>
          </p:nvPr>
        </p:nvSpPr>
        <p:spPr>
          <a:xfrm>
            <a:off x="228600" y="228600"/>
            <a:ext cx="74802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Capturing Sequential Circuit Behavior as FSM</a:t>
            </a:r>
            <a:endParaRPr/>
          </a:p>
        </p:txBody>
      </p:sp>
      <p:sp>
        <p:nvSpPr>
          <p:cNvPr id="833" name="Google Shape;833;p58"/>
          <p:cNvSpPr txBox="1"/>
          <p:nvPr>
            <p:ph idx="1" type="body"/>
          </p:nvPr>
        </p:nvSpPr>
        <p:spPr>
          <a:xfrm>
            <a:off x="319525" y="1092475"/>
            <a:ext cx="4425900" cy="2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" u="none">
                <a:latin typeface="Arial"/>
                <a:ea typeface="Arial"/>
                <a:cs typeface="Arial"/>
                <a:sym typeface="Arial"/>
              </a:rPr>
              <a:t>Example: Toggle x every clock cycle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States</a:t>
            </a:r>
            <a:r>
              <a:rPr b="0" i="0" lang="en" u="none">
                <a:latin typeface="Arial"/>
                <a:ea typeface="Arial"/>
                <a:cs typeface="Arial"/>
                <a:sym typeface="Arial"/>
              </a:rPr>
              <a:t>: “Lo” (x=0), and “Hi” (x=1)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" u="none">
                <a:latin typeface="Arial"/>
                <a:ea typeface="Arial"/>
                <a:cs typeface="Arial"/>
                <a:sym typeface="Arial"/>
              </a:rPr>
              <a:t>Transition from on rising clock edge (clk^)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0" lang="en" u="none">
                <a:latin typeface="Arial"/>
                <a:ea typeface="Arial"/>
                <a:cs typeface="Arial"/>
                <a:sym typeface="Arial"/>
              </a:rPr>
              <a:t>Arrow points to initial state</a:t>
            </a:r>
            <a:endParaRPr b="0" i="0" sz="2000" u="non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4" name="Google Shape;834;p58"/>
          <p:cNvGrpSpPr/>
          <p:nvPr/>
        </p:nvGrpSpPr>
        <p:grpSpPr>
          <a:xfrm>
            <a:off x="1992251" y="2782367"/>
            <a:ext cx="4911542" cy="2060773"/>
            <a:chOff x="4546900" y="3898900"/>
            <a:chExt cx="4297062" cy="2220900"/>
          </a:xfrm>
        </p:grpSpPr>
        <p:cxnSp>
          <p:nvCxnSpPr>
            <p:cNvPr id="835" name="Google Shape;835;p58"/>
            <p:cNvCxnSpPr/>
            <p:nvPr/>
          </p:nvCxnSpPr>
          <p:spPr>
            <a:xfrm>
              <a:off x="5884862" y="3898900"/>
              <a:ext cx="0" cy="2220900"/>
            </a:xfrm>
            <a:prstGeom prst="straightConnector1">
              <a:avLst/>
            </a:prstGeom>
            <a:noFill/>
            <a:ln cap="flat" cmpd="sng" w="11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36" name="Google Shape;836;p58"/>
            <p:cNvCxnSpPr/>
            <p:nvPr/>
          </p:nvCxnSpPr>
          <p:spPr>
            <a:xfrm>
              <a:off x="7847012" y="3898900"/>
              <a:ext cx="0" cy="2220900"/>
            </a:xfrm>
            <a:prstGeom prst="straightConnector1">
              <a:avLst/>
            </a:prstGeom>
            <a:noFill/>
            <a:ln cap="flat" cmpd="sng" w="11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37" name="Google Shape;837;p58"/>
            <p:cNvCxnSpPr/>
            <p:nvPr/>
          </p:nvCxnSpPr>
          <p:spPr>
            <a:xfrm>
              <a:off x="8837612" y="3898900"/>
              <a:ext cx="0" cy="2220900"/>
            </a:xfrm>
            <a:prstGeom prst="straightConnector1">
              <a:avLst/>
            </a:prstGeom>
            <a:noFill/>
            <a:ln cap="flat" cmpd="sng" w="11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38" name="Google Shape;838;p58"/>
            <p:cNvCxnSpPr/>
            <p:nvPr/>
          </p:nvCxnSpPr>
          <p:spPr>
            <a:xfrm>
              <a:off x="6869112" y="3898900"/>
              <a:ext cx="0" cy="2220900"/>
            </a:xfrm>
            <a:prstGeom prst="straightConnector1">
              <a:avLst/>
            </a:prstGeom>
            <a:noFill/>
            <a:ln cap="flat" cmpd="sng" w="11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839" name="Google Shape;839;p58"/>
            <p:cNvGrpSpPr/>
            <p:nvPr/>
          </p:nvGrpSpPr>
          <p:grpSpPr>
            <a:xfrm>
              <a:off x="4546900" y="4114813"/>
              <a:ext cx="4297062" cy="379433"/>
              <a:chOff x="4546900" y="4114813"/>
              <a:chExt cx="4297062" cy="379433"/>
            </a:xfrm>
          </p:grpSpPr>
          <p:sp>
            <p:nvSpPr>
              <p:cNvPr id="840" name="Google Shape;840;p58"/>
              <p:cNvSpPr/>
              <p:nvPr/>
            </p:nvSpPr>
            <p:spPr>
              <a:xfrm>
                <a:off x="4964112" y="4178300"/>
                <a:ext cx="3879850" cy="285750"/>
              </a:xfrm>
              <a:custGeom>
                <a:rect b="b" l="l" r="r" t="t"/>
                <a:pathLst>
                  <a:path extrusionOk="0" h="180" w="2444">
                    <a:moveTo>
                      <a:pt x="0" y="180"/>
                    </a:moveTo>
                    <a:lnTo>
                      <a:pt x="580" y="180"/>
                    </a:lnTo>
                    <a:lnTo>
                      <a:pt x="580" y="0"/>
                    </a:lnTo>
                    <a:lnTo>
                      <a:pt x="636" y="0"/>
                    </a:lnTo>
                    <a:lnTo>
                      <a:pt x="636" y="180"/>
                    </a:lnTo>
                    <a:lnTo>
                      <a:pt x="1200" y="180"/>
                    </a:lnTo>
                    <a:lnTo>
                      <a:pt x="1200" y="0"/>
                    </a:lnTo>
                    <a:lnTo>
                      <a:pt x="1252" y="0"/>
                    </a:lnTo>
                    <a:lnTo>
                      <a:pt x="1252" y="180"/>
                    </a:lnTo>
                    <a:lnTo>
                      <a:pt x="1816" y="180"/>
                    </a:lnTo>
                    <a:lnTo>
                      <a:pt x="1816" y="0"/>
                    </a:lnTo>
                    <a:lnTo>
                      <a:pt x="1872" y="0"/>
                    </a:lnTo>
                    <a:lnTo>
                      <a:pt x="1872" y="180"/>
                    </a:lnTo>
                    <a:lnTo>
                      <a:pt x="2444" y="180"/>
                    </a:lnTo>
                  </a:path>
                </a:pathLst>
              </a:custGeom>
              <a:noFill/>
              <a:ln cap="flat" cmpd="sng" w="23800">
                <a:solidFill>
                  <a:srgbClr val="0079C1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1" name="Google Shape;841;p58"/>
              <p:cNvSpPr txBox="1"/>
              <p:nvPr/>
            </p:nvSpPr>
            <p:spPr>
              <a:xfrm>
                <a:off x="5021600" y="4114813"/>
                <a:ext cx="7155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Helvetica Neue"/>
                  <a:buNone/>
                </a:pPr>
                <a:r>
                  <a:rPr b="0" i="0" lang="en" sz="16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cycle 1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42" name="Google Shape;842;p58"/>
              <p:cNvSpPr txBox="1"/>
              <p:nvPr/>
            </p:nvSpPr>
            <p:spPr>
              <a:xfrm>
                <a:off x="6102350" y="4114813"/>
                <a:ext cx="7155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Helvetica Neue"/>
                  <a:buNone/>
                </a:pPr>
                <a:r>
                  <a:rPr b="0" i="0" lang="en" sz="16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cycle 2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43" name="Google Shape;843;p58"/>
              <p:cNvSpPr txBox="1"/>
              <p:nvPr/>
            </p:nvSpPr>
            <p:spPr>
              <a:xfrm>
                <a:off x="7080250" y="4114813"/>
                <a:ext cx="7155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Helvetica Neue"/>
                  <a:buNone/>
                </a:pPr>
                <a:r>
                  <a:rPr b="0" i="0" lang="en" sz="16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cycle 3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44" name="Google Shape;844;p58"/>
              <p:cNvSpPr txBox="1"/>
              <p:nvPr/>
            </p:nvSpPr>
            <p:spPr>
              <a:xfrm>
                <a:off x="8070850" y="4114813"/>
                <a:ext cx="7155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Helvetica Neue"/>
                  <a:buNone/>
                </a:pPr>
                <a:r>
                  <a:rPr b="0" i="0" lang="en" sz="16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cycle 4</a:t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45" name="Google Shape;845;p58"/>
              <p:cNvSpPr txBox="1"/>
              <p:nvPr/>
            </p:nvSpPr>
            <p:spPr>
              <a:xfrm>
                <a:off x="4546900" y="4249746"/>
                <a:ext cx="329700" cy="24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Helvetica Neue"/>
                  <a:buNone/>
                </a:pPr>
                <a:r>
                  <a:rPr b="0" i="0" lang="en" sz="1600" u="none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clk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grpSp>
        <p:nvGrpSpPr>
          <p:cNvPr id="846" name="Google Shape;846;p58"/>
          <p:cNvGrpSpPr/>
          <p:nvPr/>
        </p:nvGrpSpPr>
        <p:grpSpPr>
          <a:xfrm>
            <a:off x="1453368" y="3654408"/>
            <a:ext cx="5537521" cy="1097439"/>
            <a:chOff x="4075437" y="4838700"/>
            <a:chExt cx="4844725" cy="1182712"/>
          </a:xfrm>
        </p:grpSpPr>
        <p:sp>
          <p:nvSpPr>
            <p:cNvPr id="847" name="Google Shape;847;p58"/>
            <p:cNvSpPr/>
            <p:nvPr/>
          </p:nvSpPr>
          <p:spPr>
            <a:xfrm>
              <a:off x="4964112" y="5599112"/>
              <a:ext cx="3867150" cy="387350"/>
            </a:xfrm>
            <a:custGeom>
              <a:rect b="b" l="l" r="r" t="t"/>
              <a:pathLst>
                <a:path extrusionOk="0" h="244" w="2436">
                  <a:moveTo>
                    <a:pt x="0" y="244"/>
                  </a:moveTo>
                  <a:lnTo>
                    <a:pt x="580" y="244"/>
                  </a:lnTo>
                  <a:lnTo>
                    <a:pt x="580" y="0"/>
                  </a:lnTo>
                  <a:lnTo>
                    <a:pt x="1196" y="0"/>
                  </a:lnTo>
                  <a:lnTo>
                    <a:pt x="1196" y="244"/>
                  </a:lnTo>
                  <a:lnTo>
                    <a:pt x="1816" y="244"/>
                  </a:lnTo>
                  <a:lnTo>
                    <a:pt x="1816" y="0"/>
                  </a:lnTo>
                  <a:lnTo>
                    <a:pt x="2436" y="0"/>
                  </a:lnTo>
                </a:path>
              </a:pathLst>
            </a:custGeom>
            <a:noFill/>
            <a:ln cap="flat" cmpd="sng" w="238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8" name="Google Shape;848;p58"/>
            <p:cNvSpPr/>
            <p:nvPr/>
          </p:nvSpPr>
          <p:spPr>
            <a:xfrm>
              <a:off x="4964112" y="4838700"/>
              <a:ext cx="3956050" cy="387350"/>
            </a:xfrm>
            <a:custGeom>
              <a:rect b="b" l="l" r="r" t="t"/>
              <a:pathLst>
                <a:path extrusionOk="0" h="244" w="2492">
                  <a:moveTo>
                    <a:pt x="2440" y="244"/>
                  </a:moveTo>
                  <a:lnTo>
                    <a:pt x="1924" y="244"/>
                  </a:lnTo>
                  <a:lnTo>
                    <a:pt x="1816" y="4"/>
                  </a:lnTo>
                  <a:lnTo>
                    <a:pt x="1304" y="4"/>
                  </a:lnTo>
                  <a:lnTo>
                    <a:pt x="1196" y="244"/>
                  </a:lnTo>
                  <a:lnTo>
                    <a:pt x="684" y="244"/>
                  </a:lnTo>
                  <a:lnTo>
                    <a:pt x="580" y="0"/>
                  </a:lnTo>
                  <a:lnTo>
                    <a:pt x="64" y="0"/>
                  </a:lnTo>
                  <a:lnTo>
                    <a:pt x="0" y="120"/>
                  </a:lnTo>
                  <a:lnTo>
                    <a:pt x="64" y="240"/>
                  </a:lnTo>
                  <a:lnTo>
                    <a:pt x="580" y="240"/>
                  </a:lnTo>
                  <a:lnTo>
                    <a:pt x="688" y="0"/>
                  </a:lnTo>
                  <a:lnTo>
                    <a:pt x="1200" y="0"/>
                  </a:lnTo>
                  <a:lnTo>
                    <a:pt x="1308" y="240"/>
                  </a:lnTo>
                  <a:lnTo>
                    <a:pt x="1816" y="240"/>
                  </a:lnTo>
                  <a:lnTo>
                    <a:pt x="1924" y="0"/>
                  </a:lnTo>
                  <a:lnTo>
                    <a:pt x="2440" y="0"/>
                  </a:lnTo>
                  <a:lnTo>
                    <a:pt x="2492" y="120"/>
                  </a:lnTo>
                  <a:lnTo>
                    <a:pt x="2440" y="244"/>
                  </a:lnTo>
                  <a:close/>
                </a:path>
              </a:pathLst>
            </a:custGeom>
            <a:noFill/>
            <a:ln cap="flat" cmpd="sng" w="2380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9" name="Google Shape;849;p58"/>
            <p:cNvSpPr txBox="1"/>
            <p:nvPr/>
          </p:nvSpPr>
          <p:spPr>
            <a:xfrm>
              <a:off x="5308600" y="4914913"/>
              <a:ext cx="3276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0" name="Google Shape;850;p58"/>
            <p:cNvSpPr txBox="1"/>
            <p:nvPr/>
          </p:nvSpPr>
          <p:spPr>
            <a:xfrm>
              <a:off x="7283450" y="4914913"/>
              <a:ext cx="3903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1" name="Google Shape;851;p58"/>
            <p:cNvSpPr txBox="1"/>
            <p:nvPr/>
          </p:nvSpPr>
          <p:spPr>
            <a:xfrm>
              <a:off x="6322987" y="4914913"/>
              <a:ext cx="3903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Hi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2" name="Google Shape;852;p58"/>
            <p:cNvSpPr txBox="1"/>
            <p:nvPr/>
          </p:nvSpPr>
          <p:spPr>
            <a:xfrm>
              <a:off x="8291490" y="4914913"/>
              <a:ext cx="3276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Hi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3" name="Google Shape;853;p58"/>
            <p:cNvSpPr txBox="1"/>
            <p:nvPr/>
          </p:nvSpPr>
          <p:spPr>
            <a:xfrm>
              <a:off x="4292746" y="4914913"/>
              <a:ext cx="5856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state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4" name="Google Shape;854;p58"/>
            <p:cNvSpPr txBox="1"/>
            <p:nvPr/>
          </p:nvSpPr>
          <p:spPr>
            <a:xfrm>
              <a:off x="4075437" y="5776912"/>
              <a:ext cx="8031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lang="en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Output: </a:t>
              </a: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55" name="Google Shape;855;p58"/>
          <p:cNvSpPr txBox="1"/>
          <p:nvPr/>
        </p:nvSpPr>
        <p:spPr>
          <a:xfrm>
            <a:off x="7534500" y="3078213"/>
            <a:ext cx="16095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i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d</a:t>
            </a:r>
            <a:r>
              <a:rPr i="1" lang="en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epict multi-bit or other info in a timing diagram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6" name="Google Shape;856;p5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57" name="Google Shape;857;p58"/>
          <p:cNvGrpSpPr/>
          <p:nvPr/>
        </p:nvGrpSpPr>
        <p:grpSpPr>
          <a:xfrm>
            <a:off x="5715179" y="914407"/>
            <a:ext cx="3303097" cy="1728835"/>
            <a:chOff x="5791200" y="152400"/>
            <a:chExt cx="2317800" cy="1606127"/>
          </a:xfrm>
        </p:grpSpPr>
        <p:sp>
          <p:nvSpPr>
            <p:cNvPr id="858" name="Google Shape;858;p58"/>
            <p:cNvSpPr/>
            <p:nvPr/>
          </p:nvSpPr>
          <p:spPr>
            <a:xfrm>
              <a:off x="7156450" y="766762"/>
              <a:ext cx="152400" cy="133350"/>
            </a:xfrm>
            <a:custGeom>
              <a:rect b="b" l="l" r="r" t="t"/>
              <a:pathLst>
                <a:path extrusionOk="0" h="84" w="96">
                  <a:moveTo>
                    <a:pt x="96" y="84"/>
                  </a:moveTo>
                  <a:lnTo>
                    <a:pt x="28" y="0"/>
                  </a:lnTo>
                  <a:lnTo>
                    <a:pt x="0" y="44"/>
                  </a:lnTo>
                  <a:lnTo>
                    <a:pt x="96" y="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9" name="Google Shape;859;p58"/>
            <p:cNvSpPr/>
            <p:nvPr/>
          </p:nvSpPr>
          <p:spPr>
            <a:xfrm>
              <a:off x="6616700" y="1306512"/>
              <a:ext cx="158750" cy="133350"/>
            </a:xfrm>
            <a:custGeom>
              <a:rect b="b" l="l" r="r" t="t"/>
              <a:pathLst>
                <a:path extrusionOk="0" h="84" w="100">
                  <a:moveTo>
                    <a:pt x="0" y="0"/>
                  </a:moveTo>
                  <a:lnTo>
                    <a:pt x="68" y="84"/>
                  </a:lnTo>
                  <a:lnTo>
                    <a:pt x="10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0" name="Google Shape;860;p58"/>
            <p:cNvSpPr txBox="1"/>
            <p:nvPr/>
          </p:nvSpPr>
          <p:spPr>
            <a:xfrm>
              <a:off x="5791200" y="152400"/>
              <a:ext cx="7128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1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Output</a:t>
              </a:r>
              <a:r>
                <a:rPr i="1" lang="en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 x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61" name="Google Shape;861;p58"/>
            <p:cNvSpPr/>
            <p:nvPr/>
          </p:nvSpPr>
          <p:spPr>
            <a:xfrm>
              <a:off x="7200900" y="811212"/>
              <a:ext cx="908100" cy="577800"/>
            </a:xfrm>
            <a:prstGeom prst="ellipse">
              <a:avLst/>
            </a:prstGeom>
            <a:noFill/>
            <a:ln cap="flat" cmpd="sng" w="174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2" name="Google Shape;862;p58"/>
            <p:cNvSpPr txBox="1"/>
            <p:nvPr/>
          </p:nvSpPr>
          <p:spPr>
            <a:xfrm>
              <a:off x="7558066" y="977900"/>
              <a:ext cx="3435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Hi</a:t>
              </a:r>
              <a:endParaRPr/>
            </a:p>
          </p:txBody>
        </p:sp>
        <p:sp>
          <p:nvSpPr>
            <p:cNvPr id="863" name="Google Shape;863;p58"/>
            <p:cNvSpPr/>
            <p:nvPr/>
          </p:nvSpPr>
          <p:spPr>
            <a:xfrm>
              <a:off x="5822950" y="811212"/>
              <a:ext cx="908100" cy="577800"/>
            </a:xfrm>
            <a:prstGeom prst="ellipse">
              <a:avLst/>
            </a:prstGeom>
            <a:noFill/>
            <a:ln cap="flat" cmpd="sng" w="174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4" name="Google Shape;864;p58"/>
            <p:cNvSpPr txBox="1"/>
            <p:nvPr/>
          </p:nvSpPr>
          <p:spPr>
            <a:xfrm>
              <a:off x="6164238" y="977900"/>
              <a:ext cx="4413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</a:t>
              </a:r>
              <a:endParaRPr/>
            </a:p>
          </p:txBody>
        </p:sp>
        <p:sp>
          <p:nvSpPr>
            <p:cNvPr id="865" name="Google Shape;865;p58"/>
            <p:cNvSpPr/>
            <p:nvPr/>
          </p:nvSpPr>
          <p:spPr>
            <a:xfrm>
              <a:off x="6623050" y="569912"/>
              <a:ext cx="596900" cy="342900"/>
            </a:xfrm>
            <a:custGeom>
              <a:rect b="b" l="l" r="r" t="t"/>
              <a:pathLst>
                <a:path extrusionOk="0" h="54" w="94">
                  <a:moveTo>
                    <a:pt x="0" y="54"/>
                  </a:moveTo>
                  <a:cubicBezTo>
                    <a:pt x="0" y="54"/>
                    <a:pt x="42" y="0"/>
                    <a:pt x="94" y="42"/>
                  </a:cubicBezTo>
                </a:path>
              </a:pathLst>
            </a:custGeom>
            <a:noFill/>
            <a:ln cap="flat" cmpd="sng" w="238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6" name="Google Shape;866;p58"/>
            <p:cNvSpPr/>
            <p:nvPr/>
          </p:nvSpPr>
          <p:spPr>
            <a:xfrm>
              <a:off x="6692900" y="1287462"/>
              <a:ext cx="609600" cy="290512"/>
            </a:xfrm>
            <a:custGeom>
              <a:rect b="b" l="l" r="r" t="t"/>
              <a:pathLst>
                <a:path extrusionOk="0" h="46" w="96">
                  <a:moveTo>
                    <a:pt x="0" y="12"/>
                  </a:moveTo>
                  <a:cubicBezTo>
                    <a:pt x="17" y="26"/>
                    <a:pt x="54" y="46"/>
                    <a:pt x="96" y="0"/>
                  </a:cubicBezTo>
                </a:path>
              </a:pathLst>
            </a:custGeom>
            <a:noFill/>
            <a:ln cap="flat" cmpd="sng" w="238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67" name="Google Shape;867;p58"/>
            <p:cNvCxnSpPr/>
            <p:nvPr/>
          </p:nvCxnSpPr>
          <p:spPr>
            <a:xfrm rot="10800000">
              <a:off x="5962500" y="1452574"/>
              <a:ext cx="57300" cy="277800"/>
            </a:xfrm>
            <a:prstGeom prst="straightConnector1">
              <a:avLst/>
            </a:prstGeom>
            <a:noFill/>
            <a:ln cap="flat" cmpd="sng" w="238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868" name="Google Shape;868;p58"/>
            <p:cNvSpPr/>
            <p:nvPr/>
          </p:nvSpPr>
          <p:spPr>
            <a:xfrm>
              <a:off x="5918200" y="1293812"/>
              <a:ext cx="101600" cy="207962"/>
            </a:xfrm>
            <a:custGeom>
              <a:rect b="b" l="l" r="r" t="t"/>
              <a:pathLst>
                <a:path extrusionOk="0" h="131" w="64">
                  <a:moveTo>
                    <a:pt x="8" y="0"/>
                  </a:moveTo>
                  <a:lnTo>
                    <a:pt x="0" y="131"/>
                  </a:lnTo>
                  <a:lnTo>
                    <a:pt x="64" y="11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9" name="Google Shape;869;p58"/>
            <p:cNvSpPr txBox="1"/>
            <p:nvPr/>
          </p:nvSpPr>
          <p:spPr>
            <a:xfrm>
              <a:off x="6111875" y="512767"/>
              <a:ext cx="3921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x=0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0" name="Google Shape;870;p58"/>
            <p:cNvSpPr txBox="1"/>
            <p:nvPr/>
          </p:nvSpPr>
          <p:spPr>
            <a:xfrm>
              <a:off x="7491393" y="512767"/>
              <a:ext cx="5190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x=1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1" name="Google Shape;871;p58"/>
            <p:cNvSpPr txBox="1"/>
            <p:nvPr/>
          </p:nvSpPr>
          <p:spPr>
            <a:xfrm>
              <a:off x="6840500" y="1514027"/>
              <a:ext cx="3144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clk^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2" name="Google Shape;872;p58"/>
            <p:cNvSpPr txBox="1"/>
            <p:nvPr/>
          </p:nvSpPr>
          <p:spPr>
            <a:xfrm>
              <a:off x="6811414" y="444523"/>
              <a:ext cx="3435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clk^</a:t>
              </a:r>
              <a:endParaRPr>
                <a:solidFill>
                  <a:schemeClr val="dk1"/>
                </a:solidFill>
              </a:endParaRPr>
            </a:p>
          </p:txBody>
        </p:sp>
      </p:grpSp>
      <p:cxnSp>
        <p:nvCxnSpPr>
          <p:cNvPr id="873" name="Google Shape;873;p58"/>
          <p:cNvCxnSpPr>
            <a:stCxn id="855" idx="1"/>
          </p:cNvCxnSpPr>
          <p:nvPr/>
        </p:nvCxnSpPr>
        <p:spPr>
          <a:xfrm flipH="1">
            <a:off x="7029600" y="3431763"/>
            <a:ext cx="504900" cy="24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9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FSM Example: Three Cycles High System</a:t>
            </a:r>
            <a:endParaRPr/>
          </a:p>
        </p:txBody>
      </p:sp>
      <p:sp>
        <p:nvSpPr>
          <p:cNvPr id="880" name="Google Shape;880;p59"/>
          <p:cNvSpPr txBox="1"/>
          <p:nvPr>
            <p:ph idx="1" type="body"/>
          </p:nvPr>
        </p:nvSpPr>
        <p:spPr>
          <a:xfrm>
            <a:off x="228600" y="1028700"/>
            <a:ext cx="48291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lang="en" sz="2400"/>
              <a:t>Repeat </a:t>
            </a:r>
            <a:r>
              <a:rPr i="0" lang="en" sz="2400" u="none"/>
              <a:t>0, 1, 1, 1...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en" sz="2000" u="none"/>
              <a:t>For one clock cycle each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</a:pPr>
            <a:r>
              <a:rPr i="0" lang="en" sz="2400" u="none"/>
              <a:t>FSM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en" sz="2000" u="none"/>
              <a:t>Four states: 0, first 1, second 1, third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i="0" lang="en" sz="2000" u="none"/>
              <a:t>Transition on rising clock edge to next state</a:t>
            </a:r>
            <a:endParaRPr/>
          </a:p>
        </p:txBody>
      </p:sp>
      <p:grpSp>
        <p:nvGrpSpPr>
          <p:cNvPr id="881" name="Google Shape;881;p59"/>
          <p:cNvGrpSpPr/>
          <p:nvPr/>
        </p:nvGrpSpPr>
        <p:grpSpPr>
          <a:xfrm>
            <a:off x="2417349" y="3467114"/>
            <a:ext cx="6267622" cy="1158478"/>
            <a:chOff x="4483037" y="3706812"/>
            <a:chExt cx="4362513" cy="1544637"/>
          </a:xfrm>
        </p:grpSpPr>
        <p:sp>
          <p:nvSpPr>
            <p:cNvPr id="882" name="Google Shape;882;p59"/>
            <p:cNvSpPr txBox="1"/>
            <p:nvPr/>
          </p:nvSpPr>
          <p:spPr>
            <a:xfrm>
              <a:off x="5392737" y="4284662"/>
              <a:ext cx="3427500" cy="301500"/>
            </a:xfrm>
            <a:prstGeom prst="rect">
              <a:avLst/>
            </a:prstGeom>
            <a:solidFill>
              <a:srgbClr val="C7D8F0"/>
            </a:solidFill>
            <a:ln cap="flat" cmpd="sng" w="174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3" name="Google Shape;883;p59"/>
            <p:cNvSpPr txBox="1"/>
            <p:nvPr/>
          </p:nvSpPr>
          <p:spPr>
            <a:xfrm>
              <a:off x="5449958" y="4327412"/>
              <a:ext cx="2730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i="0" lang="en" sz="15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</a:t>
              </a:r>
              <a:endParaRPr sz="13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4" name="Google Shape;884;p59"/>
            <p:cNvSpPr txBox="1"/>
            <p:nvPr/>
          </p:nvSpPr>
          <p:spPr>
            <a:xfrm>
              <a:off x="8490020" y="4327412"/>
              <a:ext cx="2730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i="0" lang="en" sz="15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</a:t>
              </a:r>
              <a:endParaRPr sz="13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5" name="Google Shape;885;p59"/>
            <p:cNvSpPr txBox="1"/>
            <p:nvPr/>
          </p:nvSpPr>
          <p:spPr>
            <a:xfrm>
              <a:off x="7308920" y="4327412"/>
              <a:ext cx="384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i="0" lang="en" sz="15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On1</a:t>
              </a:r>
              <a:endParaRPr sz="13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6" name="Google Shape;886;p59"/>
            <p:cNvSpPr txBox="1"/>
            <p:nvPr/>
          </p:nvSpPr>
          <p:spPr>
            <a:xfrm>
              <a:off x="5789683" y="4327412"/>
              <a:ext cx="384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i="0" lang="en" sz="15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On1</a:t>
              </a:r>
              <a:endParaRPr sz="13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7" name="Google Shape;887;p59"/>
            <p:cNvSpPr txBox="1"/>
            <p:nvPr/>
          </p:nvSpPr>
          <p:spPr>
            <a:xfrm>
              <a:off x="6162746" y="4327412"/>
              <a:ext cx="384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i="0" lang="en" sz="15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On2</a:t>
              </a:r>
              <a:endParaRPr sz="13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8" name="Google Shape;888;p59"/>
            <p:cNvSpPr txBox="1"/>
            <p:nvPr/>
          </p:nvSpPr>
          <p:spPr>
            <a:xfrm>
              <a:off x="7677220" y="4327412"/>
              <a:ext cx="384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i="0" lang="en" sz="15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On2</a:t>
              </a:r>
              <a:endParaRPr sz="13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89" name="Google Shape;889;p59"/>
            <p:cNvSpPr txBox="1"/>
            <p:nvPr/>
          </p:nvSpPr>
          <p:spPr>
            <a:xfrm>
              <a:off x="6534221" y="4327412"/>
              <a:ext cx="384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i="0" lang="en" sz="15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On3</a:t>
              </a:r>
              <a:endParaRPr sz="13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0" name="Google Shape;890;p59"/>
            <p:cNvSpPr txBox="1"/>
            <p:nvPr/>
          </p:nvSpPr>
          <p:spPr>
            <a:xfrm>
              <a:off x="8059807" y="4327412"/>
              <a:ext cx="3843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i="0" lang="en" sz="15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On3</a:t>
              </a:r>
              <a:endParaRPr sz="13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891" name="Google Shape;891;p59"/>
            <p:cNvSpPr txBox="1"/>
            <p:nvPr/>
          </p:nvSpPr>
          <p:spPr>
            <a:xfrm>
              <a:off x="6961257" y="4327412"/>
              <a:ext cx="273000" cy="2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i="0" lang="en" sz="15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</a:t>
              </a:r>
              <a:endParaRPr sz="13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cxnSp>
          <p:nvCxnSpPr>
            <p:cNvPr id="892" name="Google Shape;892;p59"/>
            <p:cNvCxnSpPr/>
            <p:nvPr/>
          </p:nvCxnSpPr>
          <p:spPr>
            <a:xfrm>
              <a:off x="6145212" y="4291012"/>
              <a:ext cx="0" cy="2889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93" name="Google Shape;893;p59"/>
            <p:cNvCxnSpPr/>
            <p:nvPr/>
          </p:nvCxnSpPr>
          <p:spPr>
            <a:xfrm>
              <a:off x="6523037" y="4291012"/>
              <a:ext cx="0" cy="2889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94" name="Google Shape;894;p59"/>
            <p:cNvCxnSpPr/>
            <p:nvPr/>
          </p:nvCxnSpPr>
          <p:spPr>
            <a:xfrm>
              <a:off x="6899275" y="4291012"/>
              <a:ext cx="0" cy="2889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95" name="Google Shape;895;p59"/>
            <p:cNvCxnSpPr/>
            <p:nvPr/>
          </p:nvCxnSpPr>
          <p:spPr>
            <a:xfrm>
              <a:off x="7281862" y="4291012"/>
              <a:ext cx="0" cy="2952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96" name="Google Shape;896;p59"/>
            <p:cNvCxnSpPr/>
            <p:nvPr/>
          </p:nvCxnSpPr>
          <p:spPr>
            <a:xfrm>
              <a:off x="7658100" y="4291012"/>
              <a:ext cx="0" cy="2952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97" name="Google Shape;897;p59"/>
            <p:cNvCxnSpPr/>
            <p:nvPr/>
          </p:nvCxnSpPr>
          <p:spPr>
            <a:xfrm>
              <a:off x="8042275" y="4278312"/>
              <a:ext cx="0" cy="3144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898" name="Google Shape;898;p59"/>
            <p:cNvCxnSpPr/>
            <p:nvPr/>
          </p:nvCxnSpPr>
          <p:spPr>
            <a:xfrm>
              <a:off x="8418512" y="4284662"/>
              <a:ext cx="0" cy="3015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899" name="Google Shape;899;p59"/>
            <p:cNvSpPr/>
            <p:nvPr/>
          </p:nvSpPr>
          <p:spPr>
            <a:xfrm>
              <a:off x="5435600" y="3706812"/>
              <a:ext cx="3378200" cy="395287"/>
            </a:xfrm>
            <a:custGeom>
              <a:rect b="b" l="l" r="r" t="t"/>
              <a:pathLst>
                <a:path extrusionOk="0" h="249" w="2128">
                  <a:moveTo>
                    <a:pt x="2128" y="249"/>
                  </a:moveTo>
                  <a:lnTo>
                    <a:pt x="1934" y="249"/>
                  </a:lnTo>
                  <a:lnTo>
                    <a:pt x="1934" y="0"/>
                  </a:lnTo>
                  <a:lnTo>
                    <a:pt x="1875" y="0"/>
                  </a:lnTo>
                  <a:lnTo>
                    <a:pt x="1875" y="249"/>
                  </a:lnTo>
                  <a:lnTo>
                    <a:pt x="1697" y="249"/>
                  </a:lnTo>
                  <a:lnTo>
                    <a:pt x="1697" y="0"/>
                  </a:lnTo>
                  <a:lnTo>
                    <a:pt x="1642" y="0"/>
                  </a:lnTo>
                  <a:lnTo>
                    <a:pt x="1642" y="249"/>
                  </a:lnTo>
                  <a:lnTo>
                    <a:pt x="1456" y="249"/>
                  </a:lnTo>
                  <a:lnTo>
                    <a:pt x="1456" y="0"/>
                  </a:lnTo>
                  <a:lnTo>
                    <a:pt x="1400" y="0"/>
                  </a:lnTo>
                  <a:lnTo>
                    <a:pt x="1400" y="249"/>
                  </a:lnTo>
                  <a:lnTo>
                    <a:pt x="1222" y="249"/>
                  </a:lnTo>
                  <a:lnTo>
                    <a:pt x="1222" y="0"/>
                  </a:lnTo>
                  <a:lnTo>
                    <a:pt x="1163" y="0"/>
                  </a:lnTo>
                  <a:lnTo>
                    <a:pt x="1163" y="249"/>
                  </a:lnTo>
                  <a:lnTo>
                    <a:pt x="981" y="249"/>
                  </a:lnTo>
                  <a:lnTo>
                    <a:pt x="981" y="0"/>
                  </a:lnTo>
                  <a:lnTo>
                    <a:pt x="926" y="0"/>
                  </a:lnTo>
                  <a:lnTo>
                    <a:pt x="926" y="249"/>
                  </a:lnTo>
                  <a:lnTo>
                    <a:pt x="740" y="249"/>
                  </a:lnTo>
                  <a:lnTo>
                    <a:pt x="740" y="0"/>
                  </a:lnTo>
                  <a:lnTo>
                    <a:pt x="685" y="0"/>
                  </a:lnTo>
                  <a:lnTo>
                    <a:pt x="685" y="249"/>
                  </a:lnTo>
                  <a:lnTo>
                    <a:pt x="503" y="249"/>
                  </a:lnTo>
                  <a:lnTo>
                    <a:pt x="503" y="0"/>
                  </a:lnTo>
                  <a:lnTo>
                    <a:pt x="447" y="0"/>
                  </a:lnTo>
                  <a:lnTo>
                    <a:pt x="447" y="249"/>
                  </a:lnTo>
                  <a:lnTo>
                    <a:pt x="261" y="249"/>
                  </a:lnTo>
                  <a:lnTo>
                    <a:pt x="261" y="0"/>
                  </a:lnTo>
                  <a:lnTo>
                    <a:pt x="206" y="0"/>
                  </a:lnTo>
                  <a:lnTo>
                    <a:pt x="206" y="249"/>
                  </a:lnTo>
                  <a:lnTo>
                    <a:pt x="0" y="249"/>
                  </a:lnTo>
                </a:path>
              </a:pathLst>
            </a:custGeom>
            <a:noFill/>
            <a:ln cap="flat" cmpd="sng" w="238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00" name="Google Shape;900;p59"/>
            <p:cNvSpPr/>
            <p:nvPr/>
          </p:nvSpPr>
          <p:spPr>
            <a:xfrm>
              <a:off x="5397500" y="4868862"/>
              <a:ext cx="3448050" cy="382587"/>
            </a:xfrm>
            <a:custGeom>
              <a:rect b="b" l="l" r="r" t="t"/>
              <a:pathLst>
                <a:path extrusionOk="0" h="241" w="2172">
                  <a:moveTo>
                    <a:pt x="2172" y="238"/>
                  </a:moveTo>
                  <a:lnTo>
                    <a:pt x="1907" y="238"/>
                  </a:lnTo>
                  <a:lnTo>
                    <a:pt x="1907" y="0"/>
                  </a:lnTo>
                  <a:lnTo>
                    <a:pt x="1187" y="0"/>
                  </a:lnTo>
                  <a:lnTo>
                    <a:pt x="1187" y="241"/>
                  </a:lnTo>
                  <a:lnTo>
                    <a:pt x="950" y="241"/>
                  </a:lnTo>
                  <a:lnTo>
                    <a:pt x="950" y="0"/>
                  </a:lnTo>
                  <a:lnTo>
                    <a:pt x="230" y="0"/>
                  </a:lnTo>
                  <a:lnTo>
                    <a:pt x="230" y="241"/>
                  </a:lnTo>
                  <a:lnTo>
                    <a:pt x="0" y="241"/>
                  </a:lnTo>
                </a:path>
              </a:pathLst>
            </a:custGeom>
            <a:noFill/>
            <a:ln cap="flat" cmpd="sng" w="238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01" name="Google Shape;901;p59"/>
            <p:cNvCxnSpPr/>
            <p:nvPr/>
          </p:nvCxnSpPr>
          <p:spPr>
            <a:xfrm>
              <a:off x="5762625" y="4291012"/>
              <a:ext cx="0" cy="2889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02" name="Google Shape;902;p59"/>
            <p:cNvSpPr txBox="1"/>
            <p:nvPr/>
          </p:nvSpPr>
          <p:spPr>
            <a:xfrm>
              <a:off x="5000627" y="3825212"/>
              <a:ext cx="3333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clk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03" name="Google Shape;903;p59"/>
            <p:cNvSpPr txBox="1"/>
            <p:nvPr/>
          </p:nvSpPr>
          <p:spPr>
            <a:xfrm>
              <a:off x="4846737" y="4330712"/>
              <a:ext cx="4872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1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State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04" name="Google Shape;904;p59"/>
            <p:cNvSpPr txBox="1"/>
            <p:nvPr/>
          </p:nvSpPr>
          <p:spPr>
            <a:xfrm>
              <a:off x="4483037" y="4868845"/>
              <a:ext cx="8097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1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Output</a:t>
              </a:r>
              <a:r>
                <a:rPr i="1" lang="en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05" name="Google Shape;905;p59"/>
          <p:cNvSpPr/>
          <p:nvPr/>
        </p:nvSpPr>
        <p:spPr>
          <a:xfrm>
            <a:off x="5335100" y="879049"/>
            <a:ext cx="925200" cy="539700"/>
          </a:xfrm>
          <a:prstGeom prst="ellipse">
            <a:avLst/>
          </a:prstGeom>
          <a:noFill/>
          <a:ln cap="flat" cmpd="sng" w="174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x=0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6" name="Google Shape;906;p59"/>
          <p:cNvSpPr/>
          <p:nvPr/>
        </p:nvSpPr>
        <p:spPr>
          <a:xfrm>
            <a:off x="7291100" y="925725"/>
            <a:ext cx="925200" cy="539700"/>
          </a:xfrm>
          <a:prstGeom prst="ellipse">
            <a:avLst/>
          </a:prstGeom>
          <a:noFill/>
          <a:ln cap="flat" cmpd="sng" w="174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On1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x=1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7" name="Google Shape;907;p59"/>
          <p:cNvSpPr/>
          <p:nvPr/>
        </p:nvSpPr>
        <p:spPr>
          <a:xfrm>
            <a:off x="7299925" y="1946573"/>
            <a:ext cx="925200" cy="539700"/>
          </a:xfrm>
          <a:prstGeom prst="ellipse">
            <a:avLst/>
          </a:prstGeom>
          <a:noFill/>
          <a:ln cap="flat" cmpd="sng" w="174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On2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x=1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8" name="Google Shape;908;p59"/>
          <p:cNvSpPr/>
          <p:nvPr/>
        </p:nvSpPr>
        <p:spPr>
          <a:xfrm>
            <a:off x="5368175" y="1984923"/>
            <a:ext cx="925200" cy="539700"/>
          </a:xfrm>
          <a:prstGeom prst="ellipse">
            <a:avLst/>
          </a:prstGeom>
          <a:noFill/>
          <a:ln cap="flat" cmpd="sng" w="174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On3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x=1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9" name="Google Shape;909;p5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10" name="Google Shape;910;p59"/>
          <p:cNvCxnSpPr>
            <a:stCxn id="905" idx="7"/>
            <a:endCxn id="906" idx="1"/>
          </p:cNvCxnSpPr>
          <p:nvPr/>
        </p:nvCxnSpPr>
        <p:spPr>
          <a:xfrm flipH="1" rot="-5400000">
            <a:off x="6752258" y="330636"/>
            <a:ext cx="46800" cy="1301700"/>
          </a:xfrm>
          <a:prstGeom prst="curvedConnector3">
            <a:avLst>
              <a:gd fmla="val -25643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1" name="Google Shape;911;p59"/>
          <p:cNvCxnSpPr>
            <a:stCxn id="906" idx="6"/>
            <a:endCxn id="907" idx="6"/>
          </p:cNvCxnSpPr>
          <p:nvPr/>
        </p:nvCxnSpPr>
        <p:spPr>
          <a:xfrm>
            <a:off x="8216300" y="1195575"/>
            <a:ext cx="8700" cy="1020900"/>
          </a:xfrm>
          <a:prstGeom prst="curvedConnector3">
            <a:avLst>
              <a:gd fmla="val 28385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2" name="Google Shape;912;p59"/>
          <p:cNvCxnSpPr>
            <a:stCxn id="907" idx="3"/>
            <a:endCxn id="908" idx="5"/>
          </p:cNvCxnSpPr>
          <p:nvPr/>
        </p:nvCxnSpPr>
        <p:spPr>
          <a:xfrm rot="5400000">
            <a:off x="6777517" y="1787736"/>
            <a:ext cx="38400" cy="1277400"/>
          </a:xfrm>
          <a:prstGeom prst="curvedConnector3">
            <a:avLst>
              <a:gd fmla="val 42126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13" name="Google Shape;913;p59"/>
          <p:cNvCxnSpPr>
            <a:stCxn id="908" idx="2"/>
            <a:endCxn id="905" idx="2"/>
          </p:cNvCxnSpPr>
          <p:nvPr/>
        </p:nvCxnSpPr>
        <p:spPr>
          <a:xfrm rot="10800000">
            <a:off x="5335175" y="1148973"/>
            <a:ext cx="33000" cy="1105800"/>
          </a:xfrm>
          <a:prstGeom prst="curvedConnector3">
            <a:avLst>
              <a:gd fmla="val 4262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0"/>
          <p:cNvSpPr txBox="1"/>
          <p:nvPr>
            <p:ph type="title"/>
          </p:nvPr>
        </p:nvSpPr>
        <p:spPr>
          <a:xfrm>
            <a:off x="228600" y="228600"/>
            <a:ext cx="74967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FSM Simplification: Rising Clock Edges Implicit</a:t>
            </a:r>
            <a:endParaRPr/>
          </a:p>
        </p:txBody>
      </p:sp>
      <p:sp>
        <p:nvSpPr>
          <p:cNvPr id="920" name="Google Shape;920;p60"/>
          <p:cNvSpPr txBox="1"/>
          <p:nvPr>
            <p:ph idx="1" type="body"/>
          </p:nvPr>
        </p:nvSpPr>
        <p:spPr>
          <a:xfrm>
            <a:off x="228600" y="1287250"/>
            <a:ext cx="84882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lang="en" sz="2200"/>
              <a:t>In this course, assume every transition is on the clock edge.</a:t>
            </a:r>
            <a:endParaRPr sz="2200"/>
          </a:p>
          <a:p>
            <a:pPr indent="-3302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200"/>
              <a:buChar char="•"/>
            </a:pPr>
            <a:r>
              <a:rPr i="0" lang="en" sz="2200" u="none"/>
              <a:t>What if we wanted a transition </a:t>
            </a:r>
            <a:r>
              <a:rPr i="1" lang="en" sz="2200" u="none"/>
              <a:t>without</a:t>
            </a:r>
            <a:r>
              <a:rPr i="0" lang="en" sz="2200" u="none"/>
              <a:t> a rising edge?</a:t>
            </a:r>
            <a:endParaRPr sz="2200"/>
          </a:p>
          <a:p>
            <a:pPr indent="-3111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</a:pPr>
            <a:r>
              <a:rPr lang="en" sz="2200"/>
              <a:t>S</a:t>
            </a:r>
            <a:r>
              <a:rPr i="0" lang="en" sz="2200" u="none"/>
              <a:t>uch asynchronous FSMs </a:t>
            </a:r>
            <a:r>
              <a:rPr lang="en" sz="2200"/>
              <a:t>are</a:t>
            </a:r>
            <a:r>
              <a:rPr i="0" lang="en" sz="2200" u="none"/>
              <a:t> less common, </a:t>
            </a:r>
            <a:r>
              <a:rPr lang="en" sz="2200"/>
              <a:t>but are a more </a:t>
            </a:r>
            <a:r>
              <a:rPr i="0" lang="en" sz="2200" u="none"/>
              <a:t>advanced topic</a:t>
            </a:r>
            <a:endParaRPr sz="2200"/>
          </a:p>
          <a:p>
            <a:pPr indent="-3683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Arial"/>
              <a:buChar char="•"/>
            </a:pPr>
            <a:r>
              <a:rPr lang="en" sz="2200"/>
              <a:t>In this course, o</a:t>
            </a:r>
            <a:r>
              <a:rPr i="0" lang="en" sz="2200" u="none"/>
              <a:t>nly consider </a:t>
            </a:r>
            <a:r>
              <a:rPr b="1" i="1" lang="en" sz="2200" u="sng">
                <a:solidFill>
                  <a:schemeClr val="accent1"/>
                </a:solidFill>
              </a:rPr>
              <a:t>synchronous</a:t>
            </a:r>
            <a:r>
              <a:rPr lang="en" sz="2200">
                <a:solidFill>
                  <a:schemeClr val="accent1"/>
                </a:solidFill>
              </a:rPr>
              <a:t> </a:t>
            </a:r>
            <a:r>
              <a:rPr i="0" lang="en" sz="2200" u="none"/>
              <a:t>FSMs</a:t>
            </a:r>
            <a:r>
              <a:rPr lang="en" sz="2200"/>
              <a:t>.</a:t>
            </a:r>
            <a:endParaRPr i="0" sz="2200" u="none"/>
          </a:p>
        </p:txBody>
      </p:sp>
      <p:sp>
        <p:nvSpPr>
          <p:cNvPr id="921" name="Google Shape;921;p60"/>
          <p:cNvSpPr txBox="1"/>
          <p:nvPr/>
        </p:nvSpPr>
        <p:spPr>
          <a:xfrm>
            <a:off x="5013875" y="4557400"/>
            <a:ext cx="38016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1" lang="en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i="1" lang="en">
                <a:solidFill>
                  <a:schemeClr val="dk1"/>
                </a:solidFill>
              </a:rPr>
              <a:t>These are now unconditional transitions</a:t>
            </a:r>
            <a:endParaRPr/>
          </a:p>
        </p:txBody>
      </p:sp>
      <p:sp>
        <p:nvSpPr>
          <p:cNvPr id="922" name="Google Shape;922;p6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23" name="Google Shape;923;p60"/>
          <p:cNvGrpSpPr/>
          <p:nvPr/>
        </p:nvGrpSpPr>
        <p:grpSpPr>
          <a:xfrm>
            <a:off x="578826" y="3438649"/>
            <a:ext cx="3257850" cy="1414394"/>
            <a:chOff x="5822950" y="444523"/>
            <a:chExt cx="2286050" cy="1314004"/>
          </a:xfrm>
        </p:grpSpPr>
        <p:sp>
          <p:nvSpPr>
            <p:cNvPr id="924" name="Google Shape;924;p60"/>
            <p:cNvSpPr/>
            <p:nvPr/>
          </p:nvSpPr>
          <p:spPr>
            <a:xfrm>
              <a:off x="7156450" y="766762"/>
              <a:ext cx="152400" cy="133350"/>
            </a:xfrm>
            <a:custGeom>
              <a:rect b="b" l="l" r="r" t="t"/>
              <a:pathLst>
                <a:path extrusionOk="0" h="84" w="96">
                  <a:moveTo>
                    <a:pt x="96" y="84"/>
                  </a:moveTo>
                  <a:lnTo>
                    <a:pt x="28" y="0"/>
                  </a:lnTo>
                  <a:lnTo>
                    <a:pt x="0" y="44"/>
                  </a:lnTo>
                  <a:lnTo>
                    <a:pt x="96" y="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5" name="Google Shape;925;p60"/>
            <p:cNvSpPr/>
            <p:nvPr/>
          </p:nvSpPr>
          <p:spPr>
            <a:xfrm>
              <a:off x="6616700" y="1306512"/>
              <a:ext cx="158750" cy="133350"/>
            </a:xfrm>
            <a:custGeom>
              <a:rect b="b" l="l" r="r" t="t"/>
              <a:pathLst>
                <a:path extrusionOk="0" h="84" w="100">
                  <a:moveTo>
                    <a:pt x="0" y="0"/>
                  </a:moveTo>
                  <a:lnTo>
                    <a:pt x="68" y="84"/>
                  </a:lnTo>
                  <a:lnTo>
                    <a:pt x="10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6" name="Google Shape;926;p60"/>
            <p:cNvSpPr/>
            <p:nvPr/>
          </p:nvSpPr>
          <p:spPr>
            <a:xfrm>
              <a:off x="7200900" y="811212"/>
              <a:ext cx="908100" cy="577800"/>
            </a:xfrm>
            <a:prstGeom prst="ellipse">
              <a:avLst/>
            </a:prstGeom>
            <a:noFill/>
            <a:ln cap="flat" cmpd="sng" w="174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7" name="Google Shape;927;p60"/>
            <p:cNvSpPr txBox="1"/>
            <p:nvPr/>
          </p:nvSpPr>
          <p:spPr>
            <a:xfrm>
              <a:off x="7558066" y="977900"/>
              <a:ext cx="3435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Hi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28" name="Google Shape;928;p60"/>
            <p:cNvSpPr/>
            <p:nvPr/>
          </p:nvSpPr>
          <p:spPr>
            <a:xfrm>
              <a:off x="5822950" y="811212"/>
              <a:ext cx="908100" cy="577800"/>
            </a:xfrm>
            <a:prstGeom prst="ellipse">
              <a:avLst/>
            </a:prstGeom>
            <a:noFill/>
            <a:ln cap="flat" cmpd="sng" w="174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29" name="Google Shape;929;p60"/>
            <p:cNvSpPr txBox="1"/>
            <p:nvPr/>
          </p:nvSpPr>
          <p:spPr>
            <a:xfrm>
              <a:off x="6164238" y="977900"/>
              <a:ext cx="4413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0" name="Google Shape;930;p60"/>
            <p:cNvSpPr/>
            <p:nvPr/>
          </p:nvSpPr>
          <p:spPr>
            <a:xfrm>
              <a:off x="6623050" y="569912"/>
              <a:ext cx="596900" cy="342900"/>
            </a:xfrm>
            <a:custGeom>
              <a:rect b="b" l="l" r="r" t="t"/>
              <a:pathLst>
                <a:path extrusionOk="0" h="54" w="94">
                  <a:moveTo>
                    <a:pt x="0" y="54"/>
                  </a:moveTo>
                  <a:cubicBezTo>
                    <a:pt x="0" y="54"/>
                    <a:pt x="42" y="0"/>
                    <a:pt x="94" y="42"/>
                  </a:cubicBezTo>
                </a:path>
              </a:pathLst>
            </a:custGeom>
            <a:noFill/>
            <a:ln cap="flat" cmpd="sng" w="238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1" name="Google Shape;931;p60"/>
            <p:cNvSpPr/>
            <p:nvPr/>
          </p:nvSpPr>
          <p:spPr>
            <a:xfrm>
              <a:off x="6692900" y="1287462"/>
              <a:ext cx="609600" cy="290512"/>
            </a:xfrm>
            <a:custGeom>
              <a:rect b="b" l="l" r="r" t="t"/>
              <a:pathLst>
                <a:path extrusionOk="0" h="46" w="96">
                  <a:moveTo>
                    <a:pt x="0" y="12"/>
                  </a:moveTo>
                  <a:cubicBezTo>
                    <a:pt x="17" y="26"/>
                    <a:pt x="54" y="46"/>
                    <a:pt x="96" y="0"/>
                  </a:cubicBezTo>
                </a:path>
              </a:pathLst>
            </a:custGeom>
            <a:noFill/>
            <a:ln cap="flat" cmpd="sng" w="238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2" name="Google Shape;932;p60"/>
            <p:cNvSpPr txBox="1"/>
            <p:nvPr/>
          </p:nvSpPr>
          <p:spPr>
            <a:xfrm>
              <a:off x="6111875" y="512767"/>
              <a:ext cx="3921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x=0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3" name="Google Shape;933;p60"/>
            <p:cNvSpPr txBox="1"/>
            <p:nvPr/>
          </p:nvSpPr>
          <p:spPr>
            <a:xfrm>
              <a:off x="7491393" y="512767"/>
              <a:ext cx="5190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x=1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4" name="Google Shape;934;p60"/>
            <p:cNvSpPr txBox="1"/>
            <p:nvPr/>
          </p:nvSpPr>
          <p:spPr>
            <a:xfrm>
              <a:off x="6840500" y="1514027"/>
              <a:ext cx="3144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clk^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5" name="Google Shape;935;p60"/>
            <p:cNvSpPr txBox="1"/>
            <p:nvPr/>
          </p:nvSpPr>
          <p:spPr>
            <a:xfrm>
              <a:off x="6811414" y="444523"/>
              <a:ext cx="3435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clk^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36" name="Google Shape;936;p60"/>
          <p:cNvGrpSpPr/>
          <p:nvPr/>
        </p:nvGrpSpPr>
        <p:grpSpPr>
          <a:xfrm>
            <a:off x="4693626" y="3512106"/>
            <a:ext cx="3257850" cy="1146589"/>
            <a:chOff x="5822950" y="512767"/>
            <a:chExt cx="2286050" cy="1065207"/>
          </a:xfrm>
        </p:grpSpPr>
        <p:sp>
          <p:nvSpPr>
            <p:cNvPr id="937" name="Google Shape;937;p60"/>
            <p:cNvSpPr/>
            <p:nvPr/>
          </p:nvSpPr>
          <p:spPr>
            <a:xfrm>
              <a:off x="7156450" y="766762"/>
              <a:ext cx="152400" cy="133350"/>
            </a:xfrm>
            <a:custGeom>
              <a:rect b="b" l="l" r="r" t="t"/>
              <a:pathLst>
                <a:path extrusionOk="0" h="84" w="96">
                  <a:moveTo>
                    <a:pt x="96" y="84"/>
                  </a:moveTo>
                  <a:lnTo>
                    <a:pt x="28" y="0"/>
                  </a:lnTo>
                  <a:lnTo>
                    <a:pt x="0" y="44"/>
                  </a:lnTo>
                  <a:lnTo>
                    <a:pt x="96" y="8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8" name="Google Shape;938;p60"/>
            <p:cNvSpPr/>
            <p:nvPr/>
          </p:nvSpPr>
          <p:spPr>
            <a:xfrm>
              <a:off x="6616700" y="1306512"/>
              <a:ext cx="158750" cy="133350"/>
            </a:xfrm>
            <a:custGeom>
              <a:rect b="b" l="l" r="r" t="t"/>
              <a:pathLst>
                <a:path extrusionOk="0" h="84" w="100">
                  <a:moveTo>
                    <a:pt x="0" y="0"/>
                  </a:moveTo>
                  <a:lnTo>
                    <a:pt x="68" y="84"/>
                  </a:lnTo>
                  <a:lnTo>
                    <a:pt x="100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9" name="Google Shape;939;p60"/>
            <p:cNvSpPr/>
            <p:nvPr/>
          </p:nvSpPr>
          <p:spPr>
            <a:xfrm>
              <a:off x="7200900" y="811212"/>
              <a:ext cx="908100" cy="577800"/>
            </a:xfrm>
            <a:prstGeom prst="ellipse">
              <a:avLst/>
            </a:prstGeom>
            <a:noFill/>
            <a:ln cap="flat" cmpd="sng" w="174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0" name="Google Shape;940;p60"/>
            <p:cNvSpPr txBox="1"/>
            <p:nvPr/>
          </p:nvSpPr>
          <p:spPr>
            <a:xfrm>
              <a:off x="7558066" y="977900"/>
              <a:ext cx="3435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Hi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1" name="Google Shape;941;p60"/>
            <p:cNvSpPr/>
            <p:nvPr/>
          </p:nvSpPr>
          <p:spPr>
            <a:xfrm>
              <a:off x="5822950" y="811212"/>
              <a:ext cx="908100" cy="577800"/>
            </a:xfrm>
            <a:prstGeom prst="ellipse">
              <a:avLst/>
            </a:prstGeom>
            <a:noFill/>
            <a:ln cap="flat" cmpd="sng" w="174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2" name="Google Shape;942;p60"/>
            <p:cNvSpPr txBox="1"/>
            <p:nvPr/>
          </p:nvSpPr>
          <p:spPr>
            <a:xfrm>
              <a:off x="6164238" y="977900"/>
              <a:ext cx="4413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Lo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6623050" y="569912"/>
              <a:ext cx="596900" cy="342900"/>
            </a:xfrm>
            <a:custGeom>
              <a:rect b="b" l="l" r="r" t="t"/>
              <a:pathLst>
                <a:path extrusionOk="0" h="54" w="94">
                  <a:moveTo>
                    <a:pt x="0" y="54"/>
                  </a:moveTo>
                  <a:cubicBezTo>
                    <a:pt x="0" y="54"/>
                    <a:pt x="42" y="0"/>
                    <a:pt x="94" y="42"/>
                  </a:cubicBezTo>
                </a:path>
              </a:pathLst>
            </a:custGeom>
            <a:noFill/>
            <a:ln cap="flat" cmpd="sng" w="238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6692900" y="1287462"/>
              <a:ext cx="609600" cy="290512"/>
            </a:xfrm>
            <a:custGeom>
              <a:rect b="b" l="l" r="r" t="t"/>
              <a:pathLst>
                <a:path extrusionOk="0" h="46" w="96">
                  <a:moveTo>
                    <a:pt x="0" y="12"/>
                  </a:moveTo>
                  <a:cubicBezTo>
                    <a:pt x="17" y="26"/>
                    <a:pt x="54" y="46"/>
                    <a:pt x="96" y="0"/>
                  </a:cubicBezTo>
                </a:path>
              </a:pathLst>
            </a:custGeom>
            <a:noFill/>
            <a:ln cap="flat" cmpd="sng" w="238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5" name="Google Shape;945;p60"/>
            <p:cNvSpPr txBox="1"/>
            <p:nvPr/>
          </p:nvSpPr>
          <p:spPr>
            <a:xfrm>
              <a:off x="6111875" y="512767"/>
              <a:ext cx="3921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x=0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6" name="Google Shape;946;p60"/>
            <p:cNvSpPr txBox="1"/>
            <p:nvPr/>
          </p:nvSpPr>
          <p:spPr>
            <a:xfrm>
              <a:off x="7491393" y="512767"/>
              <a:ext cx="519000" cy="2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Helvetica Neue"/>
                <a:buNone/>
              </a:pPr>
              <a:r>
                <a:rPr b="0" i="0" lang="en" sz="16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x=1</a:t>
              </a:r>
              <a:endParaRPr>
                <a:solidFill>
                  <a:schemeClr val="dk1"/>
                </a:solidFill>
              </a:endParaRPr>
            </a:p>
          </p:txBody>
        </p:sp>
      </p:grpSp>
      <p:cxnSp>
        <p:nvCxnSpPr>
          <p:cNvPr id="947" name="Google Shape;947;p60"/>
          <p:cNvCxnSpPr/>
          <p:nvPr/>
        </p:nvCxnSpPr>
        <p:spPr>
          <a:xfrm>
            <a:off x="3945725" y="3708350"/>
            <a:ext cx="602700" cy="111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" name="Google Shape;948;p60"/>
          <p:cNvCxnSpPr>
            <a:stCxn id="935" idx="1"/>
            <a:endCxn id="935" idx="3"/>
          </p:cNvCxnSpPr>
          <p:nvPr/>
        </p:nvCxnSpPr>
        <p:spPr>
          <a:xfrm>
            <a:off x="1987486" y="3570238"/>
            <a:ext cx="489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60"/>
          <p:cNvCxnSpPr>
            <a:stCxn id="934" idx="1"/>
            <a:endCxn id="934" idx="3"/>
          </p:cNvCxnSpPr>
          <p:nvPr/>
        </p:nvCxnSpPr>
        <p:spPr>
          <a:xfrm>
            <a:off x="2028937" y="4721452"/>
            <a:ext cx="448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61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Three-Cycles High System with Button Input</a:t>
            </a:r>
            <a:endParaRPr/>
          </a:p>
        </p:txBody>
      </p:sp>
      <p:sp>
        <p:nvSpPr>
          <p:cNvPr id="956" name="Google Shape;956;p61"/>
          <p:cNvSpPr txBox="1"/>
          <p:nvPr>
            <p:ph idx="1" type="body"/>
          </p:nvPr>
        </p:nvSpPr>
        <p:spPr>
          <a:xfrm>
            <a:off x="228600" y="914400"/>
            <a:ext cx="452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Same 4 </a:t>
            </a:r>
            <a:r>
              <a:rPr b="0" i="0" lang="en" sz="2400" u="none">
                <a:latin typeface="Arial"/>
                <a:ea typeface="Arial"/>
                <a:cs typeface="Arial"/>
                <a:sym typeface="Arial"/>
              </a:rPr>
              <a:t>states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" sz="2400" u="none">
                <a:latin typeface="Arial"/>
                <a:ea typeface="Arial"/>
                <a:cs typeface="Arial"/>
                <a:sym typeface="Arial"/>
              </a:rPr>
              <a:t>Wait in “Off” while b is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" sz="2400" u="none">
                <a:latin typeface="Arial"/>
                <a:ea typeface="Arial"/>
                <a:cs typeface="Arial"/>
                <a:sym typeface="Arial"/>
              </a:rPr>
              <a:t>When b is 1,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go </a:t>
            </a:r>
            <a:r>
              <a:rPr b="0" i="0" lang="en" sz="2400" u="none">
                <a:latin typeface="Arial"/>
                <a:ea typeface="Arial"/>
                <a:cs typeface="Arial"/>
                <a:sym typeface="Arial"/>
              </a:rPr>
              <a:t>to On1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</a:pPr>
            <a:r>
              <a:rPr b="0" i="0" lang="en" sz="2000" u="none">
                <a:latin typeface="Arial"/>
                <a:ea typeface="Arial"/>
                <a:cs typeface="Arial"/>
                <a:sym typeface="Arial"/>
              </a:rPr>
              <a:t>Sets x=1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Then go</a:t>
            </a:r>
            <a:r>
              <a:rPr b="0" i="0" lang="en" sz="2000" u="none">
                <a:latin typeface="Arial"/>
                <a:ea typeface="Arial"/>
                <a:cs typeface="Arial"/>
                <a:sym typeface="Arial"/>
              </a:rPr>
              <a:t> to On2, On3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, Off again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</a:pPr>
            <a:r>
              <a:rPr b="0" i="0" lang="en" sz="2400" u="none">
                <a:latin typeface="Arial"/>
                <a:ea typeface="Arial"/>
                <a:cs typeface="Arial"/>
                <a:sym typeface="Arial"/>
              </a:rPr>
              <a:t>x=1 for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" sz="2400" u="none">
                <a:latin typeface="Arial"/>
                <a:ea typeface="Arial"/>
                <a:cs typeface="Arial"/>
                <a:sym typeface="Arial"/>
              </a:rPr>
              <a:t> cycles</a:t>
            </a:r>
            <a:endParaRPr b="0" i="0" sz="2400" u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61"/>
          <p:cNvSpPr/>
          <p:nvPr/>
        </p:nvSpPr>
        <p:spPr>
          <a:xfrm>
            <a:off x="2568250" y="2852300"/>
            <a:ext cx="6118500" cy="19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58" name="Google Shape;958;p61"/>
          <p:cNvGrpSpPr/>
          <p:nvPr/>
        </p:nvGrpSpPr>
        <p:grpSpPr>
          <a:xfrm>
            <a:off x="3440623" y="3086569"/>
            <a:ext cx="5239303" cy="1696228"/>
            <a:chOff x="5253623" y="3829050"/>
            <a:chExt cx="3428414" cy="2344800"/>
          </a:xfrm>
        </p:grpSpPr>
        <p:sp>
          <p:nvSpPr>
            <p:cNvPr id="959" name="Google Shape;959;p61"/>
            <p:cNvSpPr txBox="1"/>
            <p:nvPr/>
          </p:nvSpPr>
          <p:spPr>
            <a:xfrm>
              <a:off x="5584825" y="5173662"/>
              <a:ext cx="3084600" cy="271500"/>
            </a:xfrm>
            <a:prstGeom prst="rect">
              <a:avLst/>
            </a:prstGeom>
            <a:solidFill>
              <a:srgbClr val="C7D8F0"/>
            </a:solidFill>
            <a:ln cap="flat" cmpd="sng" w="15875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0" name="Google Shape;960;p61"/>
            <p:cNvSpPr txBox="1"/>
            <p:nvPr/>
          </p:nvSpPr>
          <p:spPr>
            <a:xfrm>
              <a:off x="5634037" y="5207000"/>
              <a:ext cx="2364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</a:t>
              </a:r>
              <a:endParaRPr/>
            </a:p>
          </p:txBody>
        </p:sp>
        <p:sp>
          <p:nvSpPr>
            <p:cNvPr id="961" name="Google Shape;961;p61"/>
            <p:cNvSpPr txBox="1"/>
            <p:nvPr/>
          </p:nvSpPr>
          <p:spPr>
            <a:xfrm>
              <a:off x="8369300" y="5207000"/>
              <a:ext cx="2364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</a:t>
              </a:r>
              <a:endParaRPr/>
            </a:p>
          </p:txBody>
        </p:sp>
        <p:sp>
          <p:nvSpPr>
            <p:cNvPr id="962" name="Google Shape;962;p61"/>
            <p:cNvSpPr txBox="1"/>
            <p:nvPr/>
          </p:nvSpPr>
          <p:spPr>
            <a:xfrm>
              <a:off x="7307262" y="5207000"/>
              <a:ext cx="3351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On1</a:t>
              </a:r>
              <a:endParaRPr/>
            </a:p>
          </p:txBody>
        </p:sp>
        <p:sp>
          <p:nvSpPr>
            <p:cNvPr id="963" name="Google Shape;963;p61"/>
            <p:cNvSpPr txBox="1"/>
            <p:nvPr/>
          </p:nvSpPr>
          <p:spPr>
            <a:xfrm>
              <a:off x="5984875" y="5207000"/>
              <a:ext cx="2364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</a:t>
              </a:r>
              <a:endParaRPr/>
            </a:p>
          </p:txBody>
        </p:sp>
        <p:sp>
          <p:nvSpPr>
            <p:cNvPr id="964" name="Google Shape;964;p61"/>
            <p:cNvSpPr txBox="1"/>
            <p:nvPr/>
          </p:nvSpPr>
          <p:spPr>
            <a:xfrm>
              <a:off x="6316662" y="5207000"/>
              <a:ext cx="2364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</a:t>
              </a:r>
              <a:endParaRPr/>
            </a:p>
          </p:txBody>
        </p:sp>
        <p:sp>
          <p:nvSpPr>
            <p:cNvPr id="965" name="Google Shape;965;p61"/>
            <p:cNvSpPr txBox="1"/>
            <p:nvPr/>
          </p:nvSpPr>
          <p:spPr>
            <a:xfrm>
              <a:off x="6659562" y="5207000"/>
              <a:ext cx="2364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</a:t>
              </a:r>
              <a:endParaRPr/>
            </a:p>
          </p:txBody>
        </p:sp>
        <p:sp>
          <p:nvSpPr>
            <p:cNvPr id="966" name="Google Shape;966;p61"/>
            <p:cNvSpPr txBox="1"/>
            <p:nvPr/>
          </p:nvSpPr>
          <p:spPr>
            <a:xfrm>
              <a:off x="7637462" y="5207000"/>
              <a:ext cx="3351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On2</a:t>
              </a:r>
              <a:endParaRPr/>
            </a:p>
          </p:txBody>
        </p:sp>
        <p:sp>
          <p:nvSpPr>
            <p:cNvPr id="967" name="Google Shape;967;p61"/>
            <p:cNvSpPr txBox="1"/>
            <p:nvPr/>
          </p:nvSpPr>
          <p:spPr>
            <a:xfrm>
              <a:off x="7981950" y="5207000"/>
              <a:ext cx="3351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On3</a:t>
              </a:r>
              <a:endParaRPr/>
            </a:p>
          </p:txBody>
        </p:sp>
        <p:sp>
          <p:nvSpPr>
            <p:cNvPr id="968" name="Google Shape;968;p61"/>
            <p:cNvSpPr txBox="1"/>
            <p:nvPr/>
          </p:nvSpPr>
          <p:spPr>
            <a:xfrm>
              <a:off x="6992937" y="5207000"/>
              <a:ext cx="2364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Off</a:t>
              </a:r>
              <a:endParaRPr/>
            </a:p>
          </p:txBody>
        </p:sp>
        <p:cxnSp>
          <p:nvCxnSpPr>
            <p:cNvPr id="969" name="Google Shape;969;p61"/>
            <p:cNvCxnSpPr/>
            <p:nvPr/>
          </p:nvCxnSpPr>
          <p:spPr>
            <a:xfrm>
              <a:off x="6262687" y="5180012"/>
              <a:ext cx="0" cy="2604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970" name="Google Shape;970;p61"/>
            <p:cNvCxnSpPr/>
            <p:nvPr/>
          </p:nvCxnSpPr>
          <p:spPr>
            <a:xfrm>
              <a:off x="6600825" y="5180012"/>
              <a:ext cx="0" cy="2604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971" name="Google Shape;971;p61"/>
            <p:cNvCxnSpPr/>
            <p:nvPr/>
          </p:nvCxnSpPr>
          <p:spPr>
            <a:xfrm>
              <a:off x="6940550" y="5180012"/>
              <a:ext cx="0" cy="2604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972" name="Google Shape;972;p61"/>
            <p:cNvCxnSpPr/>
            <p:nvPr/>
          </p:nvCxnSpPr>
          <p:spPr>
            <a:xfrm>
              <a:off x="7285037" y="5180012"/>
              <a:ext cx="0" cy="2652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973" name="Google Shape;973;p61"/>
            <p:cNvCxnSpPr/>
            <p:nvPr/>
          </p:nvCxnSpPr>
          <p:spPr>
            <a:xfrm>
              <a:off x="7624762" y="5180012"/>
              <a:ext cx="0" cy="2652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974" name="Google Shape;974;p61"/>
            <p:cNvCxnSpPr/>
            <p:nvPr/>
          </p:nvCxnSpPr>
          <p:spPr>
            <a:xfrm>
              <a:off x="7969250" y="5168900"/>
              <a:ext cx="0" cy="2826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975" name="Google Shape;975;p61"/>
            <p:cNvCxnSpPr/>
            <p:nvPr/>
          </p:nvCxnSpPr>
          <p:spPr>
            <a:xfrm>
              <a:off x="8308975" y="5173662"/>
              <a:ext cx="0" cy="2715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76" name="Google Shape;976;p61"/>
            <p:cNvSpPr/>
            <p:nvPr/>
          </p:nvSpPr>
          <p:spPr>
            <a:xfrm>
              <a:off x="5624512" y="3981450"/>
              <a:ext cx="3040062" cy="361950"/>
            </a:xfrm>
            <a:custGeom>
              <a:rect b="b" l="l" r="r" t="t"/>
              <a:pathLst>
                <a:path extrusionOk="0" h="228" w="1915">
                  <a:moveTo>
                    <a:pt x="1915" y="228"/>
                  </a:moveTo>
                  <a:lnTo>
                    <a:pt x="1740" y="228"/>
                  </a:lnTo>
                  <a:lnTo>
                    <a:pt x="1740" y="0"/>
                  </a:lnTo>
                  <a:lnTo>
                    <a:pt x="1687" y="0"/>
                  </a:lnTo>
                  <a:lnTo>
                    <a:pt x="1687" y="228"/>
                  </a:lnTo>
                  <a:lnTo>
                    <a:pt x="1527" y="228"/>
                  </a:lnTo>
                  <a:lnTo>
                    <a:pt x="1527" y="0"/>
                  </a:lnTo>
                  <a:lnTo>
                    <a:pt x="1477" y="0"/>
                  </a:lnTo>
                  <a:lnTo>
                    <a:pt x="1477" y="228"/>
                  </a:lnTo>
                  <a:lnTo>
                    <a:pt x="1310" y="228"/>
                  </a:lnTo>
                  <a:lnTo>
                    <a:pt x="1310" y="0"/>
                  </a:lnTo>
                  <a:lnTo>
                    <a:pt x="1260" y="0"/>
                  </a:lnTo>
                  <a:lnTo>
                    <a:pt x="1260" y="228"/>
                  </a:lnTo>
                  <a:lnTo>
                    <a:pt x="1100" y="228"/>
                  </a:lnTo>
                  <a:lnTo>
                    <a:pt x="1100" y="0"/>
                  </a:lnTo>
                  <a:lnTo>
                    <a:pt x="1046" y="0"/>
                  </a:lnTo>
                  <a:lnTo>
                    <a:pt x="1046" y="228"/>
                  </a:lnTo>
                  <a:lnTo>
                    <a:pt x="882" y="228"/>
                  </a:lnTo>
                  <a:lnTo>
                    <a:pt x="882" y="0"/>
                  </a:lnTo>
                  <a:lnTo>
                    <a:pt x="833" y="0"/>
                  </a:lnTo>
                  <a:lnTo>
                    <a:pt x="833" y="228"/>
                  </a:lnTo>
                  <a:lnTo>
                    <a:pt x="665" y="228"/>
                  </a:lnTo>
                  <a:lnTo>
                    <a:pt x="665" y="0"/>
                  </a:lnTo>
                  <a:lnTo>
                    <a:pt x="615" y="0"/>
                  </a:lnTo>
                  <a:lnTo>
                    <a:pt x="615" y="228"/>
                  </a:lnTo>
                  <a:lnTo>
                    <a:pt x="452" y="228"/>
                  </a:lnTo>
                  <a:lnTo>
                    <a:pt x="452" y="0"/>
                  </a:lnTo>
                  <a:lnTo>
                    <a:pt x="402" y="0"/>
                  </a:lnTo>
                  <a:lnTo>
                    <a:pt x="402" y="228"/>
                  </a:lnTo>
                  <a:lnTo>
                    <a:pt x="235" y="228"/>
                  </a:lnTo>
                  <a:lnTo>
                    <a:pt x="235" y="0"/>
                  </a:lnTo>
                  <a:lnTo>
                    <a:pt x="185" y="0"/>
                  </a:lnTo>
                  <a:lnTo>
                    <a:pt x="185" y="228"/>
                  </a:lnTo>
                  <a:lnTo>
                    <a:pt x="0" y="228"/>
                  </a:lnTo>
                </a:path>
              </a:pathLst>
            </a:custGeom>
            <a:noFill/>
            <a:ln cap="flat" cmpd="sng" w="22225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7" name="Google Shape;977;p61"/>
            <p:cNvSpPr/>
            <p:nvPr/>
          </p:nvSpPr>
          <p:spPr>
            <a:xfrm>
              <a:off x="5589587" y="5699125"/>
              <a:ext cx="3092450" cy="346075"/>
            </a:xfrm>
            <a:custGeom>
              <a:rect b="b" l="l" r="r" t="t"/>
              <a:pathLst>
                <a:path extrusionOk="0" h="218" w="1948">
                  <a:moveTo>
                    <a:pt x="1948" y="214"/>
                  </a:moveTo>
                  <a:lnTo>
                    <a:pt x="1709" y="214"/>
                  </a:lnTo>
                  <a:lnTo>
                    <a:pt x="1709" y="0"/>
                  </a:lnTo>
                  <a:lnTo>
                    <a:pt x="1068" y="0"/>
                  </a:lnTo>
                  <a:lnTo>
                    <a:pt x="1068" y="218"/>
                  </a:lnTo>
                  <a:lnTo>
                    <a:pt x="0" y="218"/>
                  </a:lnTo>
                </a:path>
              </a:pathLst>
            </a:custGeom>
            <a:noFill/>
            <a:ln cap="flat" cmpd="sng" w="22225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8" name="Google Shape;978;p61"/>
            <p:cNvSpPr/>
            <p:nvPr/>
          </p:nvSpPr>
          <p:spPr>
            <a:xfrm>
              <a:off x="5589587" y="4586287"/>
              <a:ext cx="3092450" cy="339725"/>
            </a:xfrm>
            <a:custGeom>
              <a:rect b="b" l="l" r="r" t="t"/>
              <a:pathLst>
                <a:path extrusionOk="0" h="214" w="1948">
                  <a:moveTo>
                    <a:pt x="1948" y="210"/>
                  </a:moveTo>
                  <a:lnTo>
                    <a:pt x="1200" y="210"/>
                  </a:lnTo>
                  <a:lnTo>
                    <a:pt x="1200" y="0"/>
                  </a:lnTo>
                  <a:lnTo>
                    <a:pt x="986" y="0"/>
                  </a:lnTo>
                  <a:lnTo>
                    <a:pt x="986" y="214"/>
                  </a:lnTo>
                  <a:lnTo>
                    <a:pt x="0" y="214"/>
                  </a:lnTo>
                </a:path>
              </a:pathLst>
            </a:custGeom>
            <a:noFill/>
            <a:ln cap="flat" cmpd="sng" w="22225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79" name="Google Shape;979;p61"/>
            <p:cNvCxnSpPr/>
            <p:nvPr/>
          </p:nvCxnSpPr>
          <p:spPr>
            <a:xfrm>
              <a:off x="5918200" y="5180012"/>
              <a:ext cx="0" cy="260400"/>
            </a:xfrm>
            <a:prstGeom prst="straightConnector1">
              <a:avLst/>
            </a:prstGeom>
            <a:noFill/>
            <a:ln cap="flat" cmpd="sng" w="11100">
              <a:solidFill>
                <a:srgbClr val="0079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80" name="Google Shape;980;p61"/>
            <p:cNvSpPr txBox="1"/>
            <p:nvPr/>
          </p:nvSpPr>
          <p:spPr>
            <a:xfrm>
              <a:off x="5312991" y="4070350"/>
              <a:ext cx="2163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clk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1" name="Google Shape;981;p61"/>
            <p:cNvSpPr txBox="1"/>
            <p:nvPr/>
          </p:nvSpPr>
          <p:spPr>
            <a:xfrm>
              <a:off x="5253623" y="5184775"/>
              <a:ext cx="2724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1" lang="en" sz="1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State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2" name="Google Shape;982;p61"/>
            <p:cNvSpPr/>
            <p:nvPr/>
          </p:nvSpPr>
          <p:spPr>
            <a:xfrm>
              <a:off x="8302625" y="3829050"/>
              <a:ext cx="0" cy="2344738"/>
            </a:xfrm>
            <a:custGeom>
              <a:rect b="b" l="l" r="r" t="t"/>
              <a:pathLst>
                <a:path extrusionOk="0" h="1477" w="120000">
                  <a:moveTo>
                    <a:pt x="0" y="0"/>
                  </a:moveTo>
                  <a:lnTo>
                    <a:pt x="0" y="14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83" name="Google Shape;983;p61"/>
            <p:cNvCxnSpPr/>
            <p:nvPr/>
          </p:nvCxnSpPr>
          <p:spPr>
            <a:xfrm>
              <a:off x="8302625" y="3829050"/>
              <a:ext cx="0" cy="2344800"/>
            </a:xfrm>
            <a:prstGeom prst="straightConnector1">
              <a:avLst/>
            </a:prstGeom>
            <a:noFill/>
            <a:ln cap="flat" cmpd="sng" w="11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84" name="Google Shape;984;p61"/>
            <p:cNvSpPr/>
            <p:nvPr/>
          </p:nvSpPr>
          <p:spPr>
            <a:xfrm>
              <a:off x="7285037" y="3829050"/>
              <a:ext cx="0" cy="2344738"/>
            </a:xfrm>
            <a:custGeom>
              <a:rect b="b" l="l" r="r" t="t"/>
              <a:pathLst>
                <a:path extrusionOk="0" h="1477" w="120000">
                  <a:moveTo>
                    <a:pt x="0" y="0"/>
                  </a:moveTo>
                  <a:lnTo>
                    <a:pt x="0" y="14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85" name="Google Shape;985;p61"/>
            <p:cNvCxnSpPr/>
            <p:nvPr/>
          </p:nvCxnSpPr>
          <p:spPr>
            <a:xfrm>
              <a:off x="7285037" y="3829050"/>
              <a:ext cx="0" cy="2344800"/>
            </a:xfrm>
            <a:prstGeom prst="straightConnector1">
              <a:avLst/>
            </a:prstGeom>
            <a:noFill/>
            <a:ln cap="flat" cmpd="sng" w="111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986" name="Google Shape;986;p61"/>
            <p:cNvSpPr txBox="1"/>
            <p:nvPr/>
          </p:nvSpPr>
          <p:spPr>
            <a:xfrm>
              <a:off x="5443537" y="5919787"/>
              <a:ext cx="888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7" name="Google Shape;987;p61"/>
            <p:cNvSpPr txBox="1"/>
            <p:nvPr/>
          </p:nvSpPr>
          <p:spPr>
            <a:xfrm>
              <a:off x="5432425" y="4800600"/>
              <a:ext cx="98400" cy="2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Helvetica Neue"/>
                <a:buNone/>
              </a:pPr>
              <a:r>
                <a:rPr b="0" i="0" lang="en" sz="1400" u="none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88" name="Google Shape;988;p6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9" name="Google Shape;989;p61"/>
          <p:cNvSpPr/>
          <p:nvPr/>
        </p:nvSpPr>
        <p:spPr>
          <a:xfrm>
            <a:off x="5335100" y="879049"/>
            <a:ext cx="925200" cy="539700"/>
          </a:xfrm>
          <a:prstGeom prst="ellipse">
            <a:avLst/>
          </a:prstGeom>
          <a:noFill/>
          <a:ln cap="flat" cmpd="sng" w="174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Off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x=0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0" name="Google Shape;990;p61"/>
          <p:cNvSpPr/>
          <p:nvPr/>
        </p:nvSpPr>
        <p:spPr>
          <a:xfrm>
            <a:off x="7291100" y="925725"/>
            <a:ext cx="925200" cy="539700"/>
          </a:xfrm>
          <a:prstGeom prst="ellipse">
            <a:avLst/>
          </a:prstGeom>
          <a:noFill/>
          <a:ln cap="flat" cmpd="sng" w="174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On1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x=1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1" name="Google Shape;991;p61"/>
          <p:cNvSpPr/>
          <p:nvPr/>
        </p:nvSpPr>
        <p:spPr>
          <a:xfrm>
            <a:off x="7299925" y="1946573"/>
            <a:ext cx="925200" cy="539700"/>
          </a:xfrm>
          <a:prstGeom prst="ellipse">
            <a:avLst/>
          </a:prstGeom>
          <a:noFill/>
          <a:ln cap="flat" cmpd="sng" w="174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On2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x=1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2" name="Google Shape;992;p61"/>
          <p:cNvSpPr/>
          <p:nvPr/>
        </p:nvSpPr>
        <p:spPr>
          <a:xfrm>
            <a:off x="5368175" y="1984923"/>
            <a:ext cx="925200" cy="539700"/>
          </a:xfrm>
          <a:prstGeom prst="ellipse">
            <a:avLst/>
          </a:prstGeom>
          <a:noFill/>
          <a:ln cap="flat" cmpd="sng" w="174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On3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x=1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93" name="Google Shape;993;p61"/>
          <p:cNvCxnSpPr>
            <a:stCxn id="989" idx="7"/>
            <a:endCxn id="990" idx="1"/>
          </p:cNvCxnSpPr>
          <p:nvPr/>
        </p:nvCxnSpPr>
        <p:spPr>
          <a:xfrm flipH="1" rot="-5400000">
            <a:off x="6752258" y="330636"/>
            <a:ext cx="46800" cy="1301700"/>
          </a:xfrm>
          <a:prstGeom prst="curvedConnector3">
            <a:avLst>
              <a:gd fmla="val -24281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4" name="Google Shape;994;p61"/>
          <p:cNvCxnSpPr>
            <a:stCxn id="990" idx="6"/>
            <a:endCxn id="991" idx="6"/>
          </p:cNvCxnSpPr>
          <p:nvPr/>
        </p:nvCxnSpPr>
        <p:spPr>
          <a:xfrm>
            <a:off x="8216300" y="1195575"/>
            <a:ext cx="8700" cy="1020900"/>
          </a:xfrm>
          <a:prstGeom prst="curvedConnector3">
            <a:avLst>
              <a:gd fmla="val 28385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5" name="Google Shape;995;p61"/>
          <p:cNvCxnSpPr>
            <a:stCxn id="991" idx="3"/>
            <a:endCxn id="992" idx="5"/>
          </p:cNvCxnSpPr>
          <p:nvPr/>
        </p:nvCxnSpPr>
        <p:spPr>
          <a:xfrm rot="5400000">
            <a:off x="6777517" y="1787736"/>
            <a:ext cx="38400" cy="1277400"/>
          </a:xfrm>
          <a:prstGeom prst="curvedConnector3">
            <a:avLst>
              <a:gd fmla="val 41930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96" name="Google Shape;996;p61"/>
          <p:cNvCxnSpPr>
            <a:stCxn id="992" idx="2"/>
            <a:endCxn id="989" idx="2"/>
          </p:cNvCxnSpPr>
          <p:nvPr/>
        </p:nvCxnSpPr>
        <p:spPr>
          <a:xfrm rot="10800000">
            <a:off x="5335175" y="1148973"/>
            <a:ext cx="33000" cy="1105800"/>
          </a:xfrm>
          <a:prstGeom prst="curvedConnector3">
            <a:avLst>
              <a:gd fmla="val 38477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97" name="Google Shape;997;p61"/>
          <p:cNvSpPr txBox="1"/>
          <p:nvPr/>
        </p:nvSpPr>
        <p:spPr>
          <a:xfrm>
            <a:off x="6759325" y="795375"/>
            <a:ext cx="27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98" name="Google Shape;998;p61"/>
          <p:cNvCxnSpPr>
            <a:stCxn id="989" idx="6"/>
            <a:endCxn id="989" idx="5"/>
          </p:cNvCxnSpPr>
          <p:nvPr/>
        </p:nvCxnSpPr>
        <p:spPr>
          <a:xfrm flipH="1">
            <a:off x="6124700" y="1148899"/>
            <a:ext cx="135600" cy="190800"/>
          </a:xfrm>
          <a:prstGeom prst="curvedConnector4">
            <a:avLst>
              <a:gd fmla="val -175608" name="adj1"/>
              <a:gd fmla="val 266234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99" name="Google Shape;999;p61"/>
          <p:cNvSpPr txBox="1"/>
          <p:nvPr/>
        </p:nvSpPr>
        <p:spPr>
          <a:xfrm>
            <a:off x="6385225" y="1418750"/>
            <a:ext cx="3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b’</a:t>
            </a:r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0" name="Google Shape;1000;p61"/>
          <p:cNvSpPr txBox="1"/>
          <p:nvPr/>
        </p:nvSpPr>
        <p:spPr>
          <a:xfrm>
            <a:off x="6759325" y="2724013"/>
            <a:ext cx="239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r>
              <a:rPr lang="en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’ is how we denote NOT b</a:t>
            </a:r>
            <a:endParaRPr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62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>
                <a:solidFill>
                  <a:srgbClr val="4A86E8"/>
                </a:solidFill>
              </a:rPr>
              <a:t>FS</a:t>
            </a:r>
            <a:r>
              <a:rPr lang="en">
                <a:solidFill>
                  <a:srgbClr val="4A86E8"/>
                </a:solidFill>
              </a:rPr>
              <a:t>M</a:t>
            </a:r>
            <a:r>
              <a:rPr i="0" lang="en" u="none">
                <a:solidFill>
                  <a:srgbClr val="4A86E8"/>
                </a:solidFill>
              </a:rPr>
              <a:t>: </a:t>
            </a:r>
            <a:r>
              <a:rPr lang="en">
                <a:solidFill>
                  <a:srgbClr val="4A86E8"/>
                </a:solidFill>
              </a:rPr>
              <a:t>Moore vs. Mealy Machines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007" name="Google Shape;1007;p62"/>
          <p:cNvSpPr txBox="1"/>
          <p:nvPr>
            <p:ph idx="1" type="body"/>
          </p:nvPr>
        </p:nvSpPr>
        <p:spPr>
          <a:xfrm>
            <a:off x="1007975" y="1328375"/>
            <a:ext cx="6558600" cy="23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Char char="•"/>
            </a:pPr>
            <a:r>
              <a:rPr b="1" lang="en" sz="2300">
                <a:solidFill>
                  <a:schemeClr val="accent5"/>
                </a:solidFill>
              </a:rPr>
              <a:t>Moore Machine</a:t>
            </a:r>
            <a:endParaRPr b="1" sz="2300">
              <a:solidFill>
                <a:schemeClr val="accent5"/>
              </a:solidFill>
            </a:endParaRPr>
          </a:p>
          <a:p>
            <a:pPr indent="-33020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–"/>
            </a:pPr>
            <a:r>
              <a:rPr lang="en" sz="1900"/>
              <a:t>Output function based on </a:t>
            </a:r>
            <a:r>
              <a:rPr b="1" lang="en" sz="1900">
                <a:solidFill>
                  <a:srgbClr val="FF0000"/>
                </a:solidFill>
              </a:rPr>
              <a:t>current state</a:t>
            </a:r>
            <a:r>
              <a:rPr lang="en" sz="1900"/>
              <a:t> P(S) only</a:t>
            </a:r>
            <a:endParaRPr sz="19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2222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900"/>
              <a:buChar char="•"/>
            </a:pPr>
            <a:r>
              <a:rPr b="1" lang="en" sz="2300">
                <a:solidFill>
                  <a:schemeClr val="accent5"/>
                </a:solidFill>
              </a:rPr>
              <a:t>Mealy Machine</a:t>
            </a:r>
            <a:endParaRPr b="1" sz="2300">
              <a:solidFill>
                <a:schemeClr val="accent5"/>
              </a:solidFill>
            </a:endParaRPr>
          </a:p>
          <a:p>
            <a:pPr indent="-29845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" sz="1900"/>
              <a:t>Output function based on </a:t>
            </a:r>
            <a:r>
              <a:rPr b="1" lang="en" sz="1900">
                <a:solidFill>
                  <a:srgbClr val="FF0000"/>
                </a:solidFill>
              </a:rPr>
              <a:t>current state</a:t>
            </a:r>
            <a:r>
              <a:rPr lang="en" sz="1900"/>
              <a:t> </a:t>
            </a:r>
            <a:r>
              <a:rPr i="1" lang="en" sz="1900"/>
              <a:t>and </a:t>
            </a:r>
            <a:r>
              <a:rPr b="1" lang="en" sz="1900">
                <a:solidFill>
                  <a:srgbClr val="FF0000"/>
                </a:solidFill>
              </a:rPr>
              <a:t>current input</a:t>
            </a:r>
            <a:r>
              <a:rPr lang="en" sz="2500"/>
              <a:t> </a:t>
            </a:r>
            <a:r>
              <a:rPr lang="en" sz="1900"/>
              <a:t>P(S, I)</a:t>
            </a:r>
            <a:endParaRPr sz="1900"/>
          </a:p>
        </p:txBody>
      </p:sp>
      <p:sp>
        <p:nvSpPr>
          <p:cNvPr id="1008" name="Google Shape;1008;p6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9" name="Google Shape;1009;p62"/>
          <p:cNvSpPr txBox="1"/>
          <p:nvPr/>
        </p:nvSpPr>
        <p:spPr>
          <a:xfrm>
            <a:off x="1519150" y="4338275"/>
            <a:ext cx="5866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Question: which generally has more states?</a:t>
            </a:r>
            <a:endParaRPr i="1" sz="19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63"/>
          <p:cNvSpPr txBox="1"/>
          <p:nvPr>
            <p:ph type="title"/>
          </p:nvPr>
        </p:nvSpPr>
        <p:spPr>
          <a:xfrm>
            <a:off x="311700" y="445025"/>
            <a:ext cx="8292000" cy="56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6a: Design a Mealy Machine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63"/>
          <p:cNvSpPr txBox="1"/>
          <p:nvPr>
            <p:ph idx="1" type="body"/>
          </p:nvPr>
        </p:nvSpPr>
        <p:spPr>
          <a:xfrm>
            <a:off x="311700" y="1099375"/>
            <a:ext cx="8400900" cy="17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Design a Mealy finite-state machine for a button-activated LED. 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The light should remain lit while a button </a:t>
            </a:r>
            <a:r>
              <a:rPr i="1" lang="en" sz="1800"/>
              <a:t>B</a:t>
            </a:r>
            <a:r>
              <a:rPr lang="en" sz="1800"/>
              <a:t> is constantly pressed, or blink every third cycle while the button is not pressed. Assume the timer does not reset when the button is pressed.</a:t>
            </a:r>
            <a:endParaRPr sz="1800"/>
          </a:p>
        </p:txBody>
      </p:sp>
      <p:sp>
        <p:nvSpPr>
          <p:cNvPr id="1016" name="Google Shape;1016;p63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7" name="Google Shape;1017;p63"/>
          <p:cNvSpPr/>
          <p:nvPr/>
        </p:nvSpPr>
        <p:spPr>
          <a:xfrm>
            <a:off x="1616525" y="3131975"/>
            <a:ext cx="14835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0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(Start)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8" name="Google Shape;1018;p63"/>
          <p:cNvSpPr/>
          <p:nvPr/>
        </p:nvSpPr>
        <p:spPr>
          <a:xfrm>
            <a:off x="3553325" y="3131975"/>
            <a:ext cx="14835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9" name="Google Shape;1019;p63"/>
          <p:cNvSpPr/>
          <p:nvPr/>
        </p:nvSpPr>
        <p:spPr>
          <a:xfrm>
            <a:off x="5637225" y="3131975"/>
            <a:ext cx="14835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2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0" name="Google Shape;1020;p63"/>
          <p:cNvSpPr txBox="1"/>
          <p:nvPr/>
        </p:nvSpPr>
        <p:spPr>
          <a:xfrm>
            <a:off x="1693475" y="3999725"/>
            <a:ext cx="132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B==0, L=1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B==1, L=1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1" name="Google Shape;1021;p63"/>
          <p:cNvSpPr txBox="1"/>
          <p:nvPr/>
        </p:nvSpPr>
        <p:spPr>
          <a:xfrm>
            <a:off x="3707325" y="3999725"/>
            <a:ext cx="132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B==0, L=0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B==1, L=1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2" name="Google Shape;1022;p63"/>
          <p:cNvSpPr txBox="1"/>
          <p:nvPr/>
        </p:nvSpPr>
        <p:spPr>
          <a:xfrm>
            <a:off x="5721175" y="3999725"/>
            <a:ext cx="1329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B==0, L=0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B==1, L=1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23" name="Google Shape;1023;p63"/>
          <p:cNvCxnSpPr>
            <a:stCxn id="1019" idx="1"/>
            <a:endCxn id="1017" idx="7"/>
          </p:cNvCxnSpPr>
          <p:nvPr/>
        </p:nvCxnSpPr>
        <p:spPr>
          <a:xfrm rot="5400000">
            <a:off x="4368279" y="1763195"/>
            <a:ext cx="600" cy="2971800"/>
          </a:xfrm>
          <a:prstGeom prst="curvedConnector3">
            <a:avLst>
              <a:gd fmla="val -5915757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63"/>
          <p:cNvCxnSpPr>
            <a:stCxn id="1017" idx="6"/>
            <a:endCxn id="1018" idx="2"/>
          </p:cNvCxnSpPr>
          <p:nvPr/>
        </p:nvCxnSpPr>
        <p:spPr>
          <a:xfrm>
            <a:off x="3100025" y="3530825"/>
            <a:ext cx="453300" cy="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63"/>
          <p:cNvCxnSpPr>
            <a:stCxn id="1018" idx="6"/>
            <a:endCxn id="1019" idx="2"/>
          </p:cNvCxnSpPr>
          <p:nvPr/>
        </p:nvCxnSpPr>
        <p:spPr>
          <a:xfrm>
            <a:off x="5036825" y="3530825"/>
            <a:ext cx="600300" cy="6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64"/>
          <p:cNvSpPr txBox="1"/>
          <p:nvPr>
            <p:ph type="title"/>
          </p:nvPr>
        </p:nvSpPr>
        <p:spPr>
          <a:xfrm>
            <a:off x="311700" y="445025"/>
            <a:ext cx="8292000" cy="56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 6b: Design a Moore Machine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4"/>
          <p:cNvSpPr txBox="1"/>
          <p:nvPr>
            <p:ph idx="1" type="body"/>
          </p:nvPr>
        </p:nvSpPr>
        <p:spPr>
          <a:xfrm>
            <a:off x="311700" y="1099375"/>
            <a:ext cx="8400900" cy="17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Design a Moore finite-state machine for a button-activated LED.  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The light should remain lit while a button </a:t>
            </a:r>
            <a:r>
              <a:rPr i="1" lang="en" sz="1800"/>
              <a:t>B</a:t>
            </a:r>
            <a:r>
              <a:rPr lang="en" sz="1800"/>
              <a:t> is constantly pressed, or blink every third cycle while the button is not pressed. Assume the timer does not reset when the button is pressed.</a:t>
            </a:r>
            <a:endParaRPr sz="1800"/>
          </a:p>
        </p:txBody>
      </p:sp>
      <p:sp>
        <p:nvSpPr>
          <p:cNvPr id="1032" name="Google Shape;1032;p64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3" name="Google Shape;1033;p64"/>
          <p:cNvSpPr/>
          <p:nvPr/>
        </p:nvSpPr>
        <p:spPr>
          <a:xfrm>
            <a:off x="1623525" y="3058100"/>
            <a:ext cx="14835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0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(Start)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4" name="Google Shape;1034;p64"/>
          <p:cNvSpPr/>
          <p:nvPr/>
        </p:nvSpPr>
        <p:spPr>
          <a:xfrm>
            <a:off x="3560425" y="3820875"/>
            <a:ext cx="14835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1 (High B)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5" name="Google Shape;1035;p64"/>
          <p:cNvSpPr/>
          <p:nvPr/>
        </p:nvSpPr>
        <p:spPr>
          <a:xfrm>
            <a:off x="5553250" y="3820875"/>
            <a:ext cx="14835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2 (High B)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6" name="Google Shape;1036;p64"/>
          <p:cNvSpPr txBox="1"/>
          <p:nvPr/>
        </p:nvSpPr>
        <p:spPr>
          <a:xfrm>
            <a:off x="2065125" y="3798350"/>
            <a:ext cx="6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L=1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37" name="Google Shape;1037;p64"/>
          <p:cNvCxnSpPr>
            <a:stCxn id="1034" idx="6"/>
            <a:endCxn id="1035" idx="2"/>
          </p:cNvCxnSpPr>
          <p:nvPr/>
        </p:nvCxnSpPr>
        <p:spPr>
          <a:xfrm>
            <a:off x="5043925" y="4219725"/>
            <a:ext cx="509400" cy="6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8" name="Google Shape;1038;p64"/>
          <p:cNvCxnSpPr>
            <a:stCxn id="1033" idx="6"/>
            <a:endCxn id="1034" idx="2"/>
          </p:cNvCxnSpPr>
          <p:nvPr/>
        </p:nvCxnSpPr>
        <p:spPr>
          <a:xfrm>
            <a:off x="3107025" y="3456950"/>
            <a:ext cx="453300" cy="7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9" name="Google Shape;1039;p64"/>
          <p:cNvSpPr txBox="1"/>
          <p:nvPr/>
        </p:nvSpPr>
        <p:spPr>
          <a:xfrm>
            <a:off x="4002025" y="4526050"/>
            <a:ext cx="6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L=1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0" name="Google Shape;1040;p64"/>
          <p:cNvSpPr txBox="1"/>
          <p:nvPr/>
        </p:nvSpPr>
        <p:spPr>
          <a:xfrm>
            <a:off x="5994850" y="4526050"/>
            <a:ext cx="6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L=1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1" name="Google Shape;1041;p64"/>
          <p:cNvSpPr txBox="1"/>
          <p:nvPr/>
        </p:nvSpPr>
        <p:spPr>
          <a:xfrm>
            <a:off x="5074651" y="4143525"/>
            <a:ext cx="36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2" name="Google Shape;1042;p64"/>
          <p:cNvSpPr txBox="1"/>
          <p:nvPr/>
        </p:nvSpPr>
        <p:spPr>
          <a:xfrm rot="3782248">
            <a:off x="2967246" y="3798345"/>
            <a:ext cx="676874" cy="4002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3" name="Google Shape;1043;p64"/>
          <p:cNvSpPr/>
          <p:nvPr/>
        </p:nvSpPr>
        <p:spPr>
          <a:xfrm>
            <a:off x="3560425" y="2677875"/>
            <a:ext cx="14835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1</a:t>
            </a:r>
            <a:r>
              <a:rPr lang="en">
                <a:solidFill>
                  <a:schemeClr val="dk1"/>
                </a:solidFill>
              </a:rPr>
              <a:t> (Low B)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4" name="Google Shape;1044;p64"/>
          <p:cNvSpPr/>
          <p:nvPr/>
        </p:nvSpPr>
        <p:spPr>
          <a:xfrm>
            <a:off x="5553250" y="2677875"/>
            <a:ext cx="14835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2 (Low B)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45" name="Google Shape;1045;p64"/>
          <p:cNvCxnSpPr>
            <a:stCxn id="1043" idx="6"/>
            <a:endCxn id="1044" idx="2"/>
          </p:cNvCxnSpPr>
          <p:nvPr/>
        </p:nvCxnSpPr>
        <p:spPr>
          <a:xfrm>
            <a:off x="5043925" y="3076725"/>
            <a:ext cx="509400" cy="6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6" name="Google Shape;1046;p64"/>
          <p:cNvCxnSpPr>
            <a:endCxn id="1043" idx="2"/>
          </p:cNvCxnSpPr>
          <p:nvPr/>
        </p:nvCxnSpPr>
        <p:spPr>
          <a:xfrm flipH="1" rot="10800000">
            <a:off x="3072025" y="3076725"/>
            <a:ext cx="488400" cy="31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7" name="Google Shape;1047;p64"/>
          <p:cNvSpPr txBox="1"/>
          <p:nvPr/>
        </p:nvSpPr>
        <p:spPr>
          <a:xfrm>
            <a:off x="4002025" y="3383050"/>
            <a:ext cx="6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L=0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8" name="Google Shape;1048;p64"/>
          <p:cNvSpPr txBox="1"/>
          <p:nvPr/>
        </p:nvSpPr>
        <p:spPr>
          <a:xfrm>
            <a:off x="5994850" y="3383050"/>
            <a:ext cx="6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L=0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9" name="Google Shape;1049;p64"/>
          <p:cNvSpPr txBox="1"/>
          <p:nvPr/>
        </p:nvSpPr>
        <p:spPr>
          <a:xfrm>
            <a:off x="5071937" y="2771775"/>
            <a:ext cx="4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B’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0" name="Google Shape;1050;p64"/>
          <p:cNvSpPr txBox="1"/>
          <p:nvPr/>
        </p:nvSpPr>
        <p:spPr>
          <a:xfrm rot="-1862007">
            <a:off x="3093247" y="3155351"/>
            <a:ext cx="676768" cy="4002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B’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51" name="Google Shape;1051;p64"/>
          <p:cNvCxnSpPr>
            <a:stCxn id="1034" idx="7"/>
            <a:endCxn id="1044" idx="3"/>
          </p:cNvCxnSpPr>
          <p:nvPr/>
        </p:nvCxnSpPr>
        <p:spPr>
          <a:xfrm flipH="1" rot="10800000">
            <a:off x="4826671" y="3358695"/>
            <a:ext cx="943800" cy="57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64"/>
          <p:cNvCxnSpPr>
            <a:stCxn id="1043" idx="5"/>
            <a:endCxn id="1035" idx="1"/>
          </p:cNvCxnSpPr>
          <p:nvPr/>
        </p:nvCxnSpPr>
        <p:spPr>
          <a:xfrm>
            <a:off x="4826671" y="3358755"/>
            <a:ext cx="943800" cy="57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3" name="Google Shape;1053;p64"/>
          <p:cNvSpPr txBox="1"/>
          <p:nvPr/>
        </p:nvSpPr>
        <p:spPr>
          <a:xfrm rot="2025294">
            <a:off x="4859884" y="3208196"/>
            <a:ext cx="367683" cy="4000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4" name="Google Shape;1054;p64"/>
          <p:cNvSpPr txBox="1"/>
          <p:nvPr/>
        </p:nvSpPr>
        <p:spPr>
          <a:xfrm rot="-2283620">
            <a:off x="4677126" y="3581631"/>
            <a:ext cx="398546" cy="40004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B’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55" name="Google Shape;1055;p64"/>
          <p:cNvCxnSpPr>
            <a:stCxn id="1044" idx="6"/>
            <a:endCxn id="1033" idx="0"/>
          </p:cNvCxnSpPr>
          <p:nvPr/>
        </p:nvCxnSpPr>
        <p:spPr>
          <a:xfrm rot="10800000">
            <a:off x="2365150" y="3058125"/>
            <a:ext cx="4671600" cy="18600"/>
          </a:xfrm>
          <a:prstGeom prst="curvedConnector4">
            <a:avLst>
              <a:gd fmla="val -5097" name="adj1"/>
              <a:gd fmla="val 342459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6" name="Google Shape;1056;p64"/>
          <p:cNvCxnSpPr>
            <a:stCxn id="1035" idx="6"/>
            <a:endCxn id="1033" idx="3"/>
          </p:cNvCxnSpPr>
          <p:nvPr/>
        </p:nvCxnSpPr>
        <p:spPr>
          <a:xfrm rot="10800000">
            <a:off x="1840750" y="3739125"/>
            <a:ext cx="5196000" cy="480600"/>
          </a:xfrm>
          <a:prstGeom prst="curvedConnector4">
            <a:avLst>
              <a:gd fmla="val -4932" name="adj1"/>
              <a:gd fmla="val -12977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7" name="Google Shape;1057;p64"/>
          <p:cNvSpPr txBox="1"/>
          <p:nvPr/>
        </p:nvSpPr>
        <p:spPr>
          <a:xfrm>
            <a:off x="7318094" y="2555450"/>
            <a:ext cx="6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B’ | B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8" name="Google Shape;1058;p64"/>
          <p:cNvSpPr txBox="1"/>
          <p:nvPr/>
        </p:nvSpPr>
        <p:spPr>
          <a:xfrm>
            <a:off x="7241574" y="3990650"/>
            <a:ext cx="7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 | B’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65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7a: FSM Table</a:t>
            </a:r>
            <a:endParaRPr/>
          </a:p>
        </p:txBody>
      </p:sp>
      <p:sp>
        <p:nvSpPr>
          <p:cNvPr id="1064" name="Google Shape;1064;p65"/>
          <p:cNvSpPr txBox="1"/>
          <p:nvPr>
            <p:ph idx="1" type="body"/>
          </p:nvPr>
        </p:nvSpPr>
        <p:spPr>
          <a:xfrm>
            <a:off x="228600" y="914400"/>
            <a:ext cx="8610600" cy="148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Design a finite state machine which solves the following problem and fill out the following table.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There is one input, I, and one output, O. O is </a:t>
            </a:r>
            <a:r>
              <a:rPr i="1" lang="en" sz="1700">
                <a:solidFill>
                  <a:schemeClr val="dk1"/>
                </a:solidFill>
              </a:rPr>
              <a:t>high</a:t>
            </a:r>
            <a:r>
              <a:rPr lang="en" sz="1700">
                <a:solidFill>
                  <a:schemeClr val="dk1"/>
                </a:solidFill>
              </a:rPr>
              <a:t> if the last 4 inputs on I were 1010 (the rightmost 0 is the most recent input bit).</a:t>
            </a:r>
            <a:endParaRPr sz="2300"/>
          </a:p>
        </p:txBody>
      </p:sp>
      <p:sp>
        <p:nvSpPr>
          <p:cNvPr id="1065" name="Google Shape;1065;p65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066" name="Google Shape;1066;p65"/>
          <p:cNvGraphicFramePr/>
          <p:nvPr/>
        </p:nvGraphicFramePr>
        <p:xfrm>
          <a:off x="1600200" y="25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{1C25AF6C-6DC7-4302-9C04-274C2991A998}</a:tableStyleId>
              </a:tblPr>
              <a:tblGrid>
                <a:gridCol w="1343025"/>
                <a:gridCol w="1657350"/>
                <a:gridCol w="1571625"/>
                <a:gridCol w="1371600"/>
              </a:tblGrid>
              <a:tr h="34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Current State #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Next State when I = 0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Next State when I = 1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Output O (0/1)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solidFill>
                          <a:srgbClr val="FF0000"/>
                        </a:solidFill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7" name="Google Shape;1067;p65"/>
          <p:cNvSpPr txBox="1"/>
          <p:nvPr/>
        </p:nvSpPr>
        <p:spPr>
          <a:xfrm>
            <a:off x="1612200" y="2903550"/>
            <a:ext cx="5919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000	(no bits)	000			      001			0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001	(rec’vd 1)	010			      001			0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010	(...10)	000			      011			0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011	(...101)	100			      001			0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100	(...1010)	000			      011			1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66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7b: FSM Diagram</a:t>
            </a:r>
            <a:endParaRPr/>
          </a:p>
        </p:txBody>
      </p:sp>
      <p:sp>
        <p:nvSpPr>
          <p:cNvPr id="1073" name="Google Shape;1073;p66"/>
          <p:cNvSpPr txBox="1"/>
          <p:nvPr>
            <p:ph idx="1" type="body"/>
          </p:nvPr>
        </p:nvSpPr>
        <p:spPr>
          <a:xfrm>
            <a:off x="228600" y="914400"/>
            <a:ext cx="4566300" cy="287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Design a finite state machine which solves the following problem and fill out the following tables. There is one input, I, and one output, O. O is high if the last 4 inputs on I were 1010 (the rightmost 0 is the most recent input bit).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  b.   Now, c</a:t>
            </a:r>
            <a:r>
              <a:rPr lang="en" sz="1700">
                <a:solidFill>
                  <a:schemeClr val="dk1"/>
                </a:solidFill>
              </a:rPr>
              <a:t>reate your diagram following the table we just made.</a:t>
            </a:r>
            <a:endParaRPr sz="2300"/>
          </a:p>
        </p:txBody>
      </p:sp>
      <p:sp>
        <p:nvSpPr>
          <p:cNvPr id="1074" name="Google Shape;1074;p66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5" name="Google Shape;1075;p66"/>
          <p:cNvSpPr/>
          <p:nvPr/>
        </p:nvSpPr>
        <p:spPr>
          <a:xfrm>
            <a:off x="4820574" y="1838908"/>
            <a:ext cx="10926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0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(Start)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6" name="Google Shape;1076;p66"/>
          <p:cNvSpPr/>
          <p:nvPr/>
        </p:nvSpPr>
        <p:spPr>
          <a:xfrm>
            <a:off x="6247056" y="2982679"/>
            <a:ext cx="10926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4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(1010)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7" name="Google Shape;1077;p66"/>
          <p:cNvSpPr/>
          <p:nvPr/>
        </p:nvSpPr>
        <p:spPr>
          <a:xfrm>
            <a:off x="7714725" y="2982679"/>
            <a:ext cx="10926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3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(...101)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78" name="Google Shape;1078;p66"/>
          <p:cNvSpPr txBox="1"/>
          <p:nvPr/>
        </p:nvSpPr>
        <p:spPr>
          <a:xfrm>
            <a:off x="5145799" y="2579150"/>
            <a:ext cx="54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O=0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9" name="Google Shape;1079;p66"/>
          <p:cNvSpPr txBox="1"/>
          <p:nvPr/>
        </p:nvSpPr>
        <p:spPr>
          <a:xfrm>
            <a:off x="6516975" y="3687850"/>
            <a:ext cx="5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O=1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0" name="Google Shape;1080;p66"/>
          <p:cNvSpPr txBox="1"/>
          <p:nvPr/>
        </p:nvSpPr>
        <p:spPr>
          <a:xfrm>
            <a:off x="8039950" y="3687850"/>
            <a:ext cx="5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O=0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1" name="Google Shape;1081;p66"/>
          <p:cNvSpPr txBox="1"/>
          <p:nvPr/>
        </p:nvSpPr>
        <p:spPr>
          <a:xfrm>
            <a:off x="7436450" y="2999575"/>
            <a:ext cx="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I’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2" name="Google Shape;1082;p66"/>
          <p:cNvSpPr/>
          <p:nvPr/>
        </p:nvSpPr>
        <p:spPr>
          <a:xfrm>
            <a:off x="6247056" y="1458685"/>
            <a:ext cx="10926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(...1)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3" name="Google Shape;1083;p66"/>
          <p:cNvSpPr/>
          <p:nvPr/>
        </p:nvSpPr>
        <p:spPr>
          <a:xfrm>
            <a:off x="7714725" y="1458685"/>
            <a:ext cx="1092600" cy="797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State 2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(...10)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84" name="Google Shape;1084;p66"/>
          <p:cNvCxnSpPr>
            <a:stCxn id="1082" idx="6"/>
            <a:endCxn id="1083" idx="2"/>
          </p:cNvCxnSpPr>
          <p:nvPr/>
        </p:nvCxnSpPr>
        <p:spPr>
          <a:xfrm>
            <a:off x="7339656" y="1857535"/>
            <a:ext cx="375000" cy="6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5" name="Google Shape;1085;p66"/>
          <p:cNvCxnSpPr>
            <a:stCxn id="1075" idx="6"/>
            <a:endCxn id="1082" idx="2"/>
          </p:cNvCxnSpPr>
          <p:nvPr/>
        </p:nvCxnSpPr>
        <p:spPr>
          <a:xfrm flipH="1" rot="10800000">
            <a:off x="5913174" y="1857658"/>
            <a:ext cx="333900" cy="3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6" name="Google Shape;1086;p66"/>
          <p:cNvSpPr txBox="1"/>
          <p:nvPr/>
        </p:nvSpPr>
        <p:spPr>
          <a:xfrm>
            <a:off x="6572275" y="2163850"/>
            <a:ext cx="5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O=0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7" name="Google Shape;1087;p66"/>
          <p:cNvSpPr txBox="1"/>
          <p:nvPr/>
        </p:nvSpPr>
        <p:spPr>
          <a:xfrm>
            <a:off x="7974824" y="2163850"/>
            <a:ext cx="5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O=0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8" name="Google Shape;1088;p66"/>
          <p:cNvSpPr txBox="1"/>
          <p:nvPr/>
        </p:nvSpPr>
        <p:spPr>
          <a:xfrm>
            <a:off x="7360250" y="1552575"/>
            <a:ext cx="4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’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89" name="Google Shape;1089;p66"/>
          <p:cNvCxnSpPr>
            <a:stCxn id="1076" idx="2"/>
            <a:endCxn id="1075" idx="5"/>
          </p:cNvCxnSpPr>
          <p:nvPr/>
        </p:nvCxnSpPr>
        <p:spPr>
          <a:xfrm rot="10800000">
            <a:off x="5753256" y="2519929"/>
            <a:ext cx="493800" cy="86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66"/>
          <p:cNvCxnSpPr>
            <a:stCxn id="1077" idx="1"/>
            <a:endCxn id="1082" idx="5"/>
          </p:cNvCxnSpPr>
          <p:nvPr/>
        </p:nvCxnSpPr>
        <p:spPr>
          <a:xfrm rot="10800000">
            <a:off x="7179632" y="2139499"/>
            <a:ext cx="695100" cy="96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1" name="Google Shape;1091;p66"/>
          <p:cNvCxnSpPr>
            <a:stCxn id="1083" idx="1"/>
            <a:endCxn id="1075" idx="7"/>
          </p:cNvCxnSpPr>
          <p:nvPr/>
        </p:nvCxnSpPr>
        <p:spPr>
          <a:xfrm rot="5400000">
            <a:off x="6623882" y="704755"/>
            <a:ext cx="380100" cy="2121600"/>
          </a:xfrm>
          <a:prstGeom prst="curvedConnector3">
            <a:avLst>
              <a:gd fmla="val -1487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2" name="Google Shape;1092;p66"/>
          <p:cNvSpPr txBox="1"/>
          <p:nvPr/>
        </p:nvSpPr>
        <p:spPr>
          <a:xfrm>
            <a:off x="7714650" y="1038550"/>
            <a:ext cx="44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’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3" name="Google Shape;1093;p66"/>
          <p:cNvSpPr txBox="1"/>
          <p:nvPr/>
        </p:nvSpPr>
        <p:spPr>
          <a:xfrm>
            <a:off x="5861973" y="1739352"/>
            <a:ext cx="26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94" name="Google Shape;1094;p66"/>
          <p:cNvCxnSpPr>
            <a:stCxn id="1075" idx="0"/>
            <a:endCxn id="1075" idx="1"/>
          </p:cNvCxnSpPr>
          <p:nvPr/>
        </p:nvCxnSpPr>
        <p:spPr>
          <a:xfrm rot="5400000">
            <a:off x="5115324" y="1704058"/>
            <a:ext cx="116700" cy="386400"/>
          </a:xfrm>
          <a:prstGeom prst="curvedConnector3">
            <a:avLst>
              <a:gd fmla="val -20404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5" name="Google Shape;1095;p66"/>
          <p:cNvSpPr txBox="1"/>
          <p:nvPr/>
        </p:nvSpPr>
        <p:spPr>
          <a:xfrm>
            <a:off x="5023776" y="1282150"/>
            <a:ext cx="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I’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6" name="Google Shape;1096;p66"/>
          <p:cNvSpPr txBox="1"/>
          <p:nvPr/>
        </p:nvSpPr>
        <p:spPr>
          <a:xfrm>
            <a:off x="6014376" y="2501350"/>
            <a:ext cx="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I’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97" name="Google Shape;1097;p66"/>
          <p:cNvCxnSpPr>
            <a:stCxn id="1083" idx="5"/>
            <a:endCxn id="1077" idx="0"/>
          </p:cNvCxnSpPr>
          <p:nvPr/>
        </p:nvCxnSpPr>
        <p:spPr>
          <a:xfrm flipH="1">
            <a:off x="8260917" y="2139564"/>
            <a:ext cx="386400" cy="84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8" name="Google Shape;1098;p66"/>
          <p:cNvSpPr txBox="1"/>
          <p:nvPr/>
        </p:nvSpPr>
        <p:spPr>
          <a:xfrm>
            <a:off x="7697135" y="2642302"/>
            <a:ext cx="26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99" name="Google Shape;1099;p66"/>
          <p:cNvCxnSpPr>
            <a:stCxn id="1076" idx="5"/>
            <a:endCxn id="1077" idx="3"/>
          </p:cNvCxnSpPr>
          <p:nvPr/>
        </p:nvCxnSpPr>
        <p:spPr>
          <a:xfrm>
            <a:off x="7179648" y="3663558"/>
            <a:ext cx="69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0" name="Google Shape;1100;p66"/>
          <p:cNvCxnSpPr>
            <a:stCxn id="1077" idx="2"/>
            <a:endCxn id="1076" idx="6"/>
          </p:cNvCxnSpPr>
          <p:nvPr/>
        </p:nvCxnSpPr>
        <p:spPr>
          <a:xfrm rot="10800000">
            <a:off x="7339725" y="3381529"/>
            <a:ext cx="37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1" name="Google Shape;1101;p66"/>
          <p:cNvSpPr txBox="1"/>
          <p:nvPr/>
        </p:nvSpPr>
        <p:spPr>
          <a:xfrm>
            <a:off x="7360248" y="3609175"/>
            <a:ext cx="33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2" name="Google Shape;1102;p66"/>
          <p:cNvSpPr txBox="1"/>
          <p:nvPr/>
        </p:nvSpPr>
        <p:spPr>
          <a:xfrm>
            <a:off x="8154335" y="2566102"/>
            <a:ext cx="26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03" name="Google Shape;1103;p66"/>
          <p:cNvCxnSpPr>
            <a:stCxn id="1082" idx="7"/>
            <a:endCxn id="1082" idx="0"/>
          </p:cNvCxnSpPr>
          <p:nvPr/>
        </p:nvCxnSpPr>
        <p:spPr>
          <a:xfrm flipH="1" rot="5400000">
            <a:off x="6928098" y="1323955"/>
            <a:ext cx="116700" cy="386400"/>
          </a:xfrm>
          <a:prstGeom prst="curvedConnector3">
            <a:avLst>
              <a:gd fmla="val 30415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4" name="Google Shape;1104;p66"/>
          <p:cNvSpPr txBox="1"/>
          <p:nvPr/>
        </p:nvSpPr>
        <p:spPr>
          <a:xfrm>
            <a:off x="6852573" y="1129752"/>
            <a:ext cx="26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7"/>
          <p:cNvSpPr/>
          <p:nvPr/>
        </p:nvSpPr>
        <p:spPr>
          <a:xfrm>
            <a:off x="4664450" y="2139225"/>
            <a:ext cx="4238400" cy="170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67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FSM Example: Secure Car Key</a:t>
            </a:r>
            <a:endParaRPr/>
          </a:p>
        </p:txBody>
      </p:sp>
      <p:sp>
        <p:nvSpPr>
          <p:cNvPr id="1112" name="Google Shape;1112;p67"/>
          <p:cNvSpPr txBox="1"/>
          <p:nvPr>
            <p:ph idx="1" type="body"/>
          </p:nvPr>
        </p:nvSpPr>
        <p:spPr>
          <a:xfrm>
            <a:off x="76200" y="1028700"/>
            <a:ext cx="4724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new car keys include tiny computer chip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key turned, car’s computer (under engine hood) requests identifier from key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transmits identifier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Else, computer doesn’t start car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FSM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Wait until computer requests ID (a=1)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Transmit ID (in this case, 1 1 0 1)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3" name="Google Shape;111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914400"/>
            <a:ext cx="3371850" cy="8167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4" name="Google Shape;1114;p67"/>
          <p:cNvGrpSpPr/>
          <p:nvPr/>
        </p:nvGrpSpPr>
        <p:grpSpPr>
          <a:xfrm>
            <a:off x="4724400" y="2228850"/>
            <a:ext cx="3962362" cy="1478756"/>
            <a:chOff x="4724400" y="2971800"/>
            <a:chExt cx="3962362" cy="1971675"/>
          </a:xfrm>
        </p:grpSpPr>
        <p:sp>
          <p:nvSpPr>
            <p:cNvPr id="1115" name="Google Shape;1115;p67"/>
            <p:cNvSpPr/>
            <p:nvPr/>
          </p:nvSpPr>
          <p:spPr>
            <a:xfrm>
              <a:off x="5837237" y="3533775"/>
              <a:ext cx="2486025" cy="612775"/>
            </a:xfrm>
            <a:custGeom>
              <a:rect b="b" l="l" r="r" t="t"/>
              <a:pathLst>
                <a:path extrusionOk="0" h="97" w="446">
                  <a:moveTo>
                    <a:pt x="0" y="0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58" y="0"/>
                    <a:pt x="446" y="0"/>
                    <a:pt x="446" y="97"/>
                  </a:cubicBezTo>
                </a:path>
              </a:pathLst>
            </a:custGeom>
            <a:noFill/>
            <a:ln cap="flat" cmpd="sng" w="20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6" name="Google Shape;1116;p67"/>
            <p:cNvSpPr/>
            <p:nvPr/>
          </p:nvSpPr>
          <p:spPr>
            <a:xfrm>
              <a:off x="5675312" y="3484562"/>
              <a:ext cx="177800" cy="100012"/>
            </a:xfrm>
            <a:custGeom>
              <a:rect b="b" l="l" r="r" t="t"/>
              <a:pathLst>
                <a:path extrusionOk="0" h="53" w="106">
                  <a:moveTo>
                    <a:pt x="0" y="26"/>
                  </a:moveTo>
                  <a:lnTo>
                    <a:pt x="106" y="53"/>
                  </a:lnTo>
                  <a:lnTo>
                    <a:pt x="106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7" name="Google Shape;1117;p67"/>
            <p:cNvSpPr/>
            <p:nvPr/>
          </p:nvSpPr>
          <p:spPr>
            <a:xfrm>
              <a:off x="5630862" y="3659187"/>
              <a:ext cx="166687" cy="169862"/>
            </a:xfrm>
            <a:custGeom>
              <a:rect b="b" l="l" r="r" t="t"/>
              <a:pathLst>
                <a:path extrusionOk="0" h="89" w="99">
                  <a:moveTo>
                    <a:pt x="0" y="0"/>
                  </a:moveTo>
                  <a:lnTo>
                    <a:pt x="62" y="89"/>
                  </a:lnTo>
                  <a:lnTo>
                    <a:pt x="99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18" name="Google Shape;1118;p67"/>
            <p:cNvCxnSpPr/>
            <p:nvPr/>
          </p:nvCxnSpPr>
          <p:spPr>
            <a:xfrm>
              <a:off x="5246687" y="3773487"/>
              <a:ext cx="1500" cy="228600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19" name="Google Shape;1119;p67"/>
            <p:cNvSpPr/>
            <p:nvPr/>
          </p:nvSpPr>
          <p:spPr>
            <a:xfrm>
              <a:off x="5200650" y="3925887"/>
              <a:ext cx="88900" cy="201612"/>
            </a:xfrm>
            <a:custGeom>
              <a:rect b="b" l="l" r="r" t="t"/>
              <a:pathLst>
                <a:path extrusionOk="0" h="106" w="53">
                  <a:moveTo>
                    <a:pt x="27" y="106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27" y="1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20" name="Google Shape;1120;p67"/>
            <p:cNvCxnSpPr/>
            <p:nvPr/>
          </p:nvCxnSpPr>
          <p:spPr>
            <a:xfrm>
              <a:off x="4794250" y="3009900"/>
              <a:ext cx="126900" cy="169800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21" name="Google Shape;1121;p67"/>
            <p:cNvSpPr/>
            <p:nvPr/>
          </p:nvSpPr>
          <p:spPr>
            <a:xfrm>
              <a:off x="4865687" y="3116262"/>
              <a:ext cx="150812" cy="190500"/>
            </a:xfrm>
            <a:custGeom>
              <a:rect b="b" l="l" r="r" t="t"/>
              <a:pathLst>
                <a:path extrusionOk="0" h="99" w="89">
                  <a:moveTo>
                    <a:pt x="89" y="99"/>
                  </a:moveTo>
                  <a:lnTo>
                    <a:pt x="40" y="0"/>
                  </a:lnTo>
                  <a:lnTo>
                    <a:pt x="0" y="36"/>
                  </a:lnTo>
                  <a:lnTo>
                    <a:pt x="89" y="9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22" name="Google Shape;1122;p67"/>
            <p:cNvCxnSpPr/>
            <p:nvPr/>
          </p:nvCxnSpPr>
          <p:spPr>
            <a:xfrm>
              <a:off x="5607050" y="4429125"/>
              <a:ext cx="152400" cy="1500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23" name="Google Shape;1123;p67"/>
            <p:cNvSpPr/>
            <p:nvPr/>
          </p:nvSpPr>
          <p:spPr>
            <a:xfrm>
              <a:off x="5726112" y="4379912"/>
              <a:ext cx="177800" cy="101600"/>
            </a:xfrm>
            <a:custGeom>
              <a:rect b="b" l="l" r="r" t="t"/>
              <a:pathLst>
                <a:path extrusionOk="0" h="53" w="106">
                  <a:moveTo>
                    <a:pt x="106" y="26"/>
                  </a:moveTo>
                  <a:lnTo>
                    <a:pt x="0" y="0"/>
                  </a:lnTo>
                  <a:lnTo>
                    <a:pt x="0" y="53"/>
                  </a:lnTo>
                  <a:lnTo>
                    <a:pt x="106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24" name="Google Shape;1124;p67"/>
            <p:cNvCxnSpPr/>
            <p:nvPr/>
          </p:nvCxnSpPr>
          <p:spPr>
            <a:xfrm>
              <a:off x="6640512" y="4429125"/>
              <a:ext cx="150900" cy="1500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25" name="Google Shape;1125;p67"/>
            <p:cNvSpPr/>
            <p:nvPr/>
          </p:nvSpPr>
          <p:spPr>
            <a:xfrm>
              <a:off x="6756400" y="4379912"/>
              <a:ext cx="179387" cy="101600"/>
            </a:xfrm>
            <a:custGeom>
              <a:rect b="b" l="l" r="r" t="t"/>
              <a:pathLst>
                <a:path extrusionOk="0" h="53" w="106">
                  <a:moveTo>
                    <a:pt x="106" y="26"/>
                  </a:moveTo>
                  <a:lnTo>
                    <a:pt x="0" y="0"/>
                  </a:lnTo>
                  <a:lnTo>
                    <a:pt x="0" y="53"/>
                  </a:lnTo>
                  <a:lnTo>
                    <a:pt x="106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26" name="Google Shape;1126;p67"/>
            <p:cNvCxnSpPr/>
            <p:nvPr/>
          </p:nvCxnSpPr>
          <p:spPr>
            <a:xfrm>
              <a:off x="7666037" y="4429125"/>
              <a:ext cx="150900" cy="1500"/>
            </a:xfrm>
            <a:prstGeom prst="straightConnector1">
              <a:avLst/>
            </a:prstGeom>
            <a:noFill/>
            <a:ln cap="flat" cmpd="sng" w="206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127" name="Google Shape;1127;p67"/>
            <p:cNvSpPr/>
            <p:nvPr/>
          </p:nvSpPr>
          <p:spPr>
            <a:xfrm>
              <a:off x="7783512" y="4379912"/>
              <a:ext cx="179387" cy="101600"/>
            </a:xfrm>
            <a:custGeom>
              <a:rect b="b" l="l" r="r" t="t"/>
              <a:pathLst>
                <a:path extrusionOk="0" h="53" w="106">
                  <a:moveTo>
                    <a:pt x="106" y="26"/>
                  </a:moveTo>
                  <a:lnTo>
                    <a:pt x="0" y="0"/>
                  </a:lnTo>
                  <a:lnTo>
                    <a:pt x="0" y="53"/>
                  </a:lnTo>
                  <a:lnTo>
                    <a:pt x="106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8" name="Google Shape;1128;p67"/>
            <p:cNvSpPr/>
            <p:nvPr/>
          </p:nvSpPr>
          <p:spPr>
            <a:xfrm>
              <a:off x="4827587" y="3287712"/>
              <a:ext cx="834900" cy="485700"/>
            </a:xfrm>
            <a:prstGeom prst="ellipse">
              <a:avLst/>
            </a:prstGeom>
            <a:noFill/>
            <a:ln cap="flat" cmpd="sng" w="1587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9" name="Google Shape;1129;p67"/>
            <p:cNvSpPr txBox="1"/>
            <p:nvPr/>
          </p:nvSpPr>
          <p:spPr>
            <a:xfrm>
              <a:off x="5154612" y="4316412"/>
              <a:ext cx="233400" cy="2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K1</a:t>
              </a:r>
              <a:endParaRPr/>
            </a:p>
          </p:txBody>
        </p:sp>
        <p:sp>
          <p:nvSpPr>
            <p:cNvPr id="1130" name="Google Shape;1130;p67"/>
            <p:cNvSpPr txBox="1"/>
            <p:nvPr/>
          </p:nvSpPr>
          <p:spPr>
            <a:xfrm>
              <a:off x="6186487" y="4316412"/>
              <a:ext cx="233400" cy="2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K2</a:t>
              </a:r>
              <a:endParaRPr/>
            </a:p>
          </p:txBody>
        </p:sp>
        <p:sp>
          <p:nvSpPr>
            <p:cNvPr id="1131" name="Google Shape;1131;p67"/>
            <p:cNvSpPr txBox="1"/>
            <p:nvPr/>
          </p:nvSpPr>
          <p:spPr>
            <a:xfrm>
              <a:off x="7223125" y="4316412"/>
              <a:ext cx="233400" cy="2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K3</a:t>
              </a:r>
              <a:endParaRPr/>
            </a:p>
          </p:txBody>
        </p:sp>
        <p:sp>
          <p:nvSpPr>
            <p:cNvPr id="1132" name="Google Shape;1132;p67"/>
            <p:cNvSpPr txBox="1"/>
            <p:nvPr/>
          </p:nvSpPr>
          <p:spPr>
            <a:xfrm>
              <a:off x="8235950" y="4316412"/>
              <a:ext cx="233400" cy="2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K4</a:t>
              </a:r>
              <a:endParaRPr/>
            </a:p>
          </p:txBody>
        </p:sp>
        <p:sp>
          <p:nvSpPr>
            <p:cNvPr id="1133" name="Google Shape;1133;p67"/>
            <p:cNvSpPr txBox="1"/>
            <p:nvPr/>
          </p:nvSpPr>
          <p:spPr>
            <a:xfrm>
              <a:off x="5119687" y="4714875"/>
              <a:ext cx="281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r=1</a:t>
              </a:r>
              <a:endParaRPr/>
            </a:p>
          </p:txBody>
        </p:sp>
        <p:sp>
          <p:nvSpPr>
            <p:cNvPr id="1134" name="Google Shape;1134;p67"/>
            <p:cNvSpPr txBox="1"/>
            <p:nvPr/>
          </p:nvSpPr>
          <p:spPr>
            <a:xfrm>
              <a:off x="6153150" y="4714875"/>
              <a:ext cx="281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r=1</a:t>
              </a:r>
              <a:endParaRPr/>
            </a:p>
          </p:txBody>
        </p:sp>
        <p:sp>
          <p:nvSpPr>
            <p:cNvPr id="1135" name="Google Shape;1135;p67"/>
            <p:cNvSpPr txBox="1"/>
            <p:nvPr/>
          </p:nvSpPr>
          <p:spPr>
            <a:xfrm>
              <a:off x="7189787" y="4714875"/>
              <a:ext cx="281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r=0</a:t>
              </a:r>
              <a:endParaRPr/>
            </a:p>
          </p:txBody>
        </p:sp>
        <p:sp>
          <p:nvSpPr>
            <p:cNvPr id="1136" name="Google Shape;1136;p67"/>
            <p:cNvSpPr txBox="1"/>
            <p:nvPr/>
          </p:nvSpPr>
          <p:spPr>
            <a:xfrm>
              <a:off x="8202612" y="4714875"/>
              <a:ext cx="281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r=1</a:t>
              </a:r>
              <a:endParaRPr/>
            </a:p>
          </p:txBody>
        </p:sp>
        <p:sp>
          <p:nvSpPr>
            <p:cNvPr id="1137" name="Google Shape;1137;p67"/>
            <p:cNvSpPr/>
            <p:nvPr/>
          </p:nvSpPr>
          <p:spPr>
            <a:xfrm>
              <a:off x="4887912" y="4146550"/>
              <a:ext cx="719100" cy="573000"/>
            </a:xfrm>
            <a:prstGeom prst="ellipse">
              <a:avLst/>
            </a:prstGeom>
            <a:noFill/>
            <a:ln cap="flat" cmpd="sng" w="1587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8" name="Google Shape;1138;p67"/>
            <p:cNvSpPr/>
            <p:nvPr/>
          </p:nvSpPr>
          <p:spPr>
            <a:xfrm>
              <a:off x="5915025" y="4146550"/>
              <a:ext cx="719100" cy="573000"/>
            </a:xfrm>
            <a:prstGeom prst="ellipse">
              <a:avLst/>
            </a:prstGeom>
            <a:noFill/>
            <a:ln cap="flat" cmpd="sng" w="1587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39" name="Google Shape;1139;p67"/>
            <p:cNvSpPr/>
            <p:nvPr/>
          </p:nvSpPr>
          <p:spPr>
            <a:xfrm>
              <a:off x="6940550" y="4146550"/>
              <a:ext cx="719100" cy="573000"/>
            </a:xfrm>
            <a:prstGeom prst="ellipse">
              <a:avLst/>
            </a:prstGeom>
            <a:noFill/>
            <a:ln cap="flat" cmpd="sng" w="1587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0" name="Google Shape;1140;p67"/>
            <p:cNvSpPr/>
            <p:nvPr/>
          </p:nvSpPr>
          <p:spPr>
            <a:xfrm>
              <a:off x="7967662" y="4146550"/>
              <a:ext cx="719100" cy="573000"/>
            </a:xfrm>
            <a:prstGeom prst="ellipse">
              <a:avLst/>
            </a:prstGeom>
            <a:noFill/>
            <a:ln cap="flat" cmpd="sng" w="1587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1" name="Google Shape;1141;p67"/>
            <p:cNvSpPr txBox="1"/>
            <p:nvPr/>
          </p:nvSpPr>
          <p:spPr>
            <a:xfrm>
              <a:off x="5078412" y="3419475"/>
              <a:ext cx="38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Wait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42" name="Google Shape;1142;p67"/>
            <p:cNvSpPr/>
            <p:nvPr/>
          </p:nvSpPr>
          <p:spPr>
            <a:xfrm>
              <a:off x="5418137" y="3692525"/>
              <a:ext cx="461962" cy="446087"/>
            </a:xfrm>
            <a:custGeom>
              <a:rect b="b" l="l" r="r" t="t"/>
              <a:pathLst>
                <a:path extrusionOk="0" h="71" w="83">
                  <a:moveTo>
                    <a:pt x="0" y="11"/>
                  </a:moveTo>
                  <a:cubicBezTo>
                    <a:pt x="0" y="11"/>
                    <a:pt x="3" y="71"/>
                    <a:pt x="54" y="39"/>
                  </a:cubicBezTo>
                  <a:cubicBezTo>
                    <a:pt x="54" y="39"/>
                    <a:pt x="83" y="18"/>
                    <a:pt x="43" y="0"/>
                  </a:cubicBezTo>
                </a:path>
              </a:pathLst>
            </a:custGeom>
            <a:noFill/>
            <a:ln cap="flat" cmpd="sng" w="20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43" name="Google Shape;1143;p67"/>
            <p:cNvSpPr txBox="1"/>
            <p:nvPr/>
          </p:nvSpPr>
          <p:spPr>
            <a:xfrm>
              <a:off x="4724400" y="3706812"/>
              <a:ext cx="281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r=0</a:t>
              </a:r>
              <a:endParaRPr/>
            </a:p>
          </p:txBody>
        </p:sp>
        <p:sp>
          <p:nvSpPr>
            <p:cNvPr id="1144" name="Google Shape;1144;p67"/>
            <p:cNvSpPr txBox="1"/>
            <p:nvPr/>
          </p:nvSpPr>
          <p:spPr>
            <a:xfrm>
              <a:off x="6791400" y="2971800"/>
              <a:ext cx="1736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Inputs: a; Outputs: r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145" name="Google Shape;1145;p67"/>
            <p:cNvSpPr txBox="1"/>
            <p:nvPr/>
          </p:nvSpPr>
          <p:spPr>
            <a:xfrm>
              <a:off x="5819775" y="3790950"/>
              <a:ext cx="10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146" name="Google Shape;1146;p67"/>
            <p:cNvSpPr txBox="1"/>
            <p:nvPr/>
          </p:nvSpPr>
          <p:spPr>
            <a:xfrm>
              <a:off x="5899150" y="3790950"/>
              <a:ext cx="429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’</a:t>
              </a:r>
              <a:endParaRPr/>
            </a:p>
          </p:txBody>
        </p:sp>
        <p:sp>
          <p:nvSpPr>
            <p:cNvPr id="1147" name="Google Shape;1147;p67"/>
            <p:cNvSpPr txBox="1"/>
            <p:nvPr/>
          </p:nvSpPr>
          <p:spPr>
            <a:xfrm>
              <a:off x="5091112" y="3819525"/>
              <a:ext cx="10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</p:grpSp>
      <p:sp>
        <p:nvSpPr>
          <p:cNvPr id="1148" name="Google Shape;1148;p67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68"/>
          <p:cNvSpPr/>
          <p:nvPr/>
        </p:nvSpPr>
        <p:spPr>
          <a:xfrm>
            <a:off x="4684425" y="880675"/>
            <a:ext cx="4174200" cy="141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68"/>
          <p:cNvSpPr/>
          <p:nvPr/>
        </p:nvSpPr>
        <p:spPr>
          <a:xfrm>
            <a:off x="6072188" y="1646635"/>
            <a:ext cx="676200" cy="357000"/>
          </a:xfrm>
          <a:prstGeom prst="ellipse">
            <a:avLst/>
          </a:prstGeom>
          <a:noFill/>
          <a:ln cap="flat" cmpd="sng" w="1587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6" name="Google Shape;1156;p68"/>
          <p:cNvSpPr/>
          <p:nvPr/>
        </p:nvSpPr>
        <p:spPr>
          <a:xfrm>
            <a:off x="7037388" y="1646635"/>
            <a:ext cx="676200" cy="357000"/>
          </a:xfrm>
          <a:prstGeom prst="ellipse">
            <a:avLst/>
          </a:prstGeom>
          <a:noFill/>
          <a:ln cap="flat" cmpd="sng" w="1587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7" name="Google Shape;1157;p68"/>
          <p:cNvSpPr/>
          <p:nvPr/>
        </p:nvSpPr>
        <p:spPr>
          <a:xfrm>
            <a:off x="8002588" y="1646635"/>
            <a:ext cx="676200" cy="357000"/>
          </a:xfrm>
          <a:prstGeom prst="ellipse">
            <a:avLst/>
          </a:prstGeom>
          <a:noFill/>
          <a:ln cap="flat" cmpd="sng" w="1587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8" name="Google Shape;1158;p68"/>
          <p:cNvSpPr/>
          <p:nvPr/>
        </p:nvSpPr>
        <p:spPr>
          <a:xfrm>
            <a:off x="5106988" y="1646635"/>
            <a:ext cx="676200" cy="357000"/>
          </a:xfrm>
          <a:prstGeom prst="ellipse">
            <a:avLst/>
          </a:prstGeom>
          <a:noFill/>
          <a:ln cap="flat" cmpd="sng" w="1587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9" name="Google Shape;1159;p68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FSM Example: Secure Car Key</a:t>
            </a:r>
            <a:endParaRPr/>
          </a:p>
        </p:txBody>
      </p:sp>
      <p:sp>
        <p:nvSpPr>
          <p:cNvPr id="1160" name="Google Shape;1160;p68"/>
          <p:cNvSpPr txBox="1"/>
          <p:nvPr>
            <p:ph idx="1" type="body"/>
          </p:nvPr>
        </p:nvSpPr>
        <p:spPr>
          <a:xfrm>
            <a:off x="228600" y="914400"/>
            <a:ext cx="4343400" cy="20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Nice feature of FSM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evaluate output behavior for different input sequence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Timing diagrams show states and output values for different input waveforms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68"/>
          <p:cNvSpPr/>
          <p:nvPr/>
        </p:nvSpPr>
        <p:spPr>
          <a:xfrm>
            <a:off x="5999163" y="1264444"/>
            <a:ext cx="2338387" cy="382190"/>
          </a:xfrm>
          <a:custGeom>
            <a:rect b="b" l="l" r="r" t="t"/>
            <a:pathLst>
              <a:path extrusionOk="0" h="97" w="446">
                <a:moveTo>
                  <a:pt x="0" y="0"/>
                </a:moveTo>
                <a:cubicBezTo>
                  <a:pt x="358" y="0"/>
                  <a:pt x="358" y="0"/>
                  <a:pt x="358" y="0"/>
                </a:cubicBezTo>
                <a:cubicBezTo>
                  <a:pt x="358" y="0"/>
                  <a:pt x="446" y="0"/>
                  <a:pt x="446" y="97"/>
                </a:cubicBezTo>
              </a:path>
            </a:pathLst>
          </a:custGeom>
          <a:noFill/>
          <a:ln cap="flat" cmpd="sng" w="206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2" name="Google Shape;1162;p68"/>
          <p:cNvSpPr/>
          <p:nvPr/>
        </p:nvSpPr>
        <p:spPr>
          <a:xfrm>
            <a:off x="5846763" y="1233487"/>
            <a:ext cx="168275" cy="63103"/>
          </a:xfrm>
          <a:custGeom>
            <a:rect b="b" l="l" r="r" t="t"/>
            <a:pathLst>
              <a:path extrusionOk="0" h="53" w="106">
                <a:moveTo>
                  <a:pt x="0" y="26"/>
                </a:moveTo>
                <a:lnTo>
                  <a:pt x="106" y="53"/>
                </a:lnTo>
                <a:lnTo>
                  <a:pt x="106" y="0"/>
                </a:lnTo>
                <a:lnTo>
                  <a:pt x="0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3" name="Google Shape;1163;p68"/>
          <p:cNvSpPr/>
          <p:nvPr/>
        </p:nvSpPr>
        <p:spPr>
          <a:xfrm>
            <a:off x="5805488" y="1343025"/>
            <a:ext cx="157162" cy="105965"/>
          </a:xfrm>
          <a:custGeom>
            <a:rect b="b" l="l" r="r" t="t"/>
            <a:pathLst>
              <a:path extrusionOk="0" h="89" w="99">
                <a:moveTo>
                  <a:pt x="0" y="0"/>
                </a:moveTo>
                <a:lnTo>
                  <a:pt x="62" y="89"/>
                </a:lnTo>
                <a:lnTo>
                  <a:pt x="99" y="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4" name="Google Shape;1164;p68"/>
          <p:cNvCxnSpPr/>
          <p:nvPr/>
        </p:nvCxnSpPr>
        <p:spPr>
          <a:xfrm>
            <a:off x="5443538" y="1414462"/>
            <a:ext cx="1500" cy="1419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65" name="Google Shape;1165;p68"/>
          <p:cNvSpPr/>
          <p:nvPr/>
        </p:nvSpPr>
        <p:spPr>
          <a:xfrm>
            <a:off x="5400675" y="1508522"/>
            <a:ext cx="84137" cy="126206"/>
          </a:xfrm>
          <a:custGeom>
            <a:rect b="b" l="l" r="r" t="t"/>
            <a:pathLst>
              <a:path extrusionOk="0" h="106" w="53">
                <a:moveTo>
                  <a:pt x="27" y="106"/>
                </a:moveTo>
                <a:lnTo>
                  <a:pt x="53" y="0"/>
                </a:lnTo>
                <a:lnTo>
                  <a:pt x="0" y="0"/>
                </a:lnTo>
                <a:lnTo>
                  <a:pt x="27" y="1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6" name="Google Shape;1166;p68"/>
          <p:cNvCxnSpPr/>
          <p:nvPr/>
        </p:nvCxnSpPr>
        <p:spPr>
          <a:xfrm>
            <a:off x="5018088" y="938212"/>
            <a:ext cx="120600" cy="1059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67" name="Google Shape;1167;p68"/>
          <p:cNvSpPr/>
          <p:nvPr/>
        </p:nvSpPr>
        <p:spPr>
          <a:xfrm>
            <a:off x="5086350" y="1004887"/>
            <a:ext cx="141287" cy="117872"/>
          </a:xfrm>
          <a:custGeom>
            <a:rect b="b" l="l" r="r" t="t"/>
            <a:pathLst>
              <a:path extrusionOk="0" h="99" w="89">
                <a:moveTo>
                  <a:pt x="89" y="99"/>
                </a:moveTo>
                <a:lnTo>
                  <a:pt x="40" y="0"/>
                </a:lnTo>
                <a:lnTo>
                  <a:pt x="0" y="36"/>
                </a:lnTo>
                <a:lnTo>
                  <a:pt x="89" y="9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8" name="Google Shape;1168;p68"/>
          <p:cNvCxnSpPr/>
          <p:nvPr/>
        </p:nvCxnSpPr>
        <p:spPr>
          <a:xfrm>
            <a:off x="5783263" y="1822847"/>
            <a:ext cx="1428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69" name="Google Shape;1169;p68"/>
          <p:cNvSpPr/>
          <p:nvPr/>
        </p:nvSpPr>
        <p:spPr>
          <a:xfrm>
            <a:off x="5894388" y="1791891"/>
            <a:ext cx="168275" cy="63103"/>
          </a:xfrm>
          <a:custGeom>
            <a:rect b="b" l="l" r="r" t="t"/>
            <a:pathLst>
              <a:path extrusionOk="0" h="53" w="106">
                <a:moveTo>
                  <a:pt x="106" y="26"/>
                </a:moveTo>
                <a:lnTo>
                  <a:pt x="0" y="0"/>
                </a:lnTo>
                <a:lnTo>
                  <a:pt x="0" y="53"/>
                </a:lnTo>
                <a:lnTo>
                  <a:pt x="106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0" name="Google Shape;1170;p68"/>
          <p:cNvCxnSpPr/>
          <p:nvPr/>
        </p:nvCxnSpPr>
        <p:spPr>
          <a:xfrm>
            <a:off x="6754813" y="1822847"/>
            <a:ext cx="1413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71" name="Google Shape;1171;p68"/>
          <p:cNvSpPr/>
          <p:nvPr/>
        </p:nvSpPr>
        <p:spPr>
          <a:xfrm>
            <a:off x="6864350" y="1791891"/>
            <a:ext cx="168275" cy="63103"/>
          </a:xfrm>
          <a:custGeom>
            <a:rect b="b" l="l" r="r" t="t"/>
            <a:pathLst>
              <a:path extrusionOk="0" h="53" w="106">
                <a:moveTo>
                  <a:pt x="106" y="26"/>
                </a:moveTo>
                <a:lnTo>
                  <a:pt x="0" y="0"/>
                </a:lnTo>
                <a:lnTo>
                  <a:pt x="0" y="53"/>
                </a:lnTo>
                <a:lnTo>
                  <a:pt x="106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2" name="Google Shape;1172;p68"/>
          <p:cNvCxnSpPr/>
          <p:nvPr/>
        </p:nvCxnSpPr>
        <p:spPr>
          <a:xfrm>
            <a:off x="7718425" y="1822847"/>
            <a:ext cx="142800" cy="1200"/>
          </a:xfrm>
          <a:prstGeom prst="straightConnector1">
            <a:avLst/>
          </a:prstGeom>
          <a:noFill/>
          <a:ln cap="flat" cmpd="sng" w="206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73" name="Google Shape;1173;p68"/>
          <p:cNvSpPr/>
          <p:nvPr/>
        </p:nvSpPr>
        <p:spPr>
          <a:xfrm>
            <a:off x="7829550" y="1791891"/>
            <a:ext cx="168275" cy="63103"/>
          </a:xfrm>
          <a:custGeom>
            <a:rect b="b" l="l" r="r" t="t"/>
            <a:pathLst>
              <a:path extrusionOk="0" h="53" w="106">
                <a:moveTo>
                  <a:pt x="106" y="26"/>
                </a:moveTo>
                <a:lnTo>
                  <a:pt x="0" y="0"/>
                </a:lnTo>
                <a:lnTo>
                  <a:pt x="0" y="53"/>
                </a:lnTo>
                <a:lnTo>
                  <a:pt x="106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4" name="Google Shape;1174;p68"/>
          <p:cNvSpPr/>
          <p:nvPr/>
        </p:nvSpPr>
        <p:spPr>
          <a:xfrm>
            <a:off x="5049838" y="1110853"/>
            <a:ext cx="785700" cy="303600"/>
          </a:xfrm>
          <a:prstGeom prst="ellipse">
            <a:avLst/>
          </a:prstGeom>
          <a:noFill/>
          <a:ln cap="flat" cmpd="sng" w="15875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5" name="Google Shape;1175;p68"/>
          <p:cNvSpPr txBox="1"/>
          <p:nvPr/>
        </p:nvSpPr>
        <p:spPr>
          <a:xfrm>
            <a:off x="5357834" y="1752600"/>
            <a:ext cx="342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K1</a:t>
            </a:r>
            <a:endParaRPr/>
          </a:p>
        </p:txBody>
      </p:sp>
      <p:sp>
        <p:nvSpPr>
          <p:cNvPr id="1176" name="Google Shape;1176;p68"/>
          <p:cNvSpPr txBox="1"/>
          <p:nvPr/>
        </p:nvSpPr>
        <p:spPr>
          <a:xfrm>
            <a:off x="6327775" y="1752600"/>
            <a:ext cx="342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K2</a:t>
            </a:r>
            <a:endParaRPr/>
          </a:p>
        </p:txBody>
      </p:sp>
      <p:sp>
        <p:nvSpPr>
          <p:cNvPr id="1177" name="Google Shape;1177;p68"/>
          <p:cNvSpPr txBox="1"/>
          <p:nvPr/>
        </p:nvSpPr>
        <p:spPr>
          <a:xfrm>
            <a:off x="7302500" y="1752600"/>
            <a:ext cx="342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K3</a:t>
            </a:r>
            <a:endParaRPr/>
          </a:p>
        </p:txBody>
      </p:sp>
      <p:sp>
        <p:nvSpPr>
          <p:cNvPr id="1178" name="Google Shape;1178;p68"/>
          <p:cNvSpPr txBox="1"/>
          <p:nvPr/>
        </p:nvSpPr>
        <p:spPr>
          <a:xfrm>
            <a:off x="8255000" y="1752600"/>
            <a:ext cx="342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K4</a:t>
            </a:r>
            <a:endParaRPr/>
          </a:p>
        </p:txBody>
      </p:sp>
      <p:sp>
        <p:nvSpPr>
          <p:cNvPr id="1179" name="Google Shape;1179;p68"/>
          <p:cNvSpPr txBox="1"/>
          <p:nvPr/>
        </p:nvSpPr>
        <p:spPr>
          <a:xfrm>
            <a:off x="5324475" y="2076450"/>
            <a:ext cx="4350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r=1</a:t>
            </a:r>
            <a:endParaRPr/>
          </a:p>
        </p:txBody>
      </p:sp>
      <p:sp>
        <p:nvSpPr>
          <p:cNvPr id="1180" name="Google Shape;1180;p68"/>
          <p:cNvSpPr txBox="1"/>
          <p:nvPr/>
        </p:nvSpPr>
        <p:spPr>
          <a:xfrm>
            <a:off x="6296025" y="2076450"/>
            <a:ext cx="342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r=1</a:t>
            </a:r>
            <a:endParaRPr/>
          </a:p>
        </p:txBody>
      </p:sp>
      <p:sp>
        <p:nvSpPr>
          <p:cNvPr id="1181" name="Google Shape;1181;p68"/>
          <p:cNvSpPr txBox="1"/>
          <p:nvPr/>
        </p:nvSpPr>
        <p:spPr>
          <a:xfrm>
            <a:off x="7270750" y="2076450"/>
            <a:ext cx="4350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r=0</a:t>
            </a:r>
            <a:endParaRPr/>
          </a:p>
        </p:txBody>
      </p:sp>
      <p:sp>
        <p:nvSpPr>
          <p:cNvPr id="1182" name="Google Shape;1182;p68"/>
          <p:cNvSpPr txBox="1"/>
          <p:nvPr/>
        </p:nvSpPr>
        <p:spPr>
          <a:xfrm>
            <a:off x="8223250" y="2076450"/>
            <a:ext cx="342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r=1</a:t>
            </a:r>
            <a:endParaRPr/>
          </a:p>
        </p:txBody>
      </p:sp>
      <p:sp>
        <p:nvSpPr>
          <p:cNvPr id="1183" name="Google Shape;1183;p68"/>
          <p:cNvSpPr txBox="1"/>
          <p:nvPr/>
        </p:nvSpPr>
        <p:spPr>
          <a:xfrm>
            <a:off x="5286375" y="1193006"/>
            <a:ext cx="1557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</p:txBody>
      </p:sp>
      <p:sp>
        <p:nvSpPr>
          <p:cNvPr id="1184" name="Google Shape;1184;p68"/>
          <p:cNvSpPr txBox="1"/>
          <p:nvPr/>
        </p:nvSpPr>
        <p:spPr>
          <a:xfrm>
            <a:off x="5422900" y="1193000"/>
            <a:ext cx="234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ait</a:t>
            </a:r>
            <a:endParaRPr/>
          </a:p>
        </p:txBody>
      </p:sp>
      <p:sp>
        <p:nvSpPr>
          <p:cNvPr id="1185" name="Google Shape;1185;p68"/>
          <p:cNvSpPr/>
          <p:nvPr/>
        </p:nvSpPr>
        <p:spPr>
          <a:xfrm>
            <a:off x="5605463" y="1363266"/>
            <a:ext cx="434975" cy="278606"/>
          </a:xfrm>
          <a:custGeom>
            <a:rect b="b" l="l" r="r" t="t"/>
            <a:pathLst>
              <a:path extrusionOk="0" h="71" w="83">
                <a:moveTo>
                  <a:pt x="0" y="11"/>
                </a:moveTo>
                <a:cubicBezTo>
                  <a:pt x="0" y="11"/>
                  <a:pt x="3" y="71"/>
                  <a:pt x="54" y="39"/>
                </a:cubicBezTo>
                <a:cubicBezTo>
                  <a:pt x="54" y="39"/>
                  <a:pt x="83" y="18"/>
                  <a:pt x="43" y="0"/>
                </a:cubicBezTo>
              </a:path>
            </a:pathLst>
          </a:custGeom>
          <a:noFill/>
          <a:ln cap="flat" cmpd="sng" w="206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6" name="Google Shape;1186;p68"/>
          <p:cNvSpPr txBox="1"/>
          <p:nvPr/>
        </p:nvSpPr>
        <p:spPr>
          <a:xfrm>
            <a:off x="4845050" y="1372800"/>
            <a:ext cx="342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r=0</a:t>
            </a:r>
            <a:endParaRPr/>
          </a:p>
        </p:txBody>
      </p:sp>
      <p:sp>
        <p:nvSpPr>
          <p:cNvPr id="1187" name="Google Shape;1187;p68"/>
          <p:cNvSpPr txBox="1"/>
          <p:nvPr/>
        </p:nvSpPr>
        <p:spPr>
          <a:xfrm>
            <a:off x="7302500" y="935950"/>
            <a:ext cx="5175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/>
              <a:t>I</a:t>
            </a: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nputs:</a:t>
            </a:r>
            <a:endParaRPr/>
          </a:p>
        </p:txBody>
      </p:sp>
      <p:sp>
        <p:nvSpPr>
          <p:cNvPr id="1188" name="Google Shape;1188;p68"/>
          <p:cNvSpPr txBox="1"/>
          <p:nvPr/>
        </p:nvSpPr>
        <p:spPr>
          <a:xfrm>
            <a:off x="7778750" y="914400"/>
            <a:ext cx="1683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endParaRPr/>
          </a:p>
        </p:txBody>
      </p:sp>
      <p:sp>
        <p:nvSpPr>
          <p:cNvPr id="1189" name="Google Shape;1189;p68"/>
          <p:cNvSpPr txBox="1"/>
          <p:nvPr/>
        </p:nvSpPr>
        <p:spPr>
          <a:xfrm>
            <a:off x="7894638" y="914400"/>
            <a:ext cx="45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90" name="Google Shape;1190;p68"/>
          <p:cNvSpPr txBox="1"/>
          <p:nvPr/>
        </p:nvSpPr>
        <p:spPr>
          <a:xfrm>
            <a:off x="8040688" y="914400"/>
            <a:ext cx="1191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/>
          </a:p>
        </p:txBody>
      </p:sp>
      <p:sp>
        <p:nvSpPr>
          <p:cNvPr id="1191" name="Google Shape;1191;p68"/>
          <p:cNvSpPr txBox="1"/>
          <p:nvPr/>
        </p:nvSpPr>
        <p:spPr>
          <a:xfrm>
            <a:off x="8156575" y="914400"/>
            <a:ext cx="5985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utputs:</a:t>
            </a:r>
            <a:endParaRPr/>
          </a:p>
        </p:txBody>
      </p:sp>
      <p:sp>
        <p:nvSpPr>
          <p:cNvPr id="1192" name="Google Shape;1192;p68"/>
          <p:cNvSpPr txBox="1"/>
          <p:nvPr/>
        </p:nvSpPr>
        <p:spPr>
          <a:xfrm>
            <a:off x="8656892" y="914400"/>
            <a:ext cx="2016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</a:t>
            </a:r>
            <a:endParaRPr/>
          </a:p>
        </p:txBody>
      </p:sp>
      <p:sp>
        <p:nvSpPr>
          <p:cNvPr id="1193" name="Google Shape;1193;p68"/>
          <p:cNvSpPr txBox="1"/>
          <p:nvPr/>
        </p:nvSpPr>
        <p:spPr>
          <a:xfrm>
            <a:off x="5983288" y="1425178"/>
            <a:ext cx="72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1194" name="Google Shape;1194;p68"/>
          <p:cNvSpPr txBox="1"/>
          <p:nvPr/>
        </p:nvSpPr>
        <p:spPr>
          <a:xfrm>
            <a:off x="6057900" y="1425178"/>
            <a:ext cx="555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/>
          </a:p>
        </p:txBody>
      </p:sp>
      <p:sp>
        <p:nvSpPr>
          <p:cNvPr id="1195" name="Google Shape;1195;p68"/>
          <p:cNvSpPr txBox="1"/>
          <p:nvPr/>
        </p:nvSpPr>
        <p:spPr>
          <a:xfrm>
            <a:off x="5297488" y="1443037"/>
            <a:ext cx="729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grpSp>
        <p:nvGrpSpPr>
          <p:cNvPr id="1196" name="Google Shape;1196;p68"/>
          <p:cNvGrpSpPr/>
          <p:nvPr/>
        </p:nvGrpSpPr>
        <p:grpSpPr>
          <a:xfrm>
            <a:off x="609579" y="3295697"/>
            <a:ext cx="3822685" cy="1282412"/>
            <a:chOff x="4954587" y="4337050"/>
            <a:chExt cx="3594100" cy="1566975"/>
          </a:xfrm>
        </p:grpSpPr>
        <p:sp>
          <p:nvSpPr>
            <p:cNvPr id="1197" name="Google Shape;1197;p68"/>
            <p:cNvSpPr txBox="1"/>
            <p:nvPr/>
          </p:nvSpPr>
          <p:spPr>
            <a:xfrm>
              <a:off x="5621337" y="5067300"/>
              <a:ext cx="2922600" cy="255600"/>
            </a:xfrm>
            <a:prstGeom prst="rect">
              <a:avLst/>
            </a:prstGeom>
            <a:solidFill>
              <a:srgbClr val="C7D8F0"/>
            </a:solidFill>
            <a:ln cap="flat" cmpd="sng" w="1427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8" name="Google Shape;1198;p68"/>
            <p:cNvSpPr txBox="1"/>
            <p:nvPr/>
          </p:nvSpPr>
          <p:spPr>
            <a:xfrm>
              <a:off x="5743808" y="5113324"/>
              <a:ext cx="2904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100"/>
                <a:t>W</a:t>
              </a: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ait</a:t>
              </a:r>
              <a:endParaRPr sz="1300"/>
            </a:p>
          </p:txBody>
        </p:sp>
        <p:sp>
          <p:nvSpPr>
            <p:cNvPr id="1199" name="Google Shape;1199;p68"/>
            <p:cNvSpPr txBox="1"/>
            <p:nvPr/>
          </p:nvSpPr>
          <p:spPr>
            <a:xfrm>
              <a:off x="6135407" y="5113324"/>
              <a:ext cx="3225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100"/>
                <a:t>W</a:t>
              </a: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ait</a:t>
              </a:r>
              <a:endParaRPr sz="1300"/>
            </a:p>
          </p:txBody>
        </p:sp>
        <p:sp>
          <p:nvSpPr>
            <p:cNvPr id="1200" name="Google Shape;1200;p68"/>
            <p:cNvSpPr txBox="1"/>
            <p:nvPr/>
          </p:nvSpPr>
          <p:spPr>
            <a:xfrm>
              <a:off x="6548437" y="5113337"/>
              <a:ext cx="1746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K1</a:t>
              </a:r>
              <a:endParaRPr sz="1300"/>
            </a:p>
          </p:txBody>
        </p:sp>
        <p:sp>
          <p:nvSpPr>
            <p:cNvPr id="1201" name="Google Shape;1201;p68"/>
            <p:cNvSpPr txBox="1"/>
            <p:nvPr/>
          </p:nvSpPr>
          <p:spPr>
            <a:xfrm>
              <a:off x="6896100" y="5113337"/>
              <a:ext cx="1746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K2</a:t>
              </a:r>
              <a:endParaRPr sz="1300"/>
            </a:p>
          </p:txBody>
        </p:sp>
        <p:sp>
          <p:nvSpPr>
            <p:cNvPr id="1202" name="Google Shape;1202;p68"/>
            <p:cNvSpPr txBox="1"/>
            <p:nvPr/>
          </p:nvSpPr>
          <p:spPr>
            <a:xfrm>
              <a:off x="7248525" y="5113337"/>
              <a:ext cx="1746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K3</a:t>
              </a:r>
              <a:endParaRPr sz="1300"/>
            </a:p>
          </p:txBody>
        </p:sp>
        <p:sp>
          <p:nvSpPr>
            <p:cNvPr id="1203" name="Google Shape;1203;p68"/>
            <p:cNvSpPr txBox="1"/>
            <p:nvPr/>
          </p:nvSpPr>
          <p:spPr>
            <a:xfrm>
              <a:off x="7600950" y="5113337"/>
              <a:ext cx="1746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K4</a:t>
              </a:r>
              <a:endParaRPr sz="1300"/>
            </a:p>
          </p:txBody>
        </p:sp>
        <p:sp>
          <p:nvSpPr>
            <p:cNvPr id="1204" name="Google Shape;1204;p68"/>
            <p:cNvSpPr txBox="1"/>
            <p:nvPr/>
          </p:nvSpPr>
          <p:spPr>
            <a:xfrm>
              <a:off x="7885090" y="5113324"/>
              <a:ext cx="3225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</a:t>
              </a:r>
              <a:endParaRPr sz="1300"/>
            </a:p>
          </p:txBody>
        </p:sp>
        <p:sp>
          <p:nvSpPr>
            <p:cNvPr id="1205" name="Google Shape;1205;p68"/>
            <p:cNvSpPr txBox="1"/>
            <p:nvPr/>
          </p:nvSpPr>
          <p:spPr>
            <a:xfrm>
              <a:off x="8207588" y="5113324"/>
              <a:ext cx="2904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100"/>
                <a:t>W</a:t>
              </a:r>
              <a:r>
                <a:rPr b="0" i="0" lang="en" sz="11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ait</a:t>
              </a:r>
              <a:endParaRPr sz="1300"/>
            </a:p>
          </p:txBody>
        </p:sp>
        <p:cxnSp>
          <p:nvCxnSpPr>
            <p:cNvPr id="1206" name="Google Shape;1206;p68"/>
            <p:cNvCxnSpPr/>
            <p:nvPr/>
          </p:nvCxnSpPr>
          <p:spPr>
            <a:xfrm>
              <a:off x="5738812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07" name="Google Shape;1207;p68"/>
            <p:cNvSpPr/>
            <p:nvPr/>
          </p:nvSpPr>
          <p:spPr>
            <a:xfrm>
              <a:off x="6092825" y="5067300"/>
              <a:ext cx="1587" cy="260350"/>
            </a:xfrm>
            <a:custGeom>
              <a:rect b="b" l="l" r="r" t="t"/>
              <a:pathLst>
                <a:path extrusionOk="0" h="164" w="1">
                  <a:moveTo>
                    <a:pt x="0" y="0"/>
                  </a:moveTo>
                  <a:lnTo>
                    <a:pt x="0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08" name="Google Shape;1208;p68"/>
            <p:cNvCxnSpPr/>
            <p:nvPr/>
          </p:nvCxnSpPr>
          <p:spPr>
            <a:xfrm>
              <a:off x="6092825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09" name="Google Shape;1209;p68"/>
            <p:cNvCxnSpPr/>
            <p:nvPr/>
          </p:nvCxnSpPr>
          <p:spPr>
            <a:xfrm>
              <a:off x="6088062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10" name="Google Shape;1210;p68"/>
            <p:cNvSpPr/>
            <p:nvPr/>
          </p:nvSpPr>
          <p:spPr>
            <a:xfrm>
              <a:off x="6442075" y="5067300"/>
              <a:ext cx="1587" cy="260350"/>
            </a:xfrm>
            <a:custGeom>
              <a:rect b="b" l="l" r="r" t="t"/>
              <a:pathLst>
                <a:path extrusionOk="0" h="164" w="1">
                  <a:moveTo>
                    <a:pt x="0" y="0"/>
                  </a:moveTo>
                  <a:lnTo>
                    <a:pt x="0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1" name="Google Shape;1211;p68"/>
            <p:cNvCxnSpPr/>
            <p:nvPr/>
          </p:nvCxnSpPr>
          <p:spPr>
            <a:xfrm>
              <a:off x="6442075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12" name="Google Shape;1212;p68"/>
            <p:cNvSpPr/>
            <p:nvPr/>
          </p:nvSpPr>
          <p:spPr>
            <a:xfrm>
              <a:off x="6791325" y="5067300"/>
              <a:ext cx="1587" cy="260350"/>
            </a:xfrm>
            <a:custGeom>
              <a:rect b="b" l="l" r="r" t="t"/>
              <a:pathLst>
                <a:path extrusionOk="0" h="164" w="1">
                  <a:moveTo>
                    <a:pt x="0" y="0"/>
                  </a:moveTo>
                  <a:lnTo>
                    <a:pt x="0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3" name="Google Shape;1213;p68"/>
            <p:cNvCxnSpPr/>
            <p:nvPr/>
          </p:nvCxnSpPr>
          <p:spPr>
            <a:xfrm>
              <a:off x="6791325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14" name="Google Shape;1214;p68"/>
            <p:cNvSpPr/>
            <p:nvPr/>
          </p:nvSpPr>
          <p:spPr>
            <a:xfrm>
              <a:off x="7143750" y="5067300"/>
              <a:ext cx="1587" cy="260350"/>
            </a:xfrm>
            <a:custGeom>
              <a:rect b="b" l="l" r="r" t="t"/>
              <a:pathLst>
                <a:path extrusionOk="0" h="164" w="1">
                  <a:moveTo>
                    <a:pt x="0" y="0"/>
                  </a:moveTo>
                  <a:lnTo>
                    <a:pt x="0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5" name="Google Shape;1215;p68"/>
            <p:cNvCxnSpPr/>
            <p:nvPr/>
          </p:nvCxnSpPr>
          <p:spPr>
            <a:xfrm>
              <a:off x="7143750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16" name="Google Shape;1216;p68"/>
            <p:cNvSpPr/>
            <p:nvPr/>
          </p:nvSpPr>
          <p:spPr>
            <a:xfrm>
              <a:off x="7493000" y="5067300"/>
              <a:ext cx="1587" cy="260350"/>
            </a:xfrm>
            <a:custGeom>
              <a:rect b="b" l="l" r="r" t="t"/>
              <a:pathLst>
                <a:path extrusionOk="0" h="164" w="1">
                  <a:moveTo>
                    <a:pt x="0" y="0"/>
                  </a:moveTo>
                  <a:lnTo>
                    <a:pt x="0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7" name="Google Shape;1217;p68"/>
            <p:cNvCxnSpPr/>
            <p:nvPr/>
          </p:nvCxnSpPr>
          <p:spPr>
            <a:xfrm>
              <a:off x="7493000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18" name="Google Shape;1218;p68"/>
            <p:cNvSpPr/>
            <p:nvPr/>
          </p:nvSpPr>
          <p:spPr>
            <a:xfrm>
              <a:off x="7847012" y="5067300"/>
              <a:ext cx="1587" cy="260350"/>
            </a:xfrm>
            <a:custGeom>
              <a:rect b="b" l="l" r="r" t="t"/>
              <a:pathLst>
                <a:path extrusionOk="0" h="164" w="1">
                  <a:moveTo>
                    <a:pt x="0" y="0"/>
                  </a:moveTo>
                  <a:lnTo>
                    <a:pt x="0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19" name="Google Shape;1219;p68"/>
            <p:cNvCxnSpPr/>
            <p:nvPr/>
          </p:nvCxnSpPr>
          <p:spPr>
            <a:xfrm>
              <a:off x="7847012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20" name="Google Shape;1220;p68"/>
            <p:cNvSpPr/>
            <p:nvPr/>
          </p:nvSpPr>
          <p:spPr>
            <a:xfrm>
              <a:off x="8196262" y="5067300"/>
              <a:ext cx="1587" cy="260350"/>
            </a:xfrm>
            <a:custGeom>
              <a:rect b="b" l="l" r="r" t="t"/>
              <a:pathLst>
                <a:path extrusionOk="0" h="164" w="1">
                  <a:moveTo>
                    <a:pt x="0" y="0"/>
                  </a:moveTo>
                  <a:lnTo>
                    <a:pt x="0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21" name="Google Shape;1221;p68"/>
            <p:cNvCxnSpPr/>
            <p:nvPr/>
          </p:nvCxnSpPr>
          <p:spPr>
            <a:xfrm>
              <a:off x="8196262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22" name="Google Shape;1222;p68"/>
            <p:cNvCxnSpPr/>
            <p:nvPr/>
          </p:nvCxnSpPr>
          <p:spPr>
            <a:xfrm>
              <a:off x="6442075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23" name="Google Shape;1223;p68"/>
            <p:cNvCxnSpPr/>
            <p:nvPr/>
          </p:nvCxnSpPr>
          <p:spPr>
            <a:xfrm>
              <a:off x="6796087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24" name="Google Shape;1224;p68"/>
            <p:cNvCxnSpPr/>
            <p:nvPr/>
          </p:nvCxnSpPr>
          <p:spPr>
            <a:xfrm>
              <a:off x="7143750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25" name="Google Shape;1225;p68"/>
            <p:cNvCxnSpPr/>
            <p:nvPr/>
          </p:nvCxnSpPr>
          <p:spPr>
            <a:xfrm>
              <a:off x="7847012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26" name="Google Shape;1226;p68"/>
            <p:cNvCxnSpPr/>
            <p:nvPr/>
          </p:nvCxnSpPr>
          <p:spPr>
            <a:xfrm>
              <a:off x="7497762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27" name="Google Shape;1227;p68"/>
            <p:cNvCxnSpPr/>
            <p:nvPr/>
          </p:nvCxnSpPr>
          <p:spPr>
            <a:xfrm>
              <a:off x="8201025" y="5067300"/>
              <a:ext cx="1500" cy="2604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28" name="Google Shape;1228;p68"/>
            <p:cNvSpPr/>
            <p:nvPr/>
          </p:nvSpPr>
          <p:spPr>
            <a:xfrm>
              <a:off x="5537200" y="4351337"/>
              <a:ext cx="3011488" cy="207962"/>
            </a:xfrm>
            <a:custGeom>
              <a:rect b="b" l="l" r="r" t="t"/>
              <a:pathLst>
                <a:path extrusionOk="0" h="131" w="1897">
                  <a:moveTo>
                    <a:pt x="0" y="131"/>
                  </a:moveTo>
                  <a:lnTo>
                    <a:pt x="127" y="131"/>
                  </a:lnTo>
                  <a:lnTo>
                    <a:pt x="127" y="0"/>
                  </a:lnTo>
                  <a:lnTo>
                    <a:pt x="225" y="0"/>
                  </a:lnTo>
                  <a:lnTo>
                    <a:pt x="225" y="131"/>
                  </a:lnTo>
                  <a:lnTo>
                    <a:pt x="347" y="131"/>
                  </a:lnTo>
                  <a:lnTo>
                    <a:pt x="347" y="0"/>
                  </a:lnTo>
                  <a:lnTo>
                    <a:pt x="445" y="0"/>
                  </a:lnTo>
                  <a:lnTo>
                    <a:pt x="445" y="131"/>
                  </a:lnTo>
                  <a:lnTo>
                    <a:pt x="570" y="131"/>
                  </a:lnTo>
                  <a:lnTo>
                    <a:pt x="570" y="0"/>
                  </a:lnTo>
                  <a:lnTo>
                    <a:pt x="668" y="0"/>
                  </a:lnTo>
                  <a:lnTo>
                    <a:pt x="668" y="131"/>
                  </a:lnTo>
                  <a:lnTo>
                    <a:pt x="790" y="131"/>
                  </a:lnTo>
                  <a:lnTo>
                    <a:pt x="790" y="0"/>
                  </a:lnTo>
                  <a:lnTo>
                    <a:pt x="888" y="0"/>
                  </a:lnTo>
                  <a:lnTo>
                    <a:pt x="888" y="131"/>
                  </a:lnTo>
                  <a:lnTo>
                    <a:pt x="1012" y="131"/>
                  </a:lnTo>
                  <a:lnTo>
                    <a:pt x="1012" y="0"/>
                  </a:lnTo>
                  <a:lnTo>
                    <a:pt x="1107" y="0"/>
                  </a:lnTo>
                  <a:lnTo>
                    <a:pt x="1107" y="131"/>
                  </a:lnTo>
                  <a:lnTo>
                    <a:pt x="1235" y="131"/>
                  </a:lnTo>
                  <a:lnTo>
                    <a:pt x="1235" y="0"/>
                  </a:lnTo>
                  <a:lnTo>
                    <a:pt x="1327" y="0"/>
                  </a:lnTo>
                  <a:lnTo>
                    <a:pt x="1327" y="131"/>
                  </a:lnTo>
                  <a:lnTo>
                    <a:pt x="1455" y="131"/>
                  </a:lnTo>
                  <a:lnTo>
                    <a:pt x="1455" y="0"/>
                  </a:lnTo>
                  <a:lnTo>
                    <a:pt x="1550" y="0"/>
                  </a:lnTo>
                  <a:lnTo>
                    <a:pt x="1550" y="131"/>
                  </a:lnTo>
                  <a:lnTo>
                    <a:pt x="1675" y="131"/>
                  </a:lnTo>
                  <a:lnTo>
                    <a:pt x="1675" y="0"/>
                  </a:lnTo>
                  <a:lnTo>
                    <a:pt x="1773" y="0"/>
                  </a:lnTo>
                  <a:lnTo>
                    <a:pt x="1773" y="131"/>
                  </a:lnTo>
                  <a:lnTo>
                    <a:pt x="1897" y="131"/>
                  </a:lnTo>
                </a:path>
              </a:pathLst>
            </a:custGeom>
            <a:noFill/>
            <a:ln cap="flat" cmpd="sng" w="190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29" name="Google Shape;1229;p68"/>
            <p:cNvSpPr/>
            <p:nvPr/>
          </p:nvSpPr>
          <p:spPr>
            <a:xfrm>
              <a:off x="5532437" y="4743450"/>
              <a:ext cx="3016250" cy="187325"/>
            </a:xfrm>
            <a:custGeom>
              <a:rect b="b" l="l" r="r" t="t"/>
              <a:pathLst>
                <a:path extrusionOk="0" h="118" w="1900">
                  <a:moveTo>
                    <a:pt x="1900" y="118"/>
                  </a:moveTo>
                  <a:lnTo>
                    <a:pt x="962" y="118"/>
                  </a:lnTo>
                  <a:lnTo>
                    <a:pt x="962" y="0"/>
                  </a:lnTo>
                  <a:lnTo>
                    <a:pt x="478" y="0"/>
                  </a:lnTo>
                  <a:lnTo>
                    <a:pt x="478" y="118"/>
                  </a:lnTo>
                  <a:lnTo>
                    <a:pt x="0" y="118"/>
                  </a:lnTo>
                </a:path>
              </a:pathLst>
            </a:custGeom>
            <a:noFill/>
            <a:ln cap="flat" cmpd="sng" w="190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0" name="Google Shape;1230;p68"/>
            <p:cNvSpPr/>
            <p:nvPr/>
          </p:nvSpPr>
          <p:spPr>
            <a:xfrm>
              <a:off x="5532437" y="5653087"/>
              <a:ext cx="3016250" cy="187325"/>
            </a:xfrm>
            <a:custGeom>
              <a:rect b="b" l="l" r="r" t="t"/>
              <a:pathLst>
                <a:path extrusionOk="0" h="118" w="1900">
                  <a:moveTo>
                    <a:pt x="1900" y="118"/>
                  </a:moveTo>
                  <a:lnTo>
                    <a:pt x="1458" y="118"/>
                  </a:lnTo>
                  <a:lnTo>
                    <a:pt x="1458" y="0"/>
                  </a:lnTo>
                  <a:lnTo>
                    <a:pt x="1238" y="0"/>
                  </a:lnTo>
                  <a:lnTo>
                    <a:pt x="1238" y="118"/>
                  </a:lnTo>
                  <a:lnTo>
                    <a:pt x="1015" y="118"/>
                  </a:lnTo>
                  <a:lnTo>
                    <a:pt x="1015" y="0"/>
                  </a:lnTo>
                  <a:lnTo>
                    <a:pt x="573" y="0"/>
                  </a:lnTo>
                  <a:lnTo>
                    <a:pt x="573" y="118"/>
                  </a:lnTo>
                  <a:lnTo>
                    <a:pt x="0" y="118"/>
                  </a:lnTo>
                </a:path>
              </a:pathLst>
            </a:custGeom>
            <a:noFill/>
            <a:ln cap="flat" cmpd="sng" w="190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1" name="Google Shape;1231;p68"/>
            <p:cNvSpPr txBox="1"/>
            <p:nvPr/>
          </p:nvSpPr>
          <p:spPr>
            <a:xfrm>
              <a:off x="5297487" y="4337050"/>
              <a:ext cx="1761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32" name="Google Shape;1232;p68"/>
            <p:cNvSpPr txBox="1"/>
            <p:nvPr/>
          </p:nvSpPr>
          <p:spPr>
            <a:xfrm>
              <a:off x="5077327" y="4609292"/>
              <a:ext cx="473100" cy="1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</a:rPr>
                <a:t>I</a:t>
              </a: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nputs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33" name="Google Shape;1233;p68"/>
            <p:cNvSpPr txBox="1"/>
            <p:nvPr/>
          </p:nvSpPr>
          <p:spPr>
            <a:xfrm>
              <a:off x="4954587" y="5502275"/>
              <a:ext cx="1032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/>
            </a:p>
          </p:txBody>
        </p:sp>
        <p:sp>
          <p:nvSpPr>
            <p:cNvPr id="1234" name="Google Shape;1234;p68"/>
            <p:cNvSpPr txBox="1"/>
            <p:nvPr/>
          </p:nvSpPr>
          <p:spPr>
            <a:xfrm>
              <a:off x="4969770" y="5502284"/>
              <a:ext cx="5628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</a:rPr>
                <a:t>O</a:t>
              </a: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utputs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35" name="Google Shape;1235;p68"/>
            <p:cNvSpPr txBox="1"/>
            <p:nvPr/>
          </p:nvSpPr>
          <p:spPr>
            <a:xfrm>
              <a:off x="5159174" y="5105412"/>
              <a:ext cx="651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8"/>
            <p:cNvSpPr txBox="1"/>
            <p:nvPr/>
          </p:nvSpPr>
          <p:spPr>
            <a:xfrm>
              <a:off x="5130848" y="5105412"/>
              <a:ext cx="1746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/>
                <a:t>S</a:t>
              </a: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/>
            </a:p>
          </p:txBody>
        </p:sp>
        <p:sp>
          <p:nvSpPr>
            <p:cNvPr id="1237" name="Google Shape;1237;p68"/>
            <p:cNvSpPr txBox="1"/>
            <p:nvPr/>
          </p:nvSpPr>
          <p:spPr>
            <a:xfrm>
              <a:off x="5273675" y="5105400"/>
              <a:ext cx="651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238" name="Google Shape;1238;p68"/>
            <p:cNvSpPr txBox="1"/>
            <p:nvPr/>
          </p:nvSpPr>
          <p:spPr>
            <a:xfrm>
              <a:off x="4979333" y="5105412"/>
              <a:ext cx="4089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</a:rPr>
                <a:t>S</a:t>
              </a: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ta</a:t>
              </a:r>
              <a:r>
                <a:rPr lang="en" sz="1200">
                  <a:solidFill>
                    <a:schemeClr val="dk1"/>
                  </a:solidFill>
                </a:rPr>
                <a:t>te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39" name="Google Shape;1239;p68"/>
            <p:cNvSpPr txBox="1"/>
            <p:nvPr/>
          </p:nvSpPr>
          <p:spPr>
            <a:xfrm>
              <a:off x="5395912" y="5105400"/>
              <a:ext cx="651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sp>
          <p:nvSpPr>
            <p:cNvPr id="1240" name="Google Shape;1240;p68"/>
            <p:cNvSpPr txBox="1"/>
            <p:nvPr/>
          </p:nvSpPr>
          <p:spPr>
            <a:xfrm>
              <a:off x="5397500" y="4827587"/>
              <a:ext cx="651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41" name="Google Shape;1241;p68"/>
            <p:cNvSpPr txBox="1"/>
            <p:nvPr/>
          </p:nvSpPr>
          <p:spPr>
            <a:xfrm>
              <a:off x="5421312" y="5737225"/>
              <a:ext cx="47700" cy="1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1242" name="Google Shape;1242;p68"/>
          <p:cNvGrpSpPr/>
          <p:nvPr/>
        </p:nvGrpSpPr>
        <p:grpSpPr>
          <a:xfrm>
            <a:off x="4845050" y="3295650"/>
            <a:ext cx="3659187" cy="473972"/>
            <a:chOff x="4845050" y="3886200"/>
            <a:chExt cx="3659187" cy="631962"/>
          </a:xfrm>
        </p:grpSpPr>
        <p:sp>
          <p:nvSpPr>
            <p:cNvPr id="1243" name="Google Shape;1243;p68"/>
            <p:cNvSpPr/>
            <p:nvPr/>
          </p:nvSpPr>
          <p:spPr>
            <a:xfrm>
              <a:off x="5307012" y="3886200"/>
              <a:ext cx="3197225" cy="214312"/>
            </a:xfrm>
            <a:custGeom>
              <a:rect b="b" l="l" r="r" t="t"/>
              <a:pathLst>
                <a:path extrusionOk="0" h="135" w="2014">
                  <a:moveTo>
                    <a:pt x="0" y="135"/>
                  </a:moveTo>
                  <a:lnTo>
                    <a:pt x="145" y="135"/>
                  </a:lnTo>
                  <a:lnTo>
                    <a:pt x="145" y="0"/>
                  </a:lnTo>
                  <a:lnTo>
                    <a:pt x="255" y="0"/>
                  </a:lnTo>
                  <a:lnTo>
                    <a:pt x="255" y="135"/>
                  </a:lnTo>
                  <a:lnTo>
                    <a:pt x="396" y="135"/>
                  </a:lnTo>
                  <a:lnTo>
                    <a:pt x="396" y="0"/>
                  </a:lnTo>
                  <a:lnTo>
                    <a:pt x="504" y="0"/>
                  </a:lnTo>
                  <a:lnTo>
                    <a:pt x="504" y="135"/>
                  </a:lnTo>
                  <a:lnTo>
                    <a:pt x="648" y="135"/>
                  </a:lnTo>
                  <a:lnTo>
                    <a:pt x="648" y="0"/>
                  </a:lnTo>
                  <a:lnTo>
                    <a:pt x="759" y="0"/>
                  </a:lnTo>
                  <a:lnTo>
                    <a:pt x="759" y="135"/>
                  </a:lnTo>
                  <a:lnTo>
                    <a:pt x="897" y="135"/>
                  </a:lnTo>
                  <a:lnTo>
                    <a:pt x="897" y="0"/>
                  </a:lnTo>
                  <a:lnTo>
                    <a:pt x="1007" y="0"/>
                  </a:lnTo>
                  <a:lnTo>
                    <a:pt x="1007" y="135"/>
                  </a:lnTo>
                  <a:lnTo>
                    <a:pt x="1152" y="135"/>
                  </a:lnTo>
                  <a:lnTo>
                    <a:pt x="1152" y="0"/>
                  </a:lnTo>
                  <a:lnTo>
                    <a:pt x="1259" y="0"/>
                  </a:lnTo>
                  <a:lnTo>
                    <a:pt x="1259" y="135"/>
                  </a:lnTo>
                  <a:lnTo>
                    <a:pt x="1403" y="135"/>
                  </a:lnTo>
                  <a:lnTo>
                    <a:pt x="1403" y="0"/>
                  </a:lnTo>
                  <a:lnTo>
                    <a:pt x="1508" y="0"/>
                  </a:lnTo>
                  <a:lnTo>
                    <a:pt x="1508" y="135"/>
                  </a:lnTo>
                  <a:lnTo>
                    <a:pt x="1652" y="135"/>
                  </a:lnTo>
                  <a:lnTo>
                    <a:pt x="1652" y="0"/>
                  </a:lnTo>
                  <a:lnTo>
                    <a:pt x="1759" y="0"/>
                  </a:lnTo>
                  <a:lnTo>
                    <a:pt x="1759" y="135"/>
                  </a:lnTo>
                  <a:lnTo>
                    <a:pt x="1904" y="135"/>
                  </a:lnTo>
                  <a:lnTo>
                    <a:pt x="1904" y="0"/>
                  </a:lnTo>
                  <a:lnTo>
                    <a:pt x="2014" y="0"/>
                  </a:lnTo>
                  <a:lnTo>
                    <a:pt x="2014" y="135"/>
                  </a:lnTo>
                </a:path>
              </a:pathLst>
            </a:custGeom>
            <a:noFill/>
            <a:ln cap="flat" cmpd="sng" w="190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4" name="Google Shape;1244;p68"/>
            <p:cNvSpPr txBox="1"/>
            <p:nvPr/>
          </p:nvSpPr>
          <p:spPr>
            <a:xfrm>
              <a:off x="5078412" y="3937000"/>
              <a:ext cx="1872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clk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45" name="Google Shape;1245;p68"/>
            <p:cNvSpPr txBox="1"/>
            <p:nvPr/>
          </p:nvSpPr>
          <p:spPr>
            <a:xfrm>
              <a:off x="4845050" y="4165600"/>
              <a:ext cx="507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/>
            </a:p>
          </p:txBody>
        </p:sp>
        <p:sp>
          <p:nvSpPr>
            <p:cNvPr id="1246" name="Google Shape;1246;p68"/>
            <p:cNvSpPr txBox="1"/>
            <p:nvPr/>
          </p:nvSpPr>
          <p:spPr>
            <a:xfrm>
              <a:off x="4845050" y="4165600"/>
              <a:ext cx="4746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>
                  <a:solidFill>
                    <a:schemeClr val="dk1"/>
                  </a:solidFill>
                </a:rPr>
                <a:t>I</a:t>
              </a: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nputs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47" name="Google Shape;1247;p68"/>
            <p:cNvSpPr txBox="1"/>
            <p:nvPr/>
          </p:nvSpPr>
          <p:spPr>
            <a:xfrm>
              <a:off x="5183187" y="4335462"/>
              <a:ext cx="684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48" name="Google Shape;1248;p68"/>
            <p:cNvSpPr/>
            <p:nvPr/>
          </p:nvSpPr>
          <p:spPr>
            <a:xfrm>
              <a:off x="5302250" y="4300537"/>
              <a:ext cx="3197225" cy="185737"/>
            </a:xfrm>
            <a:custGeom>
              <a:rect b="b" l="l" r="r" t="t"/>
              <a:pathLst>
                <a:path extrusionOk="0" h="117" w="2014">
                  <a:moveTo>
                    <a:pt x="0" y="117"/>
                  </a:moveTo>
                  <a:lnTo>
                    <a:pt x="540" y="117"/>
                  </a:lnTo>
                  <a:lnTo>
                    <a:pt x="540" y="0"/>
                  </a:lnTo>
                  <a:lnTo>
                    <a:pt x="2014" y="0"/>
                  </a:lnTo>
                </a:path>
              </a:pathLst>
            </a:custGeom>
            <a:noFill/>
            <a:ln cap="flat" cmpd="sng" w="190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49" name="Google Shape;1249;p68"/>
          <p:cNvGrpSpPr/>
          <p:nvPr/>
        </p:nvGrpSpPr>
        <p:grpSpPr>
          <a:xfrm>
            <a:off x="4724400" y="3894525"/>
            <a:ext cx="3857700" cy="657338"/>
            <a:chOff x="4724400" y="4684700"/>
            <a:chExt cx="3857700" cy="876450"/>
          </a:xfrm>
        </p:grpSpPr>
        <p:cxnSp>
          <p:nvCxnSpPr>
            <p:cNvPr id="1250" name="Google Shape;1250;p68"/>
            <p:cNvCxnSpPr/>
            <p:nvPr/>
          </p:nvCxnSpPr>
          <p:spPr>
            <a:xfrm>
              <a:off x="8447087" y="5267325"/>
              <a:ext cx="1500" cy="150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251" name="Google Shape;1251;p68"/>
            <p:cNvSpPr txBox="1"/>
            <p:nvPr/>
          </p:nvSpPr>
          <p:spPr>
            <a:xfrm>
              <a:off x="5410200" y="4684700"/>
              <a:ext cx="3171900" cy="263400"/>
            </a:xfrm>
            <a:prstGeom prst="rect">
              <a:avLst/>
            </a:prstGeom>
            <a:solidFill>
              <a:srgbClr val="C7D8F0"/>
            </a:solidFill>
            <a:ln cap="flat" cmpd="sng" w="14275">
              <a:solidFill>
                <a:srgbClr val="0078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2" name="Google Shape;1252;p68"/>
            <p:cNvSpPr txBox="1"/>
            <p:nvPr/>
          </p:nvSpPr>
          <p:spPr>
            <a:xfrm>
              <a:off x="5589587" y="4737100"/>
              <a:ext cx="1446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1253" name="Google Shape;1253;p68"/>
            <p:cNvSpPr txBox="1"/>
            <p:nvPr/>
          </p:nvSpPr>
          <p:spPr>
            <a:xfrm>
              <a:off x="5716566" y="4737100"/>
              <a:ext cx="2349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ait</a:t>
              </a:r>
              <a:endParaRPr/>
            </a:p>
          </p:txBody>
        </p:sp>
        <p:sp>
          <p:nvSpPr>
            <p:cNvPr id="1254" name="Google Shape;1254;p68"/>
            <p:cNvSpPr txBox="1"/>
            <p:nvPr/>
          </p:nvSpPr>
          <p:spPr>
            <a:xfrm>
              <a:off x="5986462" y="4737100"/>
              <a:ext cx="1446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1255" name="Google Shape;1255;p68"/>
            <p:cNvSpPr txBox="1"/>
            <p:nvPr/>
          </p:nvSpPr>
          <p:spPr>
            <a:xfrm>
              <a:off x="6113446" y="4737100"/>
              <a:ext cx="2016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ait</a:t>
              </a:r>
              <a:endParaRPr/>
            </a:p>
          </p:txBody>
        </p:sp>
        <p:sp>
          <p:nvSpPr>
            <p:cNvPr id="1256" name="Google Shape;1256;p68"/>
            <p:cNvSpPr txBox="1"/>
            <p:nvPr/>
          </p:nvSpPr>
          <p:spPr>
            <a:xfrm>
              <a:off x="6451600" y="4737100"/>
              <a:ext cx="2349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K1</a:t>
              </a:r>
              <a:endParaRPr/>
            </a:p>
          </p:txBody>
        </p:sp>
        <p:sp>
          <p:nvSpPr>
            <p:cNvPr id="1257" name="Google Shape;1257;p68"/>
            <p:cNvSpPr txBox="1"/>
            <p:nvPr/>
          </p:nvSpPr>
          <p:spPr>
            <a:xfrm>
              <a:off x="6846866" y="4737100"/>
              <a:ext cx="3429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K2</a:t>
              </a:r>
              <a:endParaRPr/>
            </a:p>
          </p:txBody>
        </p:sp>
        <p:sp>
          <p:nvSpPr>
            <p:cNvPr id="1258" name="Google Shape;1258;p68"/>
            <p:cNvSpPr txBox="1"/>
            <p:nvPr/>
          </p:nvSpPr>
          <p:spPr>
            <a:xfrm>
              <a:off x="7243745" y="4737100"/>
              <a:ext cx="2349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K3</a:t>
              </a:r>
              <a:endParaRPr/>
            </a:p>
          </p:txBody>
        </p:sp>
        <p:sp>
          <p:nvSpPr>
            <p:cNvPr id="1259" name="Google Shape;1259;p68"/>
            <p:cNvSpPr txBox="1"/>
            <p:nvPr/>
          </p:nvSpPr>
          <p:spPr>
            <a:xfrm>
              <a:off x="7645400" y="4737100"/>
              <a:ext cx="3429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K4</a:t>
              </a:r>
              <a:endParaRPr/>
            </a:p>
          </p:txBody>
        </p:sp>
        <p:sp>
          <p:nvSpPr>
            <p:cNvPr id="1260" name="Google Shape;1260;p68"/>
            <p:cNvSpPr txBox="1"/>
            <p:nvPr/>
          </p:nvSpPr>
          <p:spPr>
            <a:xfrm>
              <a:off x="7981950" y="4737100"/>
              <a:ext cx="1446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/>
            </a:p>
          </p:txBody>
        </p:sp>
        <p:sp>
          <p:nvSpPr>
            <p:cNvPr id="1261" name="Google Shape;1261;p68"/>
            <p:cNvSpPr txBox="1"/>
            <p:nvPr/>
          </p:nvSpPr>
          <p:spPr>
            <a:xfrm>
              <a:off x="8108950" y="4737100"/>
              <a:ext cx="2349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ait</a:t>
              </a:r>
              <a:endParaRPr/>
            </a:p>
          </p:txBody>
        </p:sp>
        <p:sp>
          <p:nvSpPr>
            <p:cNvPr id="1262" name="Google Shape;1262;p68"/>
            <p:cNvSpPr/>
            <p:nvPr/>
          </p:nvSpPr>
          <p:spPr>
            <a:xfrm>
              <a:off x="7135812" y="4684712"/>
              <a:ext cx="1587" cy="268287"/>
            </a:xfrm>
            <a:custGeom>
              <a:rect b="b" l="l" r="r" t="t"/>
              <a:pathLst>
                <a:path extrusionOk="0" h="169" w="1">
                  <a:moveTo>
                    <a:pt x="0" y="0"/>
                  </a:moveTo>
                  <a:lnTo>
                    <a:pt x="0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63" name="Google Shape;1263;p68"/>
            <p:cNvCxnSpPr/>
            <p:nvPr/>
          </p:nvCxnSpPr>
          <p:spPr>
            <a:xfrm>
              <a:off x="7135812" y="4684712"/>
              <a:ext cx="1500" cy="268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64" name="Google Shape;1264;p68"/>
            <p:cNvCxnSpPr/>
            <p:nvPr/>
          </p:nvCxnSpPr>
          <p:spPr>
            <a:xfrm>
              <a:off x="6735762" y="4684712"/>
              <a:ext cx="1500" cy="2682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65" name="Google Shape;1265;p68"/>
            <p:cNvCxnSpPr/>
            <p:nvPr/>
          </p:nvCxnSpPr>
          <p:spPr>
            <a:xfrm>
              <a:off x="7529512" y="4684712"/>
              <a:ext cx="1500" cy="2682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66" name="Google Shape;1266;p68"/>
            <p:cNvCxnSpPr/>
            <p:nvPr/>
          </p:nvCxnSpPr>
          <p:spPr>
            <a:xfrm>
              <a:off x="8329612" y="4684712"/>
              <a:ext cx="1500" cy="2682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67" name="Google Shape;1267;p68"/>
            <p:cNvSpPr txBox="1"/>
            <p:nvPr/>
          </p:nvSpPr>
          <p:spPr>
            <a:xfrm>
              <a:off x="4724400" y="5130800"/>
              <a:ext cx="5985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Output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68" name="Google Shape;1268;p68"/>
            <p:cNvSpPr txBox="1"/>
            <p:nvPr/>
          </p:nvSpPr>
          <p:spPr>
            <a:xfrm>
              <a:off x="4746525" y="4737100"/>
              <a:ext cx="4350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State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69" name="Google Shape;1269;p68"/>
            <p:cNvSpPr txBox="1"/>
            <p:nvPr/>
          </p:nvSpPr>
          <p:spPr>
            <a:xfrm>
              <a:off x="5207000" y="5378450"/>
              <a:ext cx="507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70" name="Google Shape;1270;p68"/>
            <p:cNvSpPr/>
            <p:nvPr/>
          </p:nvSpPr>
          <p:spPr>
            <a:xfrm>
              <a:off x="5302250" y="5308600"/>
              <a:ext cx="3201988" cy="225425"/>
            </a:xfrm>
            <a:custGeom>
              <a:rect b="b" l="l" r="r" t="t"/>
              <a:pathLst>
                <a:path extrusionOk="0" h="142" w="2017">
                  <a:moveTo>
                    <a:pt x="0" y="142"/>
                  </a:moveTo>
                  <a:lnTo>
                    <a:pt x="648" y="142"/>
                  </a:lnTo>
                  <a:lnTo>
                    <a:pt x="648" y="0"/>
                  </a:lnTo>
                  <a:lnTo>
                    <a:pt x="1155" y="0"/>
                  </a:lnTo>
                  <a:lnTo>
                    <a:pt x="1155" y="142"/>
                  </a:lnTo>
                  <a:lnTo>
                    <a:pt x="1403" y="142"/>
                  </a:lnTo>
                  <a:lnTo>
                    <a:pt x="1403" y="0"/>
                  </a:lnTo>
                  <a:lnTo>
                    <a:pt x="1655" y="0"/>
                  </a:lnTo>
                  <a:lnTo>
                    <a:pt x="1655" y="142"/>
                  </a:lnTo>
                  <a:lnTo>
                    <a:pt x="1901" y="142"/>
                  </a:lnTo>
                  <a:lnTo>
                    <a:pt x="1901" y="0"/>
                  </a:lnTo>
                  <a:lnTo>
                    <a:pt x="2017" y="0"/>
                  </a:lnTo>
                </a:path>
              </a:pathLst>
            </a:custGeom>
            <a:noFill/>
            <a:ln cap="flat" cmpd="sng" w="19050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71" name="Google Shape;1271;p68"/>
            <p:cNvCxnSpPr/>
            <p:nvPr/>
          </p:nvCxnSpPr>
          <p:spPr>
            <a:xfrm>
              <a:off x="8382000" y="5211762"/>
              <a:ext cx="1500" cy="15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2" name="Google Shape;1272;p68"/>
            <p:cNvCxnSpPr/>
            <p:nvPr/>
          </p:nvCxnSpPr>
          <p:spPr>
            <a:xfrm>
              <a:off x="6335712" y="4684712"/>
              <a:ext cx="1500" cy="2682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3" name="Google Shape;1273;p68"/>
            <p:cNvCxnSpPr/>
            <p:nvPr/>
          </p:nvCxnSpPr>
          <p:spPr>
            <a:xfrm>
              <a:off x="5530850" y="4684712"/>
              <a:ext cx="1500" cy="2682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4" name="Google Shape;1274;p68"/>
            <p:cNvCxnSpPr/>
            <p:nvPr/>
          </p:nvCxnSpPr>
          <p:spPr>
            <a:xfrm>
              <a:off x="5930900" y="4684712"/>
              <a:ext cx="1500" cy="2682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5" name="Google Shape;1275;p68"/>
            <p:cNvCxnSpPr/>
            <p:nvPr/>
          </p:nvCxnSpPr>
          <p:spPr>
            <a:xfrm>
              <a:off x="7135812" y="4684712"/>
              <a:ext cx="1500" cy="2682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6" name="Google Shape;1276;p68"/>
            <p:cNvCxnSpPr/>
            <p:nvPr/>
          </p:nvCxnSpPr>
          <p:spPr>
            <a:xfrm>
              <a:off x="7929562" y="4684712"/>
              <a:ext cx="1500" cy="268200"/>
            </a:xfrm>
            <a:prstGeom prst="straightConnector1">
              <a:avLst/>
            </a:prstGeom>
            <a:noFill/>
            <a:ln cap="flat" cmpd="sng" w="9525">
              <a:solidFill>
                <a:srgbClr val="0078C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77" name="Google Shape;1277;p68"/>
            <p:cNvSpPr txBox="1"/>
            <p:nvPr/>
          </p:nvSpPr>
          <p:spPr>
            <a:xfrm>
              <a:off x="8347075" y="4732333"/>
              <a:ext cx="2349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K1</a:t>
              </a:r>
              <a:endParaRPr/>
            </a:p>
          </p:txBody>
        </p:sp>
      </p:grpSp>
      <p:sp>
        <p:nvSpPr>
          <p:cNvPr id="1278" name="Google Shape;1278;p68"/>
          <p:cNvSpPr txBox="1"/>
          <p:nvPr/>
        </p:nvSpPr>
        <p:spPr>
          <a:xfrm>
            <a:off x="4724400" y="2443775"/>
            <a:ext cx="4419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r>
              <a:rPr b="0" i="0" lang="en" sz="18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Q: Determine states and r value for given input waveform: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79" name="Google Shape;1279;p68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9"/>
          <p:cNvSpPr/>
          <p:nvPr/>
        </p:nvSpPr>
        <p:spPr>
          <a:xfrm>
            <a:off x="3435250" y="801975"/>
            <a:ext cx="5708700" cy="381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69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FSM Capture Example: Code Detector</a:t>
            </a:r>
            <a:endParaRPr/>
          </a:p>
        </p:txBody>
      </p:sp>
      <p:sp>
        <p:nvSpPr>
          <p:cNvPr id="1287" name="Google Shape;1287;p69"/>
          <p:cNvSpPr txBox="1"/>
          <p:nvPr>
            <p:ph idx="1" type="body"/>
          </p:nvPr>
        </p:nvSpPr>
        <p:spPr>
          <a:xfrm>
            <a:off x="228600" y="914400"/>
            <a:ext cx="3281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Unlock door (u=1) only when buttons pressed in sequence: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start, then </a:t>
            </a:r>
            <a:r>
              <a:rPr b="0" i="0" lang="en" sz="1800" u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800" u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800" u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" sz="1800" u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>
              <a:solidFill>
                <a:schemeClr val="accent3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from each button: </a:t>
            </a:r>
            <a:r>
              <a:rPr b="0" i="1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s, r, g, b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0" i="0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Also, output </a:t>
            </a:r>
            <a:r>
              <a:rPr b="0" i="1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indicates that some colored button pressed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Capture as FSM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1" i="1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states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0" i="1" lang="en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transitions included</a:t>
            </a:r>
            <a:endParaRPr/>
          </a:p>
        </p:txBody>
      </p:sp>
      <p:grpSp>
        <p:nvGrpSpPr>
          <p:cNvPr id="1288" name="Google Shape;1288;p69"/>
          <p:cNvGrpSpPr/>
          <p:nvPr/>
        </p:nvGrpSpPr>
        <p:grpSpPr>
          <a:xfrm>
            <a:off x="4619625" y="3749375"/>
            <a:ext cx="509500" cy="320181"/>
            <a:chOff x="4619625" y="4999167"/>
            <a:chExt cx="509500" cy="426908"/>
          </a:xfrm>
        </p:grpSpPr>
        <p:cxnSp>
          <p:nvCxnSpPr>
            <p:cNvPr id="1289" name="Google Shape;1289;p69"/>
            <p:cNvCxnSpPr/>
            <p:nvPr/>
          </p:nvCxnSpPr>
          <p:spPr>
            <a:xfrm>
              <a:off x="4619625" y="5373687"/>
              <a:ext cx="2889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90" name="Google Shape;1290;p69"/>
            <p:cNvSpPr/>
            <p:nvPr/>
          </p:nvSpPr>
          <p:spPr>
            <a:xfrm>
              <a:off x="4830762" y="5321300"/>
              <a:ext cx="209550" cy="104775"/>
            </a:xfrm>
            <a:custGeom>
              <a:rect b="b" l="l" r="r" t="t"/>
              <a:pathLst>
                <a:path extrusionOk="0" h="66" w="132">
                  <a:moveTo>
                    <a:pt x="132" y="33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1" name="Google Shape;1291;p69"/>
            <p:cNvSpPr txBox="1"/>
            <p:nvPr/>
          </p:nvSpPr>
          <p:spPr>
            <a:xfrm>
              <a:off x="4708525" y="4999167"/>
              <a:ext cx="42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ab</a:t>
              </a:r>
              <a:endParaRPr/>
            </a:p>
          </p:txBody>
        </p:sp>
      </p:grpSp>
      <p:grpSp>
        <p:nvGrpSpPr>
          <p:cNvPr id="1292" name="Google Shape;1292;p69"/>
          <p:cNvGrpSpPr/>
          <p:nvPr/>
        </p:nvGrpSpPr>
        <p:grpSpPr>
          <a:xfrm>
            <a:off x="6053137" y="3732729"/>
            <a:ext cx="422275" cy="336828"/>
            <a:chOff x="6053137" y="4976971"/>
            <a:chExt cx="422275" cy="449104"/>
          </a:xfrm>
        </p:grpSpPr>
        <p:cxnSp>
          <p:nvCxnSpPr>
            <p:cNvPr id="1293" name="Google Shape;1293;p69"/>
            <p:cNvCxnSpPr/>
            <p:nvPr/>
          </p:nvCxnSpPr>
          <p:spPr>
            <a:xfrm>
              <a:off x="6053137" y="5373687"/>
              <a:ext cx="2904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94" name="Google Shape;1294;p69"/>
            <p:cNvSpPr/>
            <p:nvPr/>
          </p:nvSpPr>
          <p:spPr>
            <a:xfrm>
              <a:off x="6264275" y="5321300"/>
              <a:ext cx="211137" cy="104775"/>
            </a:xfrm>
            <a:custGeom>
              <a:rect b="b" l="l" r="r" t="t"/>
              <a:pathLst>
                <a:path extrusionOk="0" h="66" w="133">
                  <a:moveTo>
                    <a:pt x="133" y="33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33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5" name="Google Shape;1295;p69"/>
            <p:cNvSpPr txBox="1"/>
            <p:nvPr/>
          </p:nvSpPr>
          <p:spPr>
            <a:xfrm>
              <a:off x="6121400" y="4976971"/>
              <a:ext cx="2412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ag</a:t>
              </a:r>
              <a:endParaRPr/>
            </a:p>
          </p:txBody>
        </p:sp>
      </p:grpSp>
      <p:grpSp>
        <p:nvGrpSpPr>
          <p:cNvPr id="1296" name="Google Shape;1296;p69"/>
          <p:cNvGrpSpPr/>
          <p:nvPr/>
        </p:nvGrpSpPr>
        <p:grpSpPr>
          <a:xfrm>
            <a:off x="7473950" y="3740944"/>
            <a:ext cx="428624" cy="328613"/>
            <a:chOff x="7473950" y="4987925"/>
            <a:chExt cx="428624" cy="438150"/>
          </a:xfrm>
        </p:grpSpPr>
        <p:cxnSp>
          <p:nvCxnSpPr>
            <p:cNvPr id="1297" name="Google Shape;1297;p69"/>
            <p:cNvCxnSpPr/>
            <p:nvPr/>
          </p:nvCxnSpPr>
          <p:spPr>
            <a:xfrm>
              <a:off x="7473950" y="5373687"/>
              <a:ext cx="2970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98" name="Google Shape;1298;p69"/>
            <p:cNvSpPr/>
            <p:nvPr/>
          </p:nvSpPr>
          <p:spPr>
            <a:xfrm>
              <a:off x="7691437" y="5321300"/>
              <a:ext cx="211137" cy="104775"/>
            </a:xfrm>
            <a:custGeom>
              <a:rect b="b" l="l" r="r" t="t"/>
              <a:pathLst>
                <a:path extrusionOk="0" h="66" w="133">
                  <a:moveTo>
                    <a:pt x="133" y="33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33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9" name="Google Shape;1299;p69"/>
            <p:cNvSpPr txBox="1"/>
            <p:nvPr/>
          </p:nvSpPr>
          <p:spPr>
            <a:xfrm>
              <a:off x="7604125" y="4987925"/>
              <a:ext cx="192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ar</a:t>
              </a:r>
              <a:endParaRPr/>
            </a:p>
          </p:txBody>
        </p:sp>
      </p:grpSp>
      <p:grpSp>
        <p:nvGrpSpPr>
          <p:cNvPr id="1300" name="Google Shape;1300;p69"/>
          <p:cNvGrpSpPr/>
          <p:nvPr/>
        </p:nvGrpSpPr>
        <p:grpSpPr>
          <a:xfrm>
            <a:off x="3625850" y="3838575"/>
            <a:ext cx="993775" cy="560900"/>
            <a:chOff x="3625850" y="5118100"/>
            <a:chExt cx="993775" cy="747867"/>
          </a:xfrm>
        </p:grpSpPr>
        <p:sp>
          <p:nvSpPr>
            <p:cNvPr id="1301" name="Google Shape;1301;p69"/>
            <p:cNvSpPr txBox="1"/>
            <p:nvPr/>
          </p:nvSpPr>
          <p:spPr>
            <a:xfrm>
              <a:off x="3871912" y="5240337"/>
              <a:ext cx="5175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Red1</a:t>
              </a:r>
              <a:endParaRPr/>
            </a:p>
          </p:txBody>
        </p:sp>
        <p:sp>
          <p:nvSpPr>
            <p:cNvPr id="1302" name="Google Shape;1302;p69"/>
            <p:cNvSpPr/>
            <p:nvPr/>
          </p:nvSpPr>
          <p:spPr>
            <a:xfrm>
              <a:off x="3625850" y="5118100"/>
              <a:ext cx="993775" cy="506412"/>
            </a:xfrm>
            <a:custGeom>
              <a:rect b="b" l="l" r="r" t="t"/>
              <a:pathLst>
                <a:path extrusionOk="0" h="77" w="151">
                  <a:moveTo>
                    <a:pt x="108" y="74"/>
                  </a:moveTo>
                  <a:cubicBezTo>
                    <a:pt x="98" y="76"/>
                    <a:pt x="87" y="77"/>
                    <a:pt x="76" y="77"/>
                  </a:cubicBezTo>
                  <a:cubicBezTo>
                    <a:pt x="34" y="77"/>
                    <a:pt x="0" y="60"/>
                    <a:pt x="0" y="39"/>
                  </a:cubicBezTo>
                  <a:cubicBezTo>
                    <a:pt x="0" y="18"/>
                    <a:pt x="34" y="0"/>
                    <a:pt x="76" y="0"/>
                  </a:cubicBezTo>
                  <a:cubicBezTo>
                    <a:pt x="117" y="0"/>
                    <a:pt x="151" y="18"/>
                    <a:pt x="151" y="39"/>
                  </a:cubicBezTo>
                  <a:cubicBezTo>
                    <a:pt x="151" y="54"/>
                    <a:pt x="134" y="67"/>
                    <a:pt x="108" y="74"/>
                  </a:cubicBezTo>
                </a:path>
              </a:pathLst>
            </a:cu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3" name="Google Shape;1303;p69"/>
            <p:cNvSpPr txBox="1"/>
            <p:nvPr/>
          </p:nvSpPr>
          <p:spPr>
            <a:xfrm>
              <a:off x="3798866" y="5607067"/>
              <a:ext cx="651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</p:grpSp>
      <p:grpSp>
        <p:nvGrpSpPr>
          <p:cNvPr id="1304" name="Google Shape;1304;p69"/>
          <p:cNvGrpSpPr/>
          <p:nvPr/>
        </p:nvGrpSpPr>
        <p:grpSpPr>
          <a:xfrm>
            <a:off x="5053012" y="3838575"/>
            <a:ext cx="993775" cy="565650"/>
            <a:chOff x="5053012" y="5118100"/>
            <a:chExt cx="993775" cy="754200"/>
          </a:xfrm>
        </p:grpSpPr>
        <p:sp>
          <p:nvSpPr>
            <p:cNvPr id="1305" name="Google Shape;1305;p69"/>
            <p:cNvSpPr txBox="1"/>
            <p:nvPr/>
          </p:nvSpPr>
          <p:spPr>
            <a:xfrm>
              <a:off x="5334000" y="5240337"/>
              <a:ext cx="4335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Blue</a:t>
              </a:r>
              <a:endParaRPr/>
            </a:p>
          </p:txBody>
        </p:sp>
        <p:sp>
          <p:nvSpPr>
            <p:cNvPr id="1306" name="Google Shape;1306;p69"/>
            <p:cNvSpPr/>
            <p:nvPr/>
          </p:nvSpPr>
          <p:spPr>
            <a:xfrm>
              <a:off x="5053012" y="5118100"/>
              <a:ext cx="993775" cy="506412"/>
            </a:xfrm>
            <a:custGeom>
              <a:rect b="b" l="l" r="r" t="t"/>
              <a:pathLst>
                <a:path extrusionOk="0" h="77" w="151">
                  <a:moveTo>
                    <a:pt x="108" y="74"/>
                  </a:moveTo>
                  <a:cubicBezTo>
                    <a:pt x="98" y="76"/>
                    <a:pt x="87" y="77"/>
                    <a:pt x="76" y="77"/>
                  </a:cubicBezTo>
                  <a:cubicBezTo>
                    <a:pt x="34" y="77"/>
                    <a:pt x="0" y="60"/>
                    <a:pt x="0" y="39"/>
                  </a:cubicBezTo>
                  <a:cubicBezTo>
                    <a:pt x="0" y="18"/>
                    <a:pt x="34" y="0"/>
                    <a:pt x="76" y="0"/>
                  </a:cubicBezTo>
                  <a:cubicBezTo>
                    <a:pt x="117" y="0"/>
                    <a:pt x="151" y="18"/>
                    <a:pt x="151" y="39"/>
                  </a:cubicBezTo>
                  <a:cubicBezTo>
                    <a:pt x="151" y="54"/>
                    <a:pt x="133" y="68"/>
                    <a:pt x="108" y="74"/>
                  </a:cubicBezTo>
                </a:path>
              </a:pathLst>
            </a:cu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7" name="Google Shape;1307;p69"/>
            <p:cNvSpPr txBox="1"/>
            <p:nvPr/>
          </p:nvSpPr>
          <p:spPr>
            <a:xfrm>
              <a:off x="5253017" y="5613400"/>
              <a:ext cx="651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</p:grpSp>
      <p:grpSp>
        <p:nvGrpSpPr>
          <p:cNvPr id="1308" name="Google Shape;1308;p69"/>
          <p:cNvGrpSpPr/>
          <p:nvPr/>
        </p:nvGrpSpPr>
        <p:grpSpPr>
          <a:xfrm>
            <a:off x="6481762" y="3838575"/>
            <a:ext cx="992100" cy="565650"/>
            <a:chOff x="6481762" y="5118100"/>
            <a:chExt cx="992100" cy="754200"/>
          </a:xfrm>
        </p:grpSpPr>
        <p:sp>
          <p:nvSpPr>
            <p:cNvPr id="1309" name="Google Shape;1309;p69"/>
            <p:cNvSpPr txBox="1"/>
            <p:nvPr/>
          </p:nvSpPr>
          <p:spPr>
            <a:xfrm>
              <a:off x="6680200" y="5240337"/>
              <a:ext cx="6018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Green</a:t>
              </a:r>
              <a:endParaRPr/>
            </a:p>
          </p:txBody>
        </p:sp>
        <p:sp>
          <p:nvSpPr>
            <p:cNvPr id="1310" name="Google Shape;1310;p69"/>
            <p:cNvSpPr/>
            <p:nvPr/>
          </p:nvSpPr>
          <p:spPr>
            <a:xfrm>
              <a:off x="6481762" y="5118100"/>
              <a:ext cx="992100" cy="506400"/>
            </a:xfrm>
            <a:prstGeom prst="ellipse">
              <a:avLst/>
            </a:pr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1" name="Google Shape;1311;p69"/>
            <p:cNvSpPr txBox="1"/>
            <p:nvPr/>
          </p:nvSpPr>
          <p:spPr>
            <a:xfrm>
              <a:off x="6684941" y="5613400"/>
              <a:ext cx="651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</p:grpSp>
      <p:grpSp>
        <p:nvGrpSpPr>
          <p:cNvPr id="1312" name="Google Shape;1312;p69"/>
          <p:cNvGrpSpPr/>
          <p:nvPr/>
        </p:nvGrpSpPr>
        <p:grpSpPr>
          <a:xfrm>
            <a:off x="7908925" y="3838575"/>
            <a:ext cx="993900" cy="564459"/>
            <a:chOff x="7908925" y="5118100"/>
            <a:chExt cx="993900" cy="752612"/>
          </a:xfrm>
        </p:grpSpPr>
        <p:sp>
          <p:nvSpPr>
            <p:cNvPr id="1313" name="Google Shape;1313;p69"/>
            <p:cNvSpPr txBox="1"/>
            <p:nvPr/>
          </p:nvSpPr>
          <p:spPr>
            <a:xfrm>
              <a:off x="8154987" y="5240337"/>
              <a:ext cx="5175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Red2</a:t>
              </a:r>
              <a:endParaRPr/>
            </a:p>
          </p:txBody>
        </p:sp>
        <p:sp>
          <p:nvSpPr>
            <p:cNvPr id="1314" name="Google Shape;1314;p69"/>
            <p:cNvSpPr/>
            <p:nvPr/>
          </p:nvSpPr>
          <p:spPr>
            <a:xfrm>
              <a:off x="7908925" y="5118100"/>
              <a:ext cx="993900" cy="506400"/>
            </a:xfrm>
            <a:prstGeom prst="ellipse">
              <a:avLst/>
            </a:pr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5" name="Google Shape;1315;p69"/>
            <p:cNvSpPr txBox="1"/>
            <p:nvPr/>
          </p:nvSpPr>
          <p:spPr>
            <a:xfrm>
              <a:off x="8218487" y="5611812"/>
              <a:ext cx="3777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1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u=1</a:t>
              </a:r>
              <a:endParaRPr/>
            </a:p>
          </p:txBody>
        </p:sp>
      </p:grpSp>
      <p:sp>
        <p:nvSpPr>
          <p:cNvPr id="1316" name="Google Shape;1316;p69"/>
          <p:cNvSpPr txBox="1"/>
          <p:nvPr/>
        </p:nvSpPr>
        <p:spPr>
          <a:xfrm>
            <a:off x="7187408" y="2327675"/>
            <a:ext cx="875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1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Inputs:</a:t>
            </a:r>
            <a:endParaRPr/>
          </a:p>
        </p:txBody>
      </p:sp>
      <p:sp>
        <p:nvSpPr>
          <p:cNvPr id="1317" name="Google Shape;1317;p69"/>
          <p:cNvSpPr txBox="1"/>
          <p:nvPr/>
        </p:nvSpPr>
        <p:spPr>
          <a:xfrm>
            <a:off x="8102600" y="2327671"/>
            <a:ext cx="108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1318" name="Google Shape;1318;p69"/>
          <p:cNvSpPr txBox="1"/>
          <p:nvPr/>
        </p:nvSpPr>
        <p:spPr>
          <a:xfrm>
            <a:off x="8204200" y="2327671"/>
            <a:ext cx="6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/>
          </a:p>
        </p:txBody>
      </p:sp>
      <p:sp>
        <p:nvSpPr>
          <p:cNvPr id="1319" name="Google Shape;1319;p69"/>
          <p:cNvSpPr txBox="1"/>
          <p:nvPr/>
        </p:nvSpPr>
        <p:spPr>
          <a:xfrm>
            <a:off x="8262937" y="2327671"/>
            <a:ext cx="71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</p:txBody>
      </p:sp>
      <p:sp>
        <p:nvSpPr>
          <p:cNvPr id="1320" name="Google Shape;1320;p69"/>
          <p:cNvSpPr txBox="1"/>
          <p:nvPr/>
        </p:nvSpPr>
        <p:spPr>
          <a:xfrm>
            <a:off x="8321675" y="2327675"/>
            <a:ext cx="325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,g,</a:t>
            </a:r>
            <a:endParaRPr/>
          </a:p>
        </p:txBody>
      </p:sp>
      <p:sp>
        <p:nvSpPr>
          <p:cNvPr id="1321" name="Google Shape;1321;p69"/>
          <p:cNvSpPr txBox="1"/>
          <p:nvPr/>
        </p:nvSpPr>
        <p:spPr>
          <a:xfrm>
            <a:off x="8556625" y="2327671"/>
            <a:ext cx="120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1322" name="Google Shape;1322;p69"/>
          <p:cNvSpPr txBox="1"/>
          <p:nvPr/>
        </p:nvSpPr>
        <p:spPr>
          <a:xfrm>
            <a:off x="8664575" y="2327671"/>
            <a:ext cx="180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endParaRPr/>
          </a:p>
        </p:txBody>
      </p:sp>
      <p:sp>
        <p:nvSpPr>
          <p:cNvPr id="1323" name="Google Shape;1323;p69"/>
          <p:cNvSpPr txBox="1"/>
          <p:nvPr/>
        </p:nvSpPr>
        <p:spPr>
          <a:xfrm>
            <a:off x="7161222" y="2516975"/>
            <a:ext cx="993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1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Outputs:</a:t>
            </a:r>
            <a:endParaRPr/>
          </a:p>
        </p:txBody>
      </p:sp>
      <p:sp>
        <p:nvSpPr>
          <p:cNvPr id="1324" name="Google Shape;1324;p69"/>
          <p:cNvSpPr txBox="1"/>
          <p:nvPr/>
        </p:nvSpPr>
        <p:spPr>
          <a:xfrm>
            <a:off x="8131175" y="2516981"/>
            <a:ext cx="180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</a:t>
            </a:r>
            <a:endParaRPr/>
          </a:p>
        </p:txBody>
      </p:sp>
      <p:grpSp>
        <p:nvGrpSpPr>
          <p:cNvPr id="1325" name="Google Shape;1325;p69"/>
          <p:cNvGrpSpPr/>
          <p:nvPr/>
        </p:nvGrpSpPr>
        <p:grpSpPr>
          <a:xfrm>
            <a:off x="3435259" y="2364538"/>
            <a:ext cx="3281370" cy="852767"/>
            <a:chOff x="3435350" y="3124200"/>
            <a:chExt cx="3029050" cy="1138237"/>
          </a:xfrm>
        </p:grpSpPr>
        <p:sp>
          <p:nvSpPr>
            <p:cNvPr id="1326" name="Google Shape;1326;p69"/>
            <p:cNvSpPr txBox="1"/>
            <p:nvPr/>
          </p:nvSpPr>
          <p:spPr>
            <a:xfrm>
              <a:off x="3917950" y="3513137"/>
              <a:ext cx="2031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</a:t>
              </a:r>
              <a:endParaRPr/>
            </a:p>
          </p:txBody>
        </p:sp>
        <p:sp>
          <p:nvSpPr>
            <p:cNvPr id="1327" name="Google Shape;1327;p69"/>
            <p:cNvSpPr txBox="1"/>
            <p:nvPr/>
          </p:nvSpPr>
          <p:spPr>
            <a:xfrm>
              <a:off x="4108450" y="3513137"/>
              <a:ext cx="228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ait</a:t>
              </a:r>
              <a:endParaRPr/>
            </a:p>
          </p:txBody>
        </p:sp>
        <p:cxnSp>
          <p:nvCxnSpPr>
            <p:cNvPr id="1328" name="Google Shape;1328;p69"/>
            <p:cNvCxnSpPr/>
            <p:nvPr/>
          </p:nvCxnSpPr>
          <p:spPr>
            <a:xfrm>
              <a:off x="3573462" y="3124200"/>
              <a:ext cx="112800" cy="20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29" name="Google Shape;1329;p69"/>
            <p:cNvSpPr/>
            <p:nvPr/>
          </p:nvSpPr>
          <p:spPr>
            <a:xfrm>
              <a:off x="3600450" y="3235325"/>
              <a:ext cx="144462" cy="211137"/>
            </a:xfrm>
            <a:custGeom>
              <a:rect b="b" l="l" r="r" t="t"/>
              <a:pathLst>
                <a:path extrusionOk="0" h="133" w="91">
                  <a:moveTo>
                    <a:pt x="91" y="133"/>
                  </a:moveTo>
                  <a:lnTo>
                    <a:pt x="58" y="0"/>
                  </a:lnTo>
                  <a:lnTo>
                    <a:pt x="0" y="34"/>
                  </a:lnTo>
                  <a:lnTo>
                    <a:pt x="91" y="1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30" name="Google Shape;1330;p69"/>
            <p:cNvCxnSpPr/>
            <p:nvPr/>
          </p:nvCxnSpPr>
          <p:spPr>
            <a:xfrm>
              <a:off x="4119562" y="3881437"/>
              <a:ext cx="0" cy="230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31" name="Google Shape;1331;p69"/>
            <p:cNvSpPr/>
            <p:nvPr/>
          </p:nvSpPr>
          <p:spPr>
            <a:xfrm>
              <a:off x="4067175" y="4032250"/>
              <a:ext cx="104775" cy="209550"/>
            </a:xfrm>
            <a:custGeom>
              <a:rect b="b" l="l" r="r" t="t"/>
              <a:pathLst>
                <a:path extrusionOk="0" h="132" w="66">
                  <a:moveTo>
                    <a:pt x="33" y="132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1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2" name="Google Shape;1332;p69"/>
            <p:cNvSpPr/>
            <p:nvPr/>
          </p:nvSpPr>
          <p:spPr>
            <a:xfrm>
              <a:off x="4586287" y="3762375"/>
              <a:ext cx="198437" cy="177800"/>
            </a:xfrm>
            <a:custGeom>
              <a:rect b="b" l="l" r="r" t="t"/>
              <a:pathLst>
                <a:path extrusionOk="0" h="112" w="125">
                  <a:moveTo>
                    <a:pt x="0" y="0"/>
                  </a:moveTo>
                  <a:lnTo>
                    <a:pt x="79" y="112"/>
                  </a:lnTo>
                  <a:lnTo>
                    <a:pt x="125" y="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3" name="Google Shape;1333;p69"/>
            <p:cNvSpPr/>
            <p:nvPr/>
          </p:nvSpPr>
          <p:spPr>
            <a:xfrm>
              <a:off x="4337050" y="3821112"/>
              <a:ext cx="519112" cy="441325"/>
            </a:xfrm>
            <a:custGeom>
              <a:rect b="b" l="l" r="r" t="t"/>
              <a:pathLst>
                <a:path extrusionOk="0" h="67" w="79">
                  <a:moveTo>
                    <a:pt x="0" y="7"/>
                  </a:moveTo>
                  <a:cubicBezTo>
                    <a:pt x="0" y="7"/>
                    <a:pt x="3" y="67"/>
                    <a:pt x="54" y="35"/>
                  </a:cubicBezTo>
                  <a:cubicBezTo>
                    <a:pt x="54" y="35"/>
                    <a:pt x="79" y="17"/>
                    <a:pt x="50" y="0"/>
                  </a:cubicBez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4" name="Google Shape;1334;p69"/>
            <p:cNvSpPr txBox="1"/>
            <p:nvPr/>
          </p:nvSpPr>
          <p:spPr>
            <a:xfrm>
              <a:off x="4797433" y="3897307"/>
              <a:ext cx="2418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s'</a:t>
              </a:r>
              <a:endParaRPr/>
            </a:p>
          </p:txBody>
        </p:sp>
        <p:sp>
          <p:nvSpPr>
            <p:cNvPr id="1335" name="Google Shape;1335;p69"/>
            <p:cNvSpPr/>
            <p:nvPr/>
          </p:nvSpPr>
          <p:spPr>
            <a:xfrm>
              <a:off x="3554450" y="3381367"/>
              <a:ext cx="1065300" cy="506400"/>
            </a:xfrm>
            <a:prstGeom prst="ellipse">
              <a:avLst/>
            </a:pr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6" name="Google Shape;1336;p69"/>
            <p:cNvSpPr txBox="1"/>
            <p:nvPr/>
          </p:nvSpPr>
          <p:spPr>
            <a:xfrm>
              <a:off x="3435350" y="3813175"/>
              <a:ext cx="366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  <p:sp>
          <p:nvSpPr>
            <p:cNvPr id="1337" name="Google Shape;1337;p69"/>
            <p:cNvSpPr txBox="1"/>
            <p:nvPr/>
          </p:nvSpPr>
          <p:spPr>
            <a:xfrm>
              <a:off x="3922712" y="3914775"/>
              <a:ext cx="108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</a:t>
              </a:r>
              <a:endParaRPr/>
            </a:p>
          </p:txBody>
        </p:sp>
        <p:sp>
          <p:nvSpPr>
            <p:cNvPr id="1338" name="Google Shape;1338;p69"/>
            <p:cNvSpPr txBox="1"/>
            <p:nvPr/>
          </p:nvSpPr>
          <p:spPr>
            <a:xfrm>
              <a:off x="4624387" y="3422650"/>
              <a:ext cx="2031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</a:t>
              </a:r>
              <a:endParaRPr/>
            </a:p>
          </p:txBody>
        </p:sp>
        <p:sp>
          <p:nvSpPr>
            <p:cNvPr id="1339" name="Google Shape;1339;p69"/>
            <p:cNvSpPr txBox="1"/>
            <p:nvPr/>
          </p:nvSpPr>
          <p:spPr>
            <a:xfrm>
              <a:off x="4814887" y="3422650"/>
              <a:ext cx="228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ait</a:t>
              </a:r>
              <a:endParaRPr/>
            </a:p>
          </p:txBody>
        </p:sp>
        <p:sp>
          <p:nvSpPr>
            <p:cNvPr id="1340" name="Google Shape;1340;p69"/>
            <p:cNvSpPr txBox="1"/>
            <p:nvPr/>
          </p:nvSpPr>
          <p:spPr>
            <a:xfrm>
              <a:off x="5095875" y="3422650"/>
              <a:ext cx="603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sp>
          <p:nvSpPr>
            <p:cNvPr id="1341" name="Google Shape;1341;p69"/>
            <p:cNvSpPr txBox="1"/>
            <p:nvPr/>
          </p:nvSpPr>
          <p:spPr>
            <a:xfrm>
              <a:off x="5146675" y="3422650"/>
              <a:ext cx="5412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or sta</a:t>
              </a:r>
              <a:endParaRPr/>
            </a:p>
          </p:txBody>
        </p:sp>
        <p:sp>
          <p:nvSpPr>
            <p:cNvPr id="1342" name="Google Shape;1342;p69"/>
            <p:cNvSpPr txBox="1"/>
            <p:nvPr/>
          </p:nvSpPr>
          <p:spPr>
            <a:xfrm>
              <a:off x="5673725" y="3422650"/>
              <a:ext cx="71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</a:t>
              </a:r>
              <a:endParaRPr/>
            </a:p>
          </p:txBody>
        </p:sp>
        <p:sp>
          <p:nvSpPr>
            <p:cNvPr id="1343" name="Google Shape;1343;p69"/>
            <p:cNvSpPr txBox="1"/>
            <p:nvPr/>
          </p:nvSpPr>
          <p:spPr>
            <a:xfrm>
              <a:off x="5753100" y="3422650"/>
              <a:ext cx="603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</a:t>
              </a:r>
              <a:endParaRPr/>
            </a:p>
          </p:txBody>
        </p:sp>
        <p:sp>
          <p:nvSpPr>
            <p:cNvPr id="1344" name="Google Shape;1344;p69"/>
            <p:cNvSpPr txBox="1"/>
            <p:nvPr/>
          </p:nvSpPr>
          <p:spPr>
            <a:xfrm>
              <a:off x="5868987" y="3422650"/>
              <a:ext cx="120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1345" name="Google Shape;1345;p69"/>
            <p:cNvSpPr txBox="1"/>
            <p:nvPr/>
          </p:nvSpPr>
          <p:spPr>
            <a:xfrm>
              <a:off x="5981700" y="3422650"/>
              <a:ext cx="4827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utton</a:t>
              </a:r>
              <a:endParaRPr/>
            </a:p>
          </p:txBody>
        </p:sp>
      </p:grpSp>
      <p:grpSp>
        <p:nvGrpSpPr>
          <p:cNvPr id="1346" name="Google Shape;1346;p69"/>
          <p:cNvGrpSpPr/>
          <p:nvPr/>
        </p:nvGrpSpPr>
        <p:grpSpPr>
          <a:xfrm>
            <a:off x="3846512" y="3561159"/>
            <a:ext cx="325438" cy="277415"/>
            <a:chOff x="3846512" y="4748212"/>
            <a:chExt cx="325438" cy="369887"/>
          </a:xfrm>
        </p:grpSpPr>
        <p:cxnSp>
          <p:nvCxnSpPr>
            <p:cNvPr id="1347" name="Google Shape;1347;p69"/>
            <p:cNvCxnSpPr/>
            <p:nvPr/>
          </p:nvCxnSpPr>
          <p:spPr>
            <a:xfrm>
              <a:off x="4119562" y="4748212"/>
              <a:ext cx="0" cy="2382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48" name="Google Shape;1348;p69"/>
            <p:cNvSpPr/>
            <p:nvPr/>
          </p:nvSpPr>
          <p:spPr>
            <a:xfrm>
              <a:off x="4067175" y="4906962"/>
              <a:ext cx="104775" cy="211137"/>
            </a:xfrm>
            <a:custGeom>
              <a:rect b="b" l="l" r="r" t="t"/>
              <a:pathLst>
                <a:path extrusionOk="0" h="133" w="66">
                  <a:moveTo>
                    <a:pt x="33" y="133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1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9" name="Google Shape;1349;p69"/>
            <p:cNvSpPr txBox="1"/>
            <p:nvPr/>
          </p:nvSpPr>
          <p:spPr>
            <a:xfrm>
              <a:off x="3846512" y="4797425"/>
              <a:ext cx="192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ar</a:t>
              </a:r>
              <a:endParaRPr/>
            </a:p>
          </p:txBody>
        </p:sp>
      </p:grpSp>
      <p:grpSp>
        <p:nvGrpSpPr>
          <p:cNvPr id="1350" name="Google Shape;1350;p69"/>
          <p:cNvGrpSpPr/>
          <p:nvPr/>
        </p:nvGrpSpPr>
        <p:grpSpPr>
          <a:xfrm>
            <a:off x="3435350" y="3187303"/>
            <a:ext cx="4708600" cy="525172"/>
            <a:chOff x="3435350" y="4249737"/>
            <a:chExt cx="4708600" cy="700230"/>
          </a:xfrm>
        </p:grpSpPr>
        <p:sp>
          <p:nvSpPr>
            <p:cNvPr id="1351" name="Google Shape;1351;p69"/>
            <p:cNvSpPr txBox="1"/>
            <p:nvPr/>
          </p:nvSpPr>
          <p:spPr>
            <a:xfrm>
              <a:off x="3897312" y="4370387"/>
              <a:ext cx="3255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Sta</a:t>
              </a:r>
              <a:endParaRPr/>
            </a:p>
          </p:txBody>
        </p:sp>
        <p:sp>
          <p:nvSpPr>
            <p:cNvPr id="1352" name="Google Shape;1352;p69"/>
            <p:cNvSpPr txBox="1"/>
            <p:nvPr/>
          </p:nvSpPr>
          <p:spPr>
            <a:xfrm>
              <a:off x="4213225" y="4370387"/>
              <a:ext cx="71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</a:t>
              </a:r>
              <a:endParaRPr/>
            </a:p>
          </p:txBody>
        </p:sp>
        <p:sp>
          <p:nvSpPr>
            <p:cNvPr id="1353" name="Google Shape;1353;p69"/>
            <p:cNvSpPr txBox="1"/>
            <p:nvPr/>
          </p:nvSpPr>
          <p:spPr>
            <a:xfrm>
              <a:off x="4292600" y="4370387"/>
              <a:ext cx="603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</a:t>
              </a:r>
              <a:endParaRPr/>
            </a:p>
          </p:txBody>
        </p:sp>
        <p:sp>
          <p:nvSpPr>
            <p:cNvPr id="1354" name="Google Shape;1354;p69"/>
            <p:cNvSpPr/>
            <p:nvPr/>
          </p:nvSpPr>
          <p:spPr>
            <a:xfrm>
              <a:off x="3625850" y="4249737"/>
              <a:ext cx="993900" cy="506400"/>
            </a:xfrm>
            <a:prstGeom prst="ellipse">
              <a:avLst/>
            </a:pr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5" name="Google Shape;1355;p69"/>
            <p:cNvSpPr txBox="1"/>
            <p:nvPr/>
          </p:nvSpPr>
          <p:spPr>
            <a:xfrm>
              <a:off x="3435350" y="4691067"/>
              <a:ext cx="582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  <p:sp>
          <p:nvSpPr>
            <p:cNvPr id="1356" name="Google Shape;1356;p69"/>
            <p:cNvSpPr txBox="1"/>
            <p:nvPr/>
          </p:nvSpPr>
          <p:spPr>
            <a:xfrm>
              <a:off x="4659312" y="4341812"/>
              <a:ext cx="2031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</a:t>
              </a:r>
              <a:endParaRPr/>
            </a:p>
          </p:txBody>
        </p:sp>
        <p:sp>
          <p:nvSpPr>
            <p:cNvPr id="1357" name="Google Shape;1357;p69"/>
            <p:cNvSpPr txBox="1"/>
            <p:nvPr/>
          </p:nvSpPr>
          <p:spPr>
            <a:xfrm>
              <a:off x="4849812" y="4341812"/>
              <a:ext cx="228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ait</a:t>
              </a:r>
              <a:endParaRPr/>
            </a:p>
          </p:txBody>
        </p:sp>
        <p:sp>
          <p:nvSpPr>
            <p:cNvPr id="1358" name="Google Shape;1358;p69"/>
            <p:cNvSpPr txBox="1"/>
            <p:nvPr/>
          </p:nvSpPr>
          <p:spPr>
            <a:xfrm>
              <a:off x="5130800" y="4341812"/>
              <a:ext cx="603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sp>
          <p:nvSpPr>
            <p:cNvPr id="1359" name="Google Shape;1359;p69"/>
            <p:cNvSpPr txBox="1"/>
            <p:nvPr/>
          </p:nvSpPr>
          <p:spPr>
            <a:xfrm>
              <a:off x="5183177" y="4341800"/>
              <a:ext cx="23241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or first</a:t>
              </a:r>
              <a:r>
                <a:rPr i="1" lang="en" sz="1700"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colored button</a:t>
              </a:r>
              <a:endParaRPr/>
            </a:p>
          </p:txBody>
        </p:sp>
        <p:sp>
          <p:nvSpPr>
            <p:cNvPr id="1360" name="Google Shape;1360;p69"/>
            <p:cNvSpPr txBox="1"/>
            <p:nvPr/>
          </p:nvSpPr>
          <p:spPr>
            <a:xfrm>
              <a:off x="6959550" y="4341800"/>
              <a:ext cx="1184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t/>
              </a:r>
              <a:endParaRPr/>
            </a:p>
          </p:txBody>
        </p:sp>
      </p:grpSp>
      <p:sp>
        <p:nvSpPr>
          <p:cNvPr id="1361" name="Google Shape;1361;p69"/>
          <p:cNvSpPr txBox="1"/>
          <p:nvPr/>
        </p:nvSpPr>
        <p:spPr>
          <a:xfrm>
            <a:off x="4409275" y="931050"/>
            <a:ext cx="24933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2" name="Google Shape;1362;p69"/>
          <p:cNvCxnSpPr/>
          <p:nvPr/>
        </p:nvCxnSpPr>
        <p:spPr>
          <a:xfrm>
            <a:off x="5450737" y="1933684"/>
            <a:ext cx="2619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63" name="Google Shape;1363;p69"/>
          <p:cNvSpPr/>
          <p:nvPr/>
        </p:nvSpPr>
        <p:spPr>
          <a:xfrm>
            <a:off x="5680925" y="1902728"/>
            <a:ext cx="171450" cy="60722"/>
          </a:xfrm>
          <a:custGeom>
            <a:rect b="b" l="l" r="r" t="t"/>
            <a:pathLst>
              <a:path extrusionOk="0" h="55" w="111">
                <a:moveTo>
                  <a:pt x="111" y="28"/>
                </a:moveTo>
                <a:lnTo>
                  <a:pt x="0" y="0"/>
                </a:lnTo>
                <a:lnTo>
                  <a:pt x="0" y="55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4" name="Google Shape;1364;p69"/>
          <p:cNvSpPr txBox="1"/>
          <p:nvPr/>
        </p:nvSpPr>
        <p:spPr>
          <a:xfrm>
            <a:off x="5501537" y="941894"/>
            <a:ext cx="69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365" name="Google Shape;1365;p69"/>
          <p:cNvSpPr txBox="1"/>
          <p:nvPr/>
        </p:nvSpPr>
        <p:spPr>
          <a:xfrm>
            <a:off x="5506300" y="1285984"/>
            <a:ext cx="58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366" name="Google Shape;1366;p69"/>
          <p:cNvSpPr txBox="1"/>
          <p:nvPr/>
        </p:nvSpPr>
        <p:spPr>
          <a:xfrm>
            <a:off x="5485662" y="1433621"/>
            <a:ext cx="88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1367" name="Google Shape;1367;p69"/>
          <p:cNvSpPr txBox="1"/>
          <p:nvPr/>
        </p:nvSpPr>
        <p:spPr>
          <a:xfrm>
            <a:off x="5485662" y="1628884"/>
            <a:ext cx="88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368" name="Google Shape;1368;p69"/>
          <p:cNvSpPr txBox="1"/>
          <p:nvPr/>
        </p:nvSpPr>
        <p:spPr>
          <a:xfrm>
            <a:off x="5493600" y="1797953"/>
            <a:ext cx="795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369" name="Google Shape;1369;p69"/>
          <p:cNvCxnSpPr/>
          <p:nvPr/>
        </p:nvCxnSpPr>
        <p:spPr>
          <a:xfrm>
            <a:off x="5284050" y="1419334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70" name="Google Shape;1370;p69"/>
          <p:cNvCxnSpPr/>
          <p:nvPr/>
        </p:nvCxnSpPr>
        <p:spPr>
          <a:xfrm>
            <a:off x="5284050" y="1590784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71" name="Google Shape;1371;p69"/>
          <p:cNvSpPr/>
          <p:nvPr/>
        </p:nvSpPr>
        <p:spPr>
          <a:xfrm>
            <a:off x="5680925" y="1561019"/>
            <a:ext cx="171450" cy="59531"/>
          </a:xfrm>
          <a:custGeom>
            <a:rect b="b" l="l" r="r" t="t"/>
            <a:pathLst>
              <a:path extrusionOk="0" h="55" w="111">
                <a:moveTo>
                  <a:pt x="111" y="28"/>
                </a:moveTo>
                <a:lnTo>
                  <a:pt x="0" y="0"/>
                </a:lnTo>
                <a:lnTo>
                  <a:pt x="0" y="55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72" name="Google Shape;1372;p69"/>
          <p:cNvCxnSpPr/>
          <p:nvPr/>
        </p:nvCxnSpPr>
        <p:spPr>
          <a:xfrm>
            <a:off x="5284050" y="1762234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73" name="Google Shape;1373;p69"/>
          <p:cNvSpPr/>
          <p:nvPr/>
        </p:nvSpPr>
        <p:spPr>
          <a:xfrm>
            <a:off x="5680925" y="1731278"/>
            <a:ext cx="171450" cy="60722"/>
          </a:xfrm>
          <a:custGeom>
            <a:rect b="b" l="l" r="r" t="t"/>
            <a:pathLst>
              <a:path extrusionOk="0" h="56" w="111">
                <a:moveTo>
                  <a:pt x="111" y="28"/>
                </a:moveTo>
                <a:lnTo>
                  <a:pt x="0" y="0"/>
                </a:lnTo>
                <a:lnTo>
                  <a:pt x="0" y="56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74" name="Google Shape;1374;p69"/>
          <p:cNvCxnSpPr/>
          <p:nvPr/>
        </p:nvCxnSpPr>
        <p:spPr>
          <a:xfrm>
            <a:off x="5284050" y="1081197"/>
            <a:ext cx="428700" cy="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75" name="Google Shape;1375;p69"/>
          <p:cNvSpPr/>
          <p:nvPr/>
        </p:nvSpPr>
        <p:spPr>
          <a:xfrm>
            <a:off x="5680925" y="1051431"/>
            <a:ext cx="171450" cy="59531"/>
          </a:xfrm>
          <a:custGeom>
            <a:rect b="b" l="l" r="r" t="t"/>
            <a:pathLst>
              <a:path extrusionOk="0" h="55" w="111">
                <a:moveTo>
                  <a:pt x="111" y="27"/>
                </a:moveTo>
                <a:lnTo>
                  <a:pt x="0" y="0"/>
                </a:lnTo>
                <a:lnTo>
                  <a:pt x="0" y="55"/>
                </a:lnTo>
                <a:lnTo>
                  <a:pt x="111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76" name="Google Shape;1376;p69"/>
          <p:cNvCxnSpPr/>
          <p:nvPr/>
        </p:nvCxnSpPr>
        <p:spPr>
          <a:xfrm>
            <a:off x="6938962" y="1232296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77" name="Google Shape;1377;p69"/>
          <p:cNvSpPr/>
          <p:nvPr/>
        </p:nvSpPr>
        <p:spPr>
          <a:xfrm>
            <a:off x="7335837" y="1201340"/>
            <a:ext cx="171450" cy="60722"/>
          </a:xfrm>
          <a:custGeom>
            <a:rect b="b" l="l" r="r" t="t"/>
            <a:pathLst>
              <a:path extrusionOk="0" h="56" w="111">
                <a:moveTo>
                  <a:pt x="111" y="28"/>
                </a:moveTo>
                <a:lnTo>
                  <a:pt x="0" y="0"/>
                </a:lnTo>
                <a:lnTo>
                  <a:pt x="0" y="56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8" name="Google Shape;1378;p69"/>
          <p:cNvSpPr/>
          <p:nvPr/>
        </p:nvSpPr>
        <p:spPr>
          <a:xfrm>
            <a:off x="5680925" y="1393140"/>
            <a:ext cx="171450" cy="60722"/>
          </a:xfrm>
          <a:custGeom>
            <a:rect b="b" l="l" r="r" t="t"/>
            <a:pathLst>
              <a:path extrusionOk="0" h="55" w="111">
                <a:moveTo>
                  <a:pt x="111" y="27"/>
                </a:moveTo>
                <a:lnTo>
                  <a:pt x="0" y="0"/>
                </a:lnTo>
                <a:lnTo>
                  <a:pt x="0" y="55"/>
                </a:lnTo>
                <a:lnTo>
                  <a:pt x="111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9" name="Google Shape;1379;p69"/>
          <p:cNvSpPr/>
          <p:nvPr/>
        </p:nvSpPr>
        <p:spPr>
          <a:xfrm>
            <a:off x="5123712" y="1024047"/>
            <a:ext cx="1602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0" name="Google Shape;1380;p69"/>
          <p:cNvSpPr/>
          <p:nvPr/>
        </p:nvSpPr>
        <p:spPr>
          <a:xfrm>
            <a:off x="5123712" y="1362184"/>
            <a:ext cx="160200" cy="114300"/>
          </a:xfrm>
          <a:prstGeom prst="ellipse">
            <a:avLst/>
          </a:prstGeom>
          <a:solidFill>
            <a:schemeClr val="accent2">
              <a:alpha val="498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1" name="Google Shape;1381;p69"/>
          <p:cNvSpPr/>
          <p:nvPr/>
        </p:nvSpPr>
        <p:spPr>
          <a:xfrm>
            <a:off x="5123712" y="1533634"/>
            <a:ext cx="160200" cy="114300"/>
          </a:xfrm>
          <a:prstGeom prst="ellipse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2" name="Google Shape;1382;p69"/>
          <p:cNvSpPr/>
          <p:nvPr/>
        </p:nvSpPr>
        <p:spPr>
          <a:xfrm>
            <a:off x="5123712" y="1705084"/>
            <a:ext cx="160200" cy="113100"/>
          </a:xfrm>
          <a:prstGeom prst="ellipse">
            <a:avLst/>
          </a:prstGeom>
          <a:solidFill>
            <a:schemeClr val="accent1">
              <a:alpha val="498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3" name="Google Shape;1383;p69"/>
          <p:cNvSpPr txBox="1"/>
          <p:nvPr/>
        </p:nvSpPr>
        <p:spPr>
          <a:xfrm>
            <a:off x="5833325" y="934750"/>
            <a:ext cx="1065300" cy="1137000"/>
          </a:xfrm>
          <a:prstGeom prst="rect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4" name="Google Shape;1384;p69"/>
          <p:cNvSpPr txBox="1"/>
          <p:nvPr/>
        </p:nvSpPr>
        <p:spPr>
          <a:xfrm>
            <a:off x="8591550" y="1339453"/>
            <a:ext cx="423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85" name="Google Shape;1385;p69"/>
          <p:cNvSpPr/>
          <p:nvPr/>
        </p:nvSpPr>
        <p:spPr>
          <a:xfrm>
            <a:off x="5071325" y="1334800"/>
            <a:ext cx="228600" cy="17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6" name="Google Shape;1386;p69"/>
          <p:cNvSpPr/>
          <p:nvPr/>
        </p:nvSpPr>
        <p:spPr>
          <a:xfrm>
            <a:off x="5071325" y="1506250"/>
            <a:ext cx="228600" cy="17160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7" name="Google Shape;1387;p69"/>
          <p:cNvSpPr/>
          <p:nvPr/>
        </p:nvSpPr>
        <p:spPr>
          <a:xfrm>
            <a:off x="5071325" y="1677700"/>
            <a:ext cx="228600" cy="17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8" name="Google Shape;1388;p69"/>
          <p:cNvSpPr/>
          <p:nvPr/>
        </p:nvSpPr>
        <p:spPr>
          <a:xfrm>
            <a:off x="5071325" y="1334800"/>
            <a:ext cx="228600" cy="17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69"/>
          <p:cNvSpPr txBox="1"/>
          <p:nvPr/>
        </p:nvSpPr>
        <p:spPr>
          <a:xfrm>
            <a:off x="5837375" y="931875"/>
            <a:ext cx="10653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Detector</a:t>
            </a:r>
            <a:endParaRPr/>
          </a:p>
        </p:txBody>
      </p:sp>
      <p:sp>
        <p:nvSpPr>
          <p:cNvPr id="1390" name="Google Shape;1390;p69"/>
          <p:cNvSpPr txBox="1"/>
          <p:nvPr/>
        </p:nvSpPr>
        <p:spPr>
          <a:xfrm>
            <a:off x="7534275" y="1024050"/>
            <a:ext cx="1379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Door unlocked</a:t>
            </a:r>
            <a:endParaRPr/>
          </a:p>
        </p:txBody>
      </p:sp>
      <p:sp>
        <p:nvSpPr>
          <p:cNvPr id="1391" name="Google Shape;1391;p69"/>
          <p:cNvSpPr txBox="1"/>
          <p:nvPr/>
        </p:nvSpPr>
        <p:spPr>
          <a:xfrm>
            <a:off x="7004125" y="921125"/>
            <a:ext cx="428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</a:t>
            </a:r>
            <a:endParaRPr/>
          </a:p>
        </p:txBody>
      </p:sp>
      <p:sp>
        <p:nvSpPr>
          <p:cNvPr id="1392" name="Google Shape;1392;p69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70"/>
          <p:cNvSpPr/>
          <p:nvPr/>
        </p:nvSpPr>
        <p:spPr>
          <a:xfrm>
            <a:off x="3435250" y="801975"/>
            <a:ext cx="5708700" cy="381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70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FSM Capture Example: Code Detector</a:t>
            </a:r>
            <a:endParaRPr/>
          </a:p>
        </p:txBody>
      </p:sp>
      <p:sp>
        <p:nvSpPr>
          <p:cNvPr id="1400" name="Google Shape;1400;p70"/>
          <p:cNvSpPr txBox="1"/>
          <p:nvPr>
            <p:ph idx="1" type="body"/>
          </p:nvPr>
        </p:nvSpPr>
        <p:spPr>
          <a:xfrm>
            <a:off x="228600" y="914400"/>
            <a:ext cx="32004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Capture as FSM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–"/>
            </a:pPr>
            <a:r>
              <a:rPr b="0" i="1" lang="en" sz="1800" u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List states</a:t>
            </a:r>
            <a:endParaRPr>
              <a:solidFill>
                <a:schemeClr val="accent4"/>
              </a:solidFill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1" i="1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transitions</a:t>
            </a:r>
            <a:endParaRPr/>
          </a:p>
        </p:txBody>
      </p:sp>
      <p:sp>
        <p:nvSpPr>
          <p:cNvPr id="1401" name="Google Shape;1401;p70"/>
          <p:cNvSpPr txBox="1"/>
          <p:nvPr/>
        </p:nvSpPr>
        <p:spPr>
          <a:xfrm>
            <a:off x="4409275" y="931050"/>
            <a:ext cx="24933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2" name="Google Shape;1402;p70"/>
          <p:cNvCxnSpPr/>
          <p:nvPr/>
        </p:nvCxnSpPr>
        <p:spPr>
          <a:xfrm>
            <a:off x="5450737" y="1933684"/>
            <a:ext cx="2619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03" name="Google Shape;1403;p70"/>
          <p:cNvSpPr/>
          <p:nvPr/>
        </p:nvSpPr>
        <p:spPr>
          <a:xfrm>
            <a:off x="5680925" y="1902728"/>
            <a:ext cx="171450" cy="60722"/>
          </a:xfrm>
          <a:custGeom>
            <a:rect b="b" l="l" r="r" t="t"/>
            <a:pathLst>
              <a:path extrusionOk="0" h="55" w="111">
                <a:moveTo>
                  <a:pt x="111" y="28"/>
                </a:moveTo>
                <a:lnTo>
                  <a:pt x="0" y="0"/>
                </a:lnTo>
                <a:lnTo>
                  <a:pt x="0" y="55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4" name="Google Shape;1404;p70"/>
          <p:cNvSpPr txBox="1"/>
          <p:nvPr/>
        </p:nvSpPr>
        <p:spPr>
          <a:xfrm>
            <a:off x="5501537" y="941894"/>
            <a:ext cx="69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405" name="Google Shape;1405;p70"/>
          <p:cNvSpPr txBox="1"/>
          <p:nvPr/>
        </p:nvSpPr>
        <p:spPr>
          <a:xfrm>
            <a:off x="5506300" y="1285984"/>
            <a:ext cx="58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406" name="Google Shape;1406;p70"/>
          <p:cNvSpPr txBox="1"/>
          <p:nvPr/>
        </p:nvSpPr>
        <p:spPr>
          <a:xfrm>
            <a:off x="5485662" y="1433621"/>
            <a:ext cx="88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1407" name="Google Shape;1407;p70"/>
          <p:cNvSpPr txBox="1"/>
          <p:nvPr/>
        </p:nvSpPr>
        <p:spPr>
          <a:xfrm>
            <a:off x="5485662" y="1628884"/>
            <a:ext cx="88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408" name="Google Shape;1408;p70"/>
          <p:cNvSpPr txBox="1"/>
          <p:nvPr/>
        </p:nvSpPr>
        <p:spPr>
          <a:xfrm>
            <a:off x="5493600" y="1797953"/>
            <a:ext cx="795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409" name="Google Shape;1409;p70"/>
          <p:cNvCxnSpPr/>
          <p:nvPr/>
        </p:nvCxnSpPr>
        <p:spPr>
          <a:xfrm>
            <a:off x="5284050" y="1419334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410" name="Google Shape;1410;p70"/>
          <p:cNvCxnSpPr/>
          <p:nvPr/>
        </p:nvCxnSpPr>
        <p:spPr>
          <a:xfrm>
            <a:off x="5284050" y="1590784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11" name="Google Shape;1411;p70"/>
          <p:cNvSpPr/>
          <p:nvPr/>
        </p:nvSpPr>
        <p:spPr>
          <a:xfrm>
            <a:off x="5680925" y="1561019"/>
            <a:ext cx="171450" cy="59531"/>
          </a:xfrm>
          <a:custGeom>
            <a:rect b="b" l="l" r="r" t="t"/>
            <a:pathLst>
              <a:path extrusionOk="0" h="55" w="111">
                <a:moveTo>
                  <a:pt x="111" y="28"/>
                </a:moveTo>
                <a:lnTo>
                  <a:pt x="0" y="0"/>
                </a:lnTo>
                <a:lnTo>
                  <a:pt x="0" y="55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2" name="Google Shape;1412;p70"/>
          <p:cNvCxnSpPr/>
          <p:nvPr/>
        </p:nvCxnSpPr>
        <p:spPr>
          <a:xfrm>
            <a:off x="5284050" y="1762234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13" name="Google Shape;1413;p70"/>
          <p:cNvSpPr/>
          <p:nvPr/>
        </p:nvSpPr>
        <p:spPr>
          <a:xfrm>
            <a:off x="5680925" y="1731278"/>
            <a:ext cx="171450" cy="60722"/>
          </a:xfrm>
          <a:custGeom>
            <a:rect b="b" l="l" r="r" t="t"/>
            <a:pathLst>
              <a:path extrusionOk="0" h="56" w="111">
                <a:moveTo>
                  <a:pt x="111" y="28"/>
                </a:moveTo>
                <a:lnTo>
                  <a:pt x="0" y="0"/>
                </a:lnTo>
                <a:lnTo>
                  <a:pt x="0" y="56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4" name="Google Shape;1414;p70"/>
          <p:cNvCxnSpPr/>
          <p:nvPr/>
        </p:nvCxnSpPr>
        <p:spPr>
          <a:xfrm>
            <a:off x="5284050" y="1081197"/>
            <a:ext cx="428700" cy="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15" name="Google Shape;1415;p70"/>
          <p:cNvSpPr/>
          <p:nvPr/>
        </p:nvSpPr>
        <p:spPr>
          <a:xfrm>
            <a:off x="5680925" y="1051431"/>
            <a:ext cx="171450" cy="59531"/>
          </a:xfrm>
          <a:custGeom>
            <a:rect b="b" l="l" r="r" t="t"/>
            <a:pathLst>
              <a:path extrusionOk="0" h="55" w="111">
                <a:moveTo>
                  <a:pt x="111" y="27"/>
                </a:moveTo>
                <a:lnTo>
                  <a:pt x="0" y="0"/>
                </a:lnTo>
                <a:lnTo>
                  <a:pt x="0" y="55"/>
                </a:lnTo>
                <a:lnTo>
                  <a:pt x="111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6" name="Google Shape;1416;p70"/>
          <p:cNvCxnSpPr/>
          <p:nvPr/>
        </p:nvCxnSpPr>
        <p:spPr>
          <a:xfrm>
            <a:off x="6938962" y="1232296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17" name="Google Shape;1417;p70"/>
          <p:cNvSpPr/>
          <p:nvPr/>
        </p:nvSpPr>
        <p:spPr>
          <a:xfrm>
            <a:off x="7335837" y="1201340"/>
            <a:ext cx="171450" cy="60722"/>
          </a:xfrm>
          <a:custGeom>
            <a:rect b="b" l="l" r="r" t="t"/>
            <a:pathLst>
              <a:path extrusionOk="0" h="56" w="111">
                <a:moveTo>
                  <a:pt x="111" y="28"/>
                </a:moveTo>
                <a:lnTo>
                  <a:pt x="0" y="0"/>
                </a:lnTo>
                <a:lnTo>
                  <a:pt x="0" y="56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8" name="Google Shape;1418;p70"/>
          <p:cNvSpPr/>
          <p:nvPr/>
        </p:nvSpPr>
        <p:spPr>
          <a:xfrm>
            <a:off x="5680925" y="1393140"/>
            <a:ext cx="171450" cy="60722"/>
          </a:xfrm>
          <a:custGeom>
            <a:rect b="b" l="l" r="r" t="t"/>
            <a:pathLst>
              <a:path extrusionOk="0" h="55" w="111">
                <a:moveTo>
                  <a:pt x="111" y="27"/>
                </a:moveTo>
                <a:lnTo>
                  <a:pt x="0" y="0"/>
                </a:lnTo>
                <a:lnTo>
                  <a:pt x="0" y="55"/>
                </a:lnTo>
                <a:lnTo>
                  <a:pt x="111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9" name="Google Shape;1419;p70"/>
          <p:cNvSpPr/>
          <p:nvPr/>
        </p:nvSpPr>
        <p:spPr>
          <a:xfrm>
            <a:off x="5123712" y="1024047"/>
            <a:ext cx="1602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0" name="Google Shape;1420;p70"/>
          <p:cNvSpPr/>
          <p:nvPr/>
        </p:nvSpPr>
        <p:spPr>
          <a:xfrm>
            <a:off x="5123712" y="1362184"/>
            <a:ext cx="160200" cy="114300"/>
          </a:xfrm>
          <a:prstGeom prst="ellipse">
            <a:avLst/>
          </a:prstGeom>
          <a:solidFill>
            <a:schemeClr val="accent2">
              <a:alpha val="498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1" name="Google Shape;1421;p70"/>
          <p:cNvSpPr/>
          <p:nvPr/>
        </p:nvSpPr>
        <p:spPr>
          <a:xfrm>
            <a:off x="5123712" y="1533634"/>
            <a:ext cx="160200" cy="114300"/>
          </a:xfrm>
          <a:prstGeom prst="ellipse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2" name="Google Shape;1422;p70"/>
          <p:cNvSpPr/>
          <p:nvPr/>
        </p:nvSpPr>
        <p:spPr>
          <a:xfrm>
            <a:off x="5123712" y="1705084"/>
            <a:ext cx="160200" cy="113100"/>
          </a:xfrm>
          <a:prstGeom prst="ellipse">
            <a:avLst/>
          </a:prstGeom>
          <a:solidFill>
            <a:schemeClr val="accent1">
              <a:alpha val="498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3" name="Google Shape;1423;p70"/>
          <p:cNvSpPr txBox="1"/>
          <p:nvPr/>
        </p:nvSpPr>
        <p:spPr>
          <a:xfrm>
            <a:off x="5833325" y="934750"/>
            <a:ext cx="1065300" cy="1137000"/>
          </a:xfrm>
          <a:prstGeom prst="rect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4" name="Google Shape;1424;p70"/>
          <p:cNvSpPr txBox="1"/>
          <p:nvPr/>
        </p:nvSpPr>
        <p:spPr>
          <a:xfrm>
            <a:off x="8591550" y="1339453"/>
            <a:ext cx="423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25" name="Google Shape;1425;p70"/>
          <p:cNvSpPr/>
          <p:nvPr/>
        </p:nvSpPr>
        <p:spPr>
          <a:xfrm>
            <a:off x="5071325" y="1334800"/>
            <a:ext cx="228600" cy="17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6" name="Google Shape;1426;p70"/>
          <p:cNvSpPr/>
          <p:nvPr/>
        </p:nvSpPr>
        <p:spPr>
          <a:xfrm>
            <a:off x="5071325" y="1506250"/>
            <a:ext cx="228600" cy="17160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7" name="Google Shape;1427;p70"/>
          <p:cNvSpPr/>
          <p:nvPr/>
        </p:nvSpPr>
        <p:spPr>
          <a:xfrm>
            <a:off x="5071325" y="1677700"/>
            <a:ext cx="228600" cy="17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8" name="Google Shape;1428;p70"/>
          <p:cNvSpPr/>
          <p:nvPr/>
        </p:nvSpPr>
        <p:spPr>
          <a:xfrm>
            <a:off x="5071325" y="1334800"/>
            <a:ext cx="228600" cy="17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9" name="Google Shape;1429;p70"/>
          <p:cNvSpPr txBox="1"/>
          <p:nvPr/>
        </p:nvSpPr>
        <p:spPr>
          <a:xfrm>
            <a:off x="5837375" y="931875"/>
            <a:ext cx="10653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Detector</a:t>
            </a:r>
            <a:endParaRPr/>
          </a:p>
        </p:txBody>
      </p:sp>
      <p:sp>
        <p:nvSpPr>
          <p:cNvPr id="1430" name="Google Shape;1430;p70"/>
          <p:cNvSpPr txBox="1"/>
          <p:nvPr/>
        </p:nvSpPr>
        <p:spPr>
          <a:xfrm>
            <a:off x="7534275" y="1024050"/>
            <a:ext cx="1379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Door unlocked</a:t>
            </a:r>
            <a:endParaRPr/>
          </a:p>
        </p:txBody>
      </p:sp>
      <p:sp>
        <p:nvSpPr>
          <p:cNvPr id="1431" name="Google Shape;1431;p70"/>
          <p:cNvSpPr txBox="1"/>
          <p:nvPr/>
        </p:nvSpPr>
        <p:spPr>
          <a:xfrm>
            <a:off x="7004125" y="921125"/>
            <a:ext cx="428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</a:t>
            </a:r>
            <a:endParaRPr/>
          </a:p>
        </p:txBody>
      </p:sp>
      <p:grpSp>
        <p:nvGrpSpPr>
          <p:cNvPr id="1432" name="Google Shape;1432;p70"/>
          <p:cNvGrpSpPr/>
          <p:nvPr/>
        </p:nvGrpSpPr>
        <p:grpSpPr>
          <a:xfrm>
            <a:off x="4619625" y="3812381"/>
            <a:ext cx="420687" cy="257175"/>
            <a:chOff x="4619625" y="5083175"/>
            <a:chExt cx="420687" cy="342900"/>
          </a:xfrm>
        </p:grpSpPr>
        <p:cxnSp>
          <p:nvCxnSpPr>
            <p:cNvPr id="1433" name="Google Shape;1433;p70"/>
            <p:cNvCxnSpPr/>
            <p:nvPr/>
          </p:nvCxnSpPr>
          <p:spPr>
            <a:xfrm>
              <a:off x="4619625" y="5373687"/>
              <a:ext cx="2889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434" name="Google Shape;1434;p70"/>
            <p:cNvSpPr/>
            <p:nvPr/>
          </p:nvSpPr>
          <p:spPr>
            <a:xfrm>
              <a:off x="4830762" y="5321300"/>
              <a:ext cx="209550" cy="104775"/>
            </a:xfrm>
            <a:custGeom>
              <a:rect b="b" l="l" r="r" t="t"/>
              <a:pathLst>
                <a:path extrusionOk="0" h="66" w="132">
                  <a:moveTo>
                    <a:pt x="132" y="33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32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5" name="Google Shape;1435;p70"/>
            <p:cNvSpPr txBox="1"/>
            <p:nvPr/>
          </p:nvSpPr>
          <p:spPr>
            <a:xfrm>
              <a:off x="4708525" y="5083175"/>
              <a:ext cx="2412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ab</a:t>
              </a:r>
              <a:endParaRPr/>
            </a:p>
          </p:txBody>
        </p:sp>
      </p:grpSp>
      <p:grpSp>
        <p:nvGrpSpPr>
          <p:cNvPr id="1436" name="Google Shape;1436;p70"/>
          <p:cNvGrpSpPr/>
          <p:nvPr/>
        </p:nvGrpSpPr>
        <p:grpSpPr>
          <a:xfrm>
            <a:off x="6053137" y="3795713"/>
            <a:ext cx="422275" cy="273844"/>
            <a:chOff x="6053137" y="5060950"/>
            <a:chExt cx="422275" cy="365125"/>
          </a:xfrm>
        </p:grpSpPr>
        <p:cxnSp>
          <p:nvCxnSpPr>
            <p:cNvPr id="1437" name="Google Shape;1437;p70"/>
            <p:cNvCxnSpPr/>
            <p:nvPr/>
          </p:nvCxnSpPr>
          <p:spPr>
            <a:xfrm>
              <a:off x="6053137" y="5373687"/>
              <a:ext cx="2904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438" name="Google Shape;1438;p70"/>
            <p:cNvSpPr/>
            <p:nvPr/>
          </p:nvSpPr>
          <p:spPr>
            <a:xfrm>
              <a:off x="6264275" y="5321300"/>
              <a:ext cx="211137" cy="104775"/>
            </a:xfrm>
            <a:custGeom>
              <a:rect b="b" l="l" r="r" t="t"/>
              <a:pathLst>
                <a:path extrusionOk="0" h="66" w="133">
                  <a:moveTo>
                    <a:pt x="133" y="33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33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9" name="Google Shape;1439;p70"/>
            <p:cNvSpPr txBox="1"/>
            <p:nvPr/>
          </p:nvSpPr>
          <p:spPr>
            <a:xfrm>
              <a:off x="6121400" y="5060950"/>
              <a:ext cx="2412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ag</a:t>
              </a:r>
              <a:endParaRPr/>
            </a:p>
          </p:txBody>
        </p:sp>
      </p:grpSp>
      <p:grpSp>
        <p:nvGrpSpPr>
          <p:cNvPr id="1440" name="Google Shape;1440;p70"/>
          <p:cNvGrpSpPr/>
          <p:nvPr/>
        </p:nvGrpSpPr>
        <p:grpSpPr>
          <a:xfrm>
            <a:off x="7473950" y="3817144"/>
            <a:ext cx="428624" cy="252413"/>
            <a:chOff x="7473950" y="5089525"/>
            <a:chExt cx="428624" cy="336550"/>
          </a:xfrm>
        </p:grpSpPr>
        <p:cxnSp>
          <p:nvCxnSpPr>
            <p:cNvPr id="1441" name="Google Shape;1441;p70"/>
            <p:cNvCxnSpPr/>
            <p:nvPr/>
          </p:nvCxnSpPr>
          <p:spPr>
            <a:xfrm>
              <a:off x="7473950" y="5373687"/>
              <a:ext cx="2970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442" name="Google Shape;1442;p70"/>
            <p:cNvSpPr/>
            <p:nvPr/>
          </p:nvSpPr>
          <p:spPr>
            <a:xfrm>
              <a:off x="7691437" y="5321300"/>
              <a:ext cx="211137" cy="104775"/>
            </a:xfrm>
            <a:custGeom>
              <a:rect b="b" l="l" r="r" t="t"/>
              <a:pathLst>
                <a:path extrusionOk="0" h="66" w="133">
                  <a:moveTo>
                    <a:pt x="133" y="33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33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3" name="Google Shape;1443;p70"/>
            <p:cNvSpPr txBox="1"/>
            <p:nvPr/>
          </p:nvSpPr>
          <p:spPr>
            <a:xfrm>
              <a:off x="7604125" y="5089525"/>
              <a:ext cx="192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ar</a:t>
              </a:r>
              <a:endParaRPr/>
            </a:p>
          </p:txBody>
        </p:sp>
      </p:grpSp>
      <p:grpSp>
        <p:nvGrpSpPr>
          <p:cNvPr id="1444" name="Google Shape;1444;p70"/>
          <p:cNvGrpSpPr/>
          <p:nvPr/>
        </p:nvGrpSpPr>
        <p:grpSpPr>
          <a:xfrm>
            <a:off x="3625850" y="3838575"/>
            <a:ext cx="993775" cy="560900"/>
            <a:chOff x="3625850" y="5118100"/>
            <a:chExt cx="993775" cy="747867"/>
          </a:xfrm>
        </p:grpSpPr>
        <p:sp>
          <p:nvSpPr>
            <p:cNvPr id="1445" name="Google Shape;1445;p70"/>
            <p:cNvSpPr txBox="1"/>
            <p:nvPr/>
          </p:nvSpPr>
          <p:spPr>
            <a:xfrm>
              <a:off x="3871912" y="5240337"/>
              <a:ext cx="5175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Red1</a:t>
              </a:r>
              <a:endParaRPr/>
            </a:p>
          </p:txBody>
        </p:sp>
        <p:sp>
          <p:nvSpPr>
            <p:cNvPr id="1446" name="Google Shape;1446;p70"/>
            <p:cNvSpPr/>
            <p:nvPr/>
          </p:nvSpPr>
          <p:spPr>
            <a:xfrm>
              <a:off x="3625850" y="5118100"/>
              <a:ext cx="993775" cy="506412"/>
            </a:xfrm>
            <a:custGeom>
              <a:rect b="b" l="l" r="r" t="t"/>
              <a:pathLst>
                <a:path extrusionOk="0" h="77" w="151">
                  <a:moveTo>
                    <a:pt x="108" y="74"/>
                  </a:moveTo>
                  <a:cubicBezTo>
                    <a:pt x="98" y="76"/>
                    <a:pt x="87" y="77"/>
                    <a:pt x="76" y="77"/>
                  </a:cubicBezTo>
                  <a:cubicBezTo>
                    <a:pt x="34" y="77"/>
                    <a:pt x="0" y="60"/>
                    <a:pt x="0" y="39"/>
                  </a:cubicBezTo>
                  <a:cubicBezTo>
                    <a:pt x="0" y="18"/>
                    <a:pt x="34" y="0"/>
                    <a:pt x="76" y="0"/>
                  </a:cubicBezTo>
                  <a:cubicBezTo>
                    <a:pt x="117" y="0"/>
                    <a:pt x="151" y="18"/>
                    <a:pt x="151" y="39"/>
                  </a:cubicBezTo>
                  <a:cubicBezTo>
                    <a:pt x="151" y="54"/>
                    <a:pt x="134" y="67"/>
                    <a:pt x="108" y="74"/>
                  </a:cubicBezTo>
                </a:path>
              </a:pathLst>
            </a:cu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7" name="Google Shape;1447;p70"/>
            <p:cNvSpPr txBox="1"/>
            <p:nvPr/>
          </p:nvSpPr>
          <p:spPr>
            <a:xfrm>
              <a:off x="3798866" y="5607067"/>
              <a:ext cx="651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</p:grpSp>
      <p:grpSp>
        <p:nvGrpSpPr>
          <p:cNvPr id="1448" name="Google Shape;1448;p70"/>
          <p:cNvGrpSpPr/>
          <p:nvPr/>
        </p:nvGrpSpPr>
        <p:grpSpPr>
          <a:xfrm>
            <a:off x="5053012" y="3838575"/>
            <a:ext cx="993775" cy="565650"/>
            <a:chOff x="5053012" y="5118100"/>
            <a:chExt cx="993775" cy="754200"/>
          </a:xfrm>
        </p:grpSpPr>
        <p:sp>
          <p:nvSpPr>
            <p:cNvPr id="1449" name="Google Shape;1449;p70"/>
            <p:cNvSpPr txBox="1"/>
            <p:nvPr/>
          </p:nvSpPr>
          <p:spPr>
            <a:xfrm>
              <a:off x="5334000" y="5240337"/>
              <a:ext cx="4335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Blue</a:t>
              </a:r>
              <a:endParaRPr/>
            </a:p>
          </p:txBody>
        </p:sp>
        <p:sp>
          <p:nvSpPr>
            <p:cNvPr id="1450" name="Google Shape;1450;p70"/>
            <p:cNvSpPr/>
            <p:nvPr/>
          </p:nvSpPr>
          <p:spPr>
            <a:xfrm>
              <a:off x="5053012" y="5118100"/>
              <a:ext cx="993775" cy="506412"/>
            </a:xfrm>
            <a:custGeom>
              <a:rect b="b" l="l" r="r" t="t"/>
              <a:pathLst>
                <a:path extrusionOk="0" h="77" w="151">
                  <a:moveTo>
                    <a:pt x="108" y="74"/>
                  </a:moveTo>
                  <a:cubicBezTo>
                    <a:pt x="98" y="76"/>
                    <a:pt x="87" y="77"/>
                    <a:pt x="76" y="77"/>
                  </a:cubicBezTo>
                  <a:cubicBezTo>
                    <a:pt x="34" y="77"/>
                    <a:pt x="0" y="60"/>
                    <a:pt x="0" y="39"/>
                  </a:cubicBezTo>
                  <a:cubicBezTo>
                    <a:pt x="0" y="18"/>
                    <a:pt x="34" y="0"/>
                    <a:pt x="76" y="0"/>
                  </a:cubicBezTo>
                  <a:cubicBezTo>
                    <a:pt x="117" y="0"/>
                    <a:pt x="151" y="18"/>
                    <a:pt x="151" y="39"/>
                  </a:cubicBezTo>
                  <a:cubicBezTo>
                    <a:pt x="151" y="54"/>
                    <a:pt x="133" y="68"/>
                    <a:pt x="108" y="74"/>
                  </a:cubicBezTo>
                </a:path>
              </a:pathLst>
            </a:cu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1" name="Google Shape;1451;p70"/>
            <p:cNvSpPr txBox="1"/>
            <p:nvPr/>
          </p:nvSpPr>
          <p:spPr>
            <a:xfrm>
              <a:off x="5253017" y="5613400"/>
              <a:ext cx="651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</p:grpSp>
      <p:grpSp>
        <p:nvGrpSpPr>
          <p:cNvPr id="1452" name="Google Shape;1452;p70"/>
          <p:cNvGrpSpPr/>
          <p:nvPr/>
        </p:nvGrpSpPr>
        <p:grpSpPr>
          <a:xfrm>
            <a:off x="6481762" y="3838575"/>
            <a:ext cx="992100" cy="565650"/>
            <a:chOff x="6481762" y="5118100"/>
            <a:chExt cx="992100" cy="754200"/>
          </a:xfrm>
        </p:grpSpPr>
        <p:sp>
          <p:nvSpPr>
            <p:cNvPr id="1453" name="Google Shape;1453;p70"/>
            <p:cNvSpPr txBox="1"/>
            <p:nvPr/>
          </p:nvSpPr>
          <p:spPr>
            <a:xfrm>
              <a:off x="6680200" y="5240337"/>
              <a:ext cx="6018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Green</a:t>
              </a:r>
              <a:endParaRPr/>
            </a:p>
          </p:txBody>
        </p:sp>
        <p:sp>
          <p:nvSpPr>
            <p:cNvPr id="1454" name="Google Shape;1454;p70"/>
            <p:cNvSpPr/>
            <p:nvPr/>
          </p:nvSpPr>
          <p:spPr>
            <a:xfrm>
              <a:off x="6481762" y="5118100"/>
              <a:ext cx="992100" cy="506400"/>
            </a:xfrm>
            <a:prstGeom prst="ellipse">
              <a:avLst/>
            </a:pr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5" name="Google Shape;1455;p70"/>
            <p:cNvSpPr txBox="1"/>
            <p:nvPr/>
          </p:nvSpPr>
          <p:spPr>
            <a:xfrm>
              <a:off x="6684941" y="5613400"/>
              <a:ext cx="651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</p:grpSp>
      <p:grpSp>
        <p:nvGrpSpPr>
          <p:cNvPr id="1456" name="Google Shape;1456;p70"/>
          <p:cNvGrpSpPr/>
          <p:nvPr/>
        </p:nvGrpSpPr>
        <p:grpSpPr>
          <a:xfrm>
            <a:off x="7908925" y="3838575"/>
            <a:ext cx="993900" cy="564459"/>
            <a:chOff x="7908925" y="5118100"/>
            <a:chExt cx="993900" cy="752612"/>
          </a:xfrm>
        </p:grpSpPr>
        <p:sp>
          <p:nvSpPr>
            <p:cNvPr id="1457" name="Google Shape;1457;p70"/>
            <p:cNvSpPr txBox="1"/>
            <p:nvPr/>
          </p:nvSpPr>
          <p:spPr>
            <a:xfrm>
              <a:off x="8154987" y="5240337"/>
              <a:ext cx="5175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Red2</a:t>
              </a:r>
              <a:endParaRPr/>
            </a:p>
          </p:txBody>
        </p:sp>
        <p:sp>
          <p:nvSpPr>
            <p:cNvPr id="1458" name="Google Shape;1458;p70"/>
            <p:cNvSpPr/>
            <p:nvPr/>
          </p:nvSpPr>
          <p:spPr>
            <a:xfrm>
              <a:off x="7908925" y="5118100"/>
              <a:ext cx="993900" cy="506400"/>
            </a:xfrm>
            <a:prstGeom prst="ellipse">
              <a:avLst/>
            </a:pr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9" name="Google Shape;1459;p70"/>
            <p:cNvSpPr txBox="1"/>
            <p:nvPr/>
          </p:nvSpPr>
          <p:spPr>
            <a:xfrm>
              <a:off x="8218487" y="5611812"/>
              <a:ext cx="3777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1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u=1</a:t>
              </a:r>
              <a:endParaRPr/>
            </a:p>
          </p:txBody>
        </p:sp>
      </p:grpSp>
      <p:sp>
        <p:nvSpPr>
          <p:cNvPr id="1460" name="Google Shape;1460;p70"/>
          <p:cNvSpPr txBox="1"/>
          <p:nvPr/>
        </p:nvSpPr>
        <p:spPr>
          <a:xfrm>
            <a:off x="7187408" y="2327675"/>
            <a:ext cx="875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1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Inputs:</a:t>
            </a:r>
            <a:endParaRPr/>
          </a:p>
        </p:txBody>
      </p:sp>
      <p:sp>
        <p:nvSpPr>
          <p:cNvPr id="1461" name="Google Shape;1461;p70"/>
          <p:cNvSpPr txBox="1"/>
          <p:nvPr/>
        </p:nvSpPr>
        <p:spPr>
          <a:xfrm>
            <a:off x="8102600" y="2327671"/>
            <a:ext cx="108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1462" name="Google Shape;1462;p70"/>
          <p:cNvSpPr txBox="1"/>
          <p:nvPr/>
        </p:nvSpPr>
        <p:spPr>
          <a:xfrm>
            <a:off x="8204200" y="2327671"/>
            <a:ext cx="6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/>
          </a:p>
        </p:txBody>
      </p:sp>
      <p:sp>
        <p:nvSpPr>
          <p:cNvPr id="1463" name="Google Shape;1463;p70"/>
          <p:cNvSpPr txBox="1"/>
          <p:nvPr/>
        </p:nvSpPr>
        <p:spPr>
          <a:xfrm>
            <a:off x="8262937" y="2327671"/>
            <a:ext cx="71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</p:txBody>
      </p:sp>
      <p:sp>
        <p:nvSpPr>
          <p:cNvPr id="1464" name="Google Shape;1464;p70"/>
          <p:cNvSpPr txBox="1"/>
          <p:nvPr/>
        </p:nvSpPr>
        <p:spPr>
          <a:xfrm>
            <a:off x="8321675" y="2327671"/>
            <a:ext cx="2412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,g,</a:t>
            </a:r>
            <a:endParaRPr/>
          </a:p>
        </p:txBody>
      </p:sp>
      <p:sp>
        <p:nvSpPr>
          <p:cNvPr id="1465" name="Google Shape;1465;p70"/>
          <p:cNvSpPr txBox="1"/>
          <p:nvPr/>
        </p:nvSpPr>
        <p:spPr>
          <a:xfrm>
            <a:off x="8556625" y="2327671"/>
            <a:ext cx="120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1466" name="Google Shape;1466;p70"/>
          <p:cNvSpPr txBox="1"/>
          <p:nvPr/>
        </p:nvSpPr>
        <p:spPr>
          <a:xfrm>
            <a:off x="8664575" y="2327671"/>
            <a:ext cx="180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endParaRPr/>
          </a:p>
        </p:txBody>
      </p:sp>
      <p:sp>
        <p:nvSpPr>
          <p:cNvPr id="1467" name="Google Shape;1467;p70"/>
          <p:cNvSpPr txBox="1"/>
          <p:nvPr/>
        </p:nvSpPr>
        <p:spPr>
          <a:xfrm>
            <a:off x="7161222" y="2516975"/>
            <a:ext cx="993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1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Outputs:</a:t>
            </a:r>
            <a:endParaRPr/>
          </a:p>
        </p:txBody>
      </p:sp>
      <p:sp>
        <p:nvSpPr>
          <p:cNvPr id="1468" name="Google Shape;1468;p70"/>
          <p:cNvSpPr txBox="1"/>
          <p:nvPr/>
        </p:nvSpPr>
        <p:spPr>
          <a:xfrm>
            <a:off x="8131175" y="2516981"/>
            <a:ext cx="180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</a:t>
            </a:r>
            <a:endParaRPr/>
          </a:p>
        </p:txBody>
      </p:sp>
      <p:grpSp>
        <p:nvGrpSpPr>
          <p:cNvPr id="1469" name="Google Shape;1469;p70"/>
          <p:cNvGrpSpPr/>
          <p:nvPr/>
        </p:nvGrpSpPr>
        <p:grpSpPr>
          <a:xfrm>
            <a:off x="3435259" y="2364538"/>
            <a:ext cx="3281370" cy="852767"/>
            <a:chOff x="3435350" y="3124200"/>
            <a:chExt cx="3029050" cy="1138237"/>
          </a:xfrm>
        </p:grpSpPr>
        <p:sp>
          <p:nvSpPr>
            <p:cNvPr id="1470" name="Google Shape;1470;p70"/>
            <p:cNvSpPr txBox="1"/>
            <p:nvPr/>
          </p:nvSpPr>
          <p:spPr>
            <a:xfrm>
              <a:off x="3917950" y="3513137"/>
              <a:ext cx="2031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</a:t>
              </a:r>
              <a:endParaRPr/>
            </a:p>
          </p:txBody>
        </p:sp>
        <p:sp>
          <p:nvSpPr>
            <p:cNvPr id="1471" name="Google Shape;1471;p70"/>
            <p:cNvSpPr txBox="1"/>
            <p:nvPr/>
          </p:nvSpPr>
          <p:spPr>
            <a:xfrm>
              <a:off x="4108450" y="3513137"/>
              <a:ext cx="228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ait</a:t>
              </a:r>
              <a:endParaRPr/>
            </a:p>
          </p:txBody>
        </p:sp>
        <p:cxnSp>
          <p:nvCxnSpPr>
            <p:cNvPr id="1472" name="Google Shape;1472;p70"/>
            <p:cNvCxnSpPr/>
            <p:nvPr/>
          </p:nvCxnSpPr>
          <p:spPr>
            <a:xfrm>
              <a:off x="3573462" y="3124200"/>
              <a:ext cx="112800" cy="203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473" name="Google Shape;1473;p70"/>
            <p:cNvSpPr/>
            <p:nvPr/>
          </p:nvSpPr>
          <p:spPr>
            <a:xfrm>
              <a:off x="3600450" y="3235325"/>
              <a:ext cx="144462" cy="211137"/>
            </a:xfrm>
            <a:custGeom>
              <a:rect b="b" l="l" r="r" t="t"/>
              <a:pathLst>
                <a:path extrusionOk="0" h="133" w="91">
                  <a:moveTo>
                    <a:pt x="91" y="133"/>
                  </a:moveTo>
                  <a:lnTo>
                    <a:pt x="58" y="0"/>
                  </a:lnTo>
                  <a:lnTo>
                    <a:pt x="0" y="34"/>
                  </a:lnTo>
                  <a:lnTo>
                    <a:pt x="91" y="1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74" name="Google Shape;1474;p70"/>
            <p:cNvCxnSpPr/>
            <p:nvPr/>
          </p:nvCxnSpPr>
          <p:spPr>
            <a:xfrm>
              <a:off x="4119562" y="3881437"/>
              <a:ext cx="0" cy="2301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475" name="Google Shape;1475;p70"/>
            <p:cNvSpPr/>
            <p:nvPr/>
          </p:nvSpPr>
          <p:spPr>
            <a:xfrm>
              <a:off x="4067175" y="4032250"/>
              <a:ext cx="104775" cy="209550"/>
            </a:xfrm>
            <a:custGeom>
              <a:rect b="b" l="l" r="r" t="t"/>
              <a:pathLst>
                <a:path extrusionOk="0" h="132" w="66">
                  <a:moveTo>
                    <a:pt x="33" y="132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1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6" name="Google Shape;1476;p70"/>
            <p:cNvSpPr/>
            <p:nvPr/>
          </p:nvSpPr>
          <p:spPr>
            <a:xfrm>
              <a:off x="4586287" y="3762375"/>
              <a:ext cx="198437" cy="177800"/>
            </a:xfrm>
            <a:custGeom>
              <a:rect b="b" l="l" r="r" t="t"/>
              <a:pathLst>
                <a:path extrusionOk="0" h="112" w="125">
                  <a:moveTo>
                    <a:pt x="0" y="0"/>
                  </a:moveTo>
                  <a:lnTo>
                    <a:pt x="79" y="112"/>
                  </a:lnTo>
                  <a:lnTo>
                    <a:pt x="125" y="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7" name="Google Shape;1477;p70"/>
            <p:cNvSpPr/>
            <p:nvPr/>
          </p:nvSpPr>
          <p:spPr>
            <a:xfrm>
              <a:off x="4337050" y="3821112"/>
              <a:ext cx="519112" cy="441325"/>
            </a:xfrm>
            <a:custGeom>
              <a:rect b="b" l="l" r="r" t="t"/>
              <a:pathLst>
                <a:path extrusionOk="0" h="67" w="79">
                  <a:moveTo>
                    <a:pt x="0" y="7"/>
                  </a:moveTo>
                  <a:cubicBezTo>
                    <a:pt x="0" y="7"/>
                    <a:pt x="3" y="67"/>
                    <a:pt x="54" y="35"/>
                  </a:cubicBezTo>
                  <a:cubicBezTo>
                    <a:pt x="54" y="35"/>
                    <a:pt x="79" y="17"/>
                    <a:pt x="50" y="0"/>
                  </a:cubicBezTo>
                </a:path>
              </a:pathLst>
            </a:cu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8" name="Google Shape;1478;p70"/>
            <p:cNvSpPr txBox="1"/>
            <p:nvPr/>
          </p:nvSpPr>
          <p:spPr>
            <a:xfrm>
              <a:off x="4797425" y="3897312"/>
              <a:ext cx="1491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s'</a:t>
              </a:r>
              <a:endParaRPr/>
            </a:p>
          </p:txBody>
        </p:sp>
        <p:sp>
          <p:nvSpPr>
            <p:cNvPr id="1479" name="Google Shape;1479;p70"/>
            <p:cNvSpPr/>
            <p:nvPr/>
          </p:nvSpPr>
          <p:spPr>
            <a:xfrm>
              <a:off x="3554450" y="3381367"/>
              <a:ext cx="1065300" cy="506400"/>
            </a:xfrm>
            <a:prstGeom prst="ellipse">
              <a:avLst/>
            </a:pr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0" name="Google Shape;1480;p70"/>
            <p:cNvSpPr txBox="1"/>
            <p:nvPr/>
          </p:nvSpPr>
          <p:spPr>
            <a:xfrm>
              <a:off x="3435350" y="3813175"/>
              <a:ext cx="366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  <p:sp>
          <p:nvSpPr>
            <p:cNvPr id="1481" name="Google Shape;1481;p70"/>
            <p:cNvSpPr txBox="1"/>
            <p:nvPr/>
          </p:nvSpPr>
          <p:spPr>
            <a:xfrm>
              <a:off x="3922712" y="3914775"/>
              <a:ext cx="108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</a:t>
              </a:r>
              <a:endParaRPr/>
            </a:p>
          </p:txBody>
        </p:sp>
        <p:sp>
          <p:nvSpPr>
            <p:cNvPr id="1482" name="Google Shape;1482;p70"/>
            <p:cNvSpPr txBox="1"/>
            <p:nvPr/>
          </p:nvSpPr>
          <p:spPr>
            <a:xfrm>
              <a:off x="4624387" y="3422650"/>
              <a:ext cx="2031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</a:t>
              </a:r>
              <a:endParaRPr/>
            </a:p>
          </p:txBody>
        </p:sp>
        <p:sp>
          <p:nvSpPr>
            <p:cNvPr id="1483" name="Google Shape;1483;p70"/>
            <p:cNvSpPr txBox="1"/>
            <p:nvPr/>
          </p:nvSpPr>
          <p:spPr>
            <a:xfrm>
              <a:off x="4814887" y="3422650"/>
              <a:ext cx="228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ait</a:t>
              </a:r>
              <a:endParaRPr/>
            </a:p>
          </p:txBody>
        </p:sp>
        <p:sp>
          <p:nvSpPr>
            <p:cNvPr id="1484" name="Google Shape;1484;p70"/>
            <p:cNvSpPr txBox="1"/>
            <p:nvPr/>
          </p:nvSpPr>
          <p:spPr>
            <a:xfrm>
              <a:off x="5095875" y="3422650"/>
              <a:ext cx="603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sp>
          <p:nvSpPr>
            <p:cNvPr id="1485" name="Google Shape;1485;p70"/>
            <p:cNvSpPr txBox="1"/>
            <p:nvPr/>
          </p:nvSpPr>
          <p:spPr>
            <a:xfrm>
              <a:off x="5146675" y="3422650"/>
              <a:ext cx="5412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or sta</a:t>
              </a:r>
              <a:endParaRPr/>
            </a:p>
          </p:txBody>
        </p:sp>
        <p:sp>
          <p:nvSpPr>
            <p:cNvPr id="1486" name="Google Shape;1486;p70"/>
            <p:cNvSpPr txBox="1"/>
            <p:nvPr/>
          </p:nvSpPr>
          <p:spPr>
            <a:xfrm>
              <a:off x="5673725" y="3422650"/>
              <a:ext cx="71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</a:t>
              </a:r>
              <a:endParaRPr/>
            </a:p>
          </p:txBody>
        </p:sp>
        <p:sp>
          <p:nvSpPr>
            <p:cNvPr id="1487" name="Google Shape;1487;p70"/>
            <p:cNvSpPr txBox="1"/>
            <p:nvPr/>
          </p:nvSpPr>
          <p:spPr>
            <a:xfrm>
              <a:off x="5753100" y="3422650"/>
              <a:ext cx="603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</a:t>
              </a:r>
              <a:endParaRPr/>
            </a:p>
          </p:txBody>
        </p:sp>
        <p:sp>
          <p:nvSpPr>
            <p:cNvPr id="1488" name="Google Shape;1488;p70"/>
            <p:cNvSpPr txBox="1"/>
            <p:nvPr/>
          </p:nvSpPr>
          <p:spPr>
            <a:xfrm>
              <a:off x="5868987" y="3422650"/>
              <a:ext cx="120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1489" name="Google Shape;1489;p70"/>
            <p:cNvSpPr txBox="1"/>
            <p:nvPr/>
          </p:nvSpPr>
          <p:spPr>
            <a:xfrm>
              <a:off x="5981700" y="3422650"/>
              <a:ext cx="4827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utton</a:t>
              </a:r>
              <a:endParaRPr/>
            </a:p>
          </p:txBody>
        </p:sp>
      </p:grpSp>
      <p:grpSp>
        <p:nvGrpSpPr>
          <p:cNvPr id="1490" name="Google Shape;1490;p70"/>
          <p:cNvGrpSpPr/>
          <p:nvPr/>
        </p:nvGrpSpPr>
        <p:grpSpPr>
          <a:xfrm>
            <a:off x="3846512" y="3561159"/>
            <a:ext cx="325438" cy="277415"/>
            <a:chOff x="3846512" y="4748212"/>
            <a:chExt cx="325438" cy="369887"/>
          </a:xfrm>
        </p:grpSpPr>
        <p:cxnSp>
          <p:nvCxnSpPr>
            <p:cNvPr id="1491" name="Google Shape;1491;p70"/>
            <p:cNvCxnSpPr/>
            <p:nvPr/>
          </p:nvCxnSpPr>
          <p:spPr>
            <a:xfrm>
              <a:off x="4119562" y="4748212"/>
              <a:ext cx="0" cy="2382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492" name="Google Shape;1492;p70"/>
            <p:cNvSpPr/>
            <p:nvPr/>
          </p:nvSpPr>
          <p:spPr>
            <a:xfrm>
              <a:off x="4067175" y="4906962"/>
              <a:ext cx="104775" cy="211137"/>
            </a:xfrm>
            <a:custGeom>
              <a:rect b="b" l="l" r="r" t="t"/>
              <a:pathLst>
                <a:path extrusionOk="0" h="133" w="66">
                  <a:moveTo>
                    <a:pt x="33" y="133"/>
                  </a:moveTo>
                  <a:lnTo>
                    <a:pt x="66" y="0"/>
                  </a:lnTo>
                  <a:lnTo>
                    <a:pt x="0" y="0"/>
                  </a:lnTo>
                  <a:lnTo>
                    <a:pt x="33" y="1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3" name="Google Shape;1493;p70"/>
            <p:cNvSpPr txBox="1"/>
            <p:nvPr/>
          </p:nvSpPr>
          <p:spPr>
            <a:xfrm>
              <a:off x="3846512" y="4797425"/>
              <a:ext cx="1920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ar</a:t>
              </a:r>
              <a:endParaRPr/>
            </a:p>
          </p:txBody>
        </p:sp>
      </p:grpSp>
      <p:grpSp>
        <p:nvGrpSpPr>
          <p:cNvPr id="1494" name="Google Shape;1494;p70"/>
          <p:cNvGrpSpPr/>
          <p:nvPr/>
        </p:nvGrpSpPr>
        <p:grpSpPr>
          <a:xfrm>
            <a:off x="3435350" y="3187303"/>
            <a:ext cx="4708600" cy="525172"/>
            <a:chOff x="3435350" y="4249737"/>
            <a:chExt cx="4708600" cy="700230"/>
          </a:xfrm>
        </p:grpSpPr>
        <p:sp>
          <p:nvSpPr>
            <p:cNvPr id="1495" name="Google Shape;1495;p70"/>
            <p:cNvSpPr txBox="1"/>
            <p:nvPr/>
          </p:nvSpPr>
          <p:spPr>
            <a:xfrm>
              <a:off x="3897312" y="4370387"/>
              <a:ext cx="3255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Sta</a:t>
              </a:r>
              <a:endParaRPr/>
            </a:p>
          </p:txBody>
        </p:sp>
        <p:sp>
          <p:nvSpPr>
            <p:cNvPr id="1496" name="Google Shape;1496;p70"/>
            <p:cNvSpPr txBox="1"/>
            <p:nvPr/>
          </p:nvSpPr>
          <p:spPr>
            <a:xfrm>
              <a:off x="4213225" y="4370387"/>
              <a:ext cx="71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</a:t>
              </a:r>
              <a:endParaRPr/>
            </a:p>
          </p:txBody>
        </p:sp>
        <p:sp>
          <p:nvSpPr>
            <p:cNvPr id="1497" name="Google Shape;1497;p70"/>
            <p:cNvSpPr txBox="1"/>
            <p:nvPr/>
          </p:nvSpPr>
          <p:spPr>
            <a:xfrm>
              <a:off x="4292600" y="4370387"/>
              <a:ext cx="603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</a:t>
              </a:r>
              <a:endParaRPr/>
            </a:p>
          </p:txBody>
        </p:sp>
        <p:sp>
          <p:nvSpPr>
            <p:cNvPr id="1498" name="Google Shape;1498;p70"/>
            <p:cNvSpPr/>
            <p:nvPr/>
          </p:nvSpPr>
          <p:spPr>
            <a:xfrm>
              <a:off x="3625850" y="4249737"/>
              <a:ext cx="993900" cy="506400"/>
            </a:xfrm>
            <a:prstGeom prst="ellipse">
              <a:avLst/>
            </a:prstGeom>
            <a:noFill/>
            <a:ln cap="flat" cmpd="sng" w="19050">
              <a:solidFill>
                <a:srgbClr val="0079C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9" name="Google Shape;1499;p70"/>
            <p:cNvSpPr txBox="1"/>
            <p:nvPr/>
          </p:nvSpPr>
          <p:spPr>
            <a:xfrm>
              <a:off x="3435350" y="4691067"/>
              <a:ext cx="582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u=0</a:t>
              </a:r>
              <a:endParaRPr/>
            </a:p>
          </p:txBody>
        </p:sp>
        <p:sp>
          <p:nvSpPr>
            <p:cNvPr id="1500" name="Google Shape;1500;p70"/>
            <p:cNvSpPr txBox="1"/>
            <p:nvPr/>
          </p:nvSpPr>
          <p:spPr>
            <a:xfrm>
              <a:off x="4659312" y="4341812"/>
              <a:ext cx="2031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</a:t>
              </a:r>
              <a:endParaRPr/>
            </a:p>
          </p:txBody>
        </p:sp>
        <p:sp>
          <p:nvSpPr>
            <p:cNvPr id="1501" name="Google Shape;1501;p70"/>
            <p:cNvSpPr txBox="1"/>
            <p:nvPr/>
          </p:nvSpPr>
          <p:spPr>
            <a:xfrm>
              <a:off x="4849812" y="4341812"/>
              <a:ext cx="228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ait</a:t>
              </a:r>
              <a:endParaRPr/>
            </a:p>
          </p:txBody>
        </p:sp>
        <p:sp>
          <p:nvSpPr>
            <p:cNvPr id="1502" name="Google Shape;1502;p70"/>
            <p:cNvSpPr txBox="1"/>
            <p:nvPr/>
          </p:nvSpPr>
          <p:spPr>
            <a:xfrm>
              <a:off x="5130800" y="4341812"/>
              <a:ext cx="603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sp>
          <p:nvSpPr>
            <p:cNvPr id="1503" name="Google Shape;1503;p70"/>
            <p:cNvSpPr txBox="1"/>
            <p:nvPr/>
          </p:nvSpPr>
          <p:spPr>
            <a:xfrm>
              <a:off x="5183177" y="4341800"/>
              <a:ext cx="23241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or first</a:t>
              </a:r>
              <a:r>
                <a:rPr i="1" lang="en" sz="1700"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b="0" i="1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colored button</a:t>
              </a:r>
              <a:endParaRPr/>
            </a:p>
          </p:txBody>
        </p:sp>
        <p:sp>
          <p:nvSpPr>
            <p:cNvPr id="1504" name="Google Shape;1504;p70"/>
            <p:cNvSpPr txBox="1"/>
            <p:nvPr/>
          </p:nvSpPr>
          <p:spPr>
            <a:xfrm>
              <a:off x="6959550" y="4341800"/>
              <a:ext cx="11844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t/>
              </a:r>
              <a:endParaRPr/>
            </a:p>
          </p:txBody>
        </p:sp>
      </p:grpSp>
      <p:sp>
        <p:nvSpPr>
          <p:cNvPr id="1505" name="Google Shape;1505;p70"/>
          <p:cNvSpPr txBox="1"/>
          <p:nvPr/>
        </p:nvSpPr>
        <p:spPr>
          <a:xfrm>
            <a:off x="5432425" y="3053950"/>
            <a:ext cx="433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1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ar'</a:t>
            </a:r>
            <a:endParaRPr/>
          </a:p>
        </p:txBody>
      </p:sp>
      <p:sp>
        <p:nvSpPr>
          <p:cNvPr id="1506" name="Google Shape;1506;p70"/>
          <p:cNvSpPr/>
          <p:nvPr/>
        </p:nvSpPr>
        <p:spPr>
          <a:xfrm>
            <a:off x="4668837" y="2551509"/>
            <a:ext cx="949325" cy="820340"/>
          </a:xfrm>
          <a:custGeom>
            <a:rect b="b" l="l" r="r" t="t"/>
            <a:pathLst>
              <a:path extrusionOk="0" h="159" w="138">
                <a:moveTo>
                  <a:pt x="3" y="15"/>
                </a:moveTo>
                <a:cubicBezTo>
                  <a:pt x="3" y="15"/>
                  <a:pt x="63" y="0"/>
                  <a:pt x="92" y="38"/>
                </a:cubicBezTo>
                <a:cubicBezTo>
                  <a:pt x="92" y="38"/>
                  <a:pt x="138" y="84"/>
                  <a:pt x="95" y="126"/>
                </a:cubicBezTo>
                <a:cubicBezTo>
                  <a:pt x="95" y="126"/>
                  <a:pt x="72" y="159"/>
                  <a:pt x="0" y="156"/>
                </a:cubicBezTo>
              </a:path>
            </a:pathLst>
          </a:custGeom>
          <a:noFill/>
          <a:ln cap="flat" cmpd="sng" w="412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7" name="Google Shape;1507;p70"/>
          <p:cNvSpPr/>
          <p:nvPr/>
        </p:nvSpPr>
        <p:spPr>
          <a:xfrm>
            <a:off x="4613275" y="2571750"/>
            <a:ext cx="220662" cy="83344"/>
          </a:xfrm>
          <a:custGeom>
            <a:rect b="b" l="l" r="r" t="t"/>
            <a:pathLst>
              <a:path extrusionOk="0" h="70" w="139">
                <a:moveTo>
                  <a:pt x="0" y="57"/>
                </a:moveTo>
                <a:lnTo>
                  <a:pt x="139" y="70"/>
                </a:lnTo>
                <a:lnTo>
                  <a:pt x="130" y="0"/>
                </a:lnTo>
                <a:lnTo>
                  <a:pt x="0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08" name="Google Shape;1508;p70"/>
          <p:cNvGrpSpPr/>
          <p:nvPr/>
        </p:nvGrpSpPr>
        <p:grpSpPr>
          <a:xfrm>
            <a:off x="4378325" y="3409950"/>
            <a:ext cx="886471" cy="392906"/>
            <a:chOff x="4073525" y="4546600"/>
            <a:chExt cx="886471" cy="523874"/>
          </a:xfrm>
        </p:grpSpPr>
        <p:sp>
          <p:nvSpPr>
            <p:cNvPr id="1509" name="Google Shape;1509;p70"/>
            <p:cNvSpPr/>
            <p:nvPr/>
          </p:nvSpPr>
          <p:spPr>
            <a:xfrm>
              <a:off x="4335462" y="4546600"/>
              <a:ext cx="206375" cy="185737"/>
            </a:xfrm>
            <a:custGeom>
              <a:rect b="b" l="l" r="r" t="t"/>
              <a:pathLst>
                <a:path extrusionOk="0" h="117" w="130">
                  <a:moveTo>
                    <a:pt x="0" y="0"/>
                  </a:moveTo>
                  <a:lnTo>
                    <a:pt x="82" y="117"/>
                  </a:lnTo>
                  <a:lnTo>
                    <a:pt x="130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0" name="Google Shape;1510;p70"/>
            <p:cNvSpPr/>
            <p:nvPr/>
          </p:nvSpPr>
          <p:spPr>
            <a:xfrm>
              <a:off x="4073525" y="4602162"/>
              <a:ext cx="550862" cy="468312"/>
            </a:xfrm>
            <a:custGeom>
              <a:rect b="b" l="l" r="r" t="t"/>
              <a:pathLst>
                <a:path extrusionOk="0" h="68" w="80">
                  <a:moveTo>
                    <a:pt x="0" y="8"/>
                  </a:moveTo>
                  <a:cubicBezTo>
                    <a:pt x="0" y="8"/>
                    <a:pt x="3" y="68"/>
                    <a:pt x="54" y="36"/>
                  </a:cubicBezTo>
                  <a:cubicBezTo>
                    <a:pt x="54" y="36"/>
                    <a:pt x="80" y="17"/>
                    <a:pt x="48" y="0"/>
                  </a:cubicBezTo>
                </a:path>
              </a:pathLst>
            </a:custGeom>
            <a:noFill/>
            <a:ln cap="flat" cmpd="sng" w="412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1" name="Google Shape;1511;p70"/>
            <p:cNvSpPr txBox="1"/>
            <p:nvPr/>
          </p:nvSpPr>
          <p:spPr>
            <a:xfrm>
              <a:off x="4582296" y="4622000"/>
              <a:ext cx="377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Helvetica Neue"/>
                <a:buNone/>
              </a:pPr>
              <a:r>
                <a:rPr b="1" i="0" lang="en" sz="1700" u="non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a'</a:t>
              </a:r>
              <a:endParaRPr/>
            </a:p>
          </p:txBody>
        </p:sp>
      </p:grpSp>
      <p:sp>
        <p:nvSpPr>
          <p:cNvPr id="1512" name="Google Shape;1512;p70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71"/>
          <p:cNvSpPr/>
          <p:nvPr/>
        </p:nvSpPr>
        <p:spPr>
          <a:xfrm>
            <a:off x="3458975" y="801975"/>
            <a:ext cx="5685000" cy="381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71"/>
          <p:cNvSpPr/>
          <p:nvPr/>
        </p:nvSpPr>
        <p:spPr>
          <a:xfrm>
            <a:off x="4532312" y="2494359"/>
            <a:ext cx="2047875" cy="1551384"/>
          </a:xfrm>
          <a:custGeom>
            <a:rect b="b" l="l" r="r" t="t"/>
            <a:pathLst>
              <a:path extrusionOk="0" h="306" w="303">
                <a:moveTo>
                  <a:pt x="0" y="25"/>
                </a:moveTo>
                <a:cubicBezTo>
                  <a:pt x="20" y="16"/>
                  <a:pt x="67" y="0"/>
                  <a:pt x="126" y="9"/>
                </a:cubicBezTo>
                <a:cubicBezTo>
                  <a:pt x="126" y="9"/>
                  <a:pt x="156" y="15"/>
                  <a:pt x="185" y="30"/>
                </a:cubicBezTo>
                <a:cubicBezTo>
                  <a:pt x="185" y="30"/>
                  <a:pt x="291" y="89"/>
                  <a:pt x="296" y="167"/>
                </a:cubicBezTo>
                <a:cubicBezTo>
                  <a:pt x="296" y="167"/>
                  <a:pt x="303" y="264"/>
                  <a:pt x="222" y="306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71"/>
          <p:cNvSpPr/>
          <p:nvPr/>
        </p:nvSpPr>
        <p:spPr>
          <a:xfrm>
            <a:off x="4640262" y="2620565"/>
            <a:ext cx="931862" cy="807244"/>
          </a:xfrm>
          <a:custGeom>
            <a:rect b="b" l="l" r="r" t="t"/>
            <a:pathLst>
              <a:path extrusionOk="0" h="159" w="138">
                <a:moveTo>
                  <a:pt x="3" y="15"/>
                </a:moveTo>
                <a:cubicBezTo>
                  <a:pt x="3" y="15"/>
                  <a:pt x="63" y="0"/>
                  <a:pt x="92" y="38"/>
                </a:cubicBezTo>
                <a:cubicBezTo>
                  <a:pt x="92" y="38"/>
                  <a:pt x="138" y="84"/>
                  <a:pt x="95" y="126"/>
                </a:cubicBezTo>
                <a:cubicBezTo>
                  <a:pt x="95" y="126"/>
                  <a:pt x="72" y="159"/>
                  <a:pt x="0" y="156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1" name="Google Shape;1521;p71"/>
          <p:cNvSpPr/>
          <p:nvPr/>
        </p:nvSpPr>
        <p:spPr>
          <a:xfrm>
            <a:off x="4518025" y="2468165"/>
            <a:ext cx="1555750" cy="1552575"/>
          </a:xfrm>
          <a:custGeom>
            <a:rect b="b" l="l" r="r" t="t"/>
            <a:pathLst>
              <a:path extrusionOk="0" h="306" w="230">
                <a:moveTo>
                  <a:pt x="14" y="36"/>
                </a:moveTo>
                <a:cubicBezTo>
                  <a:pt x="14" y="36"/>
                  <a:pt x="102" y="0"/>
                  <a:pt x="161" y="54"/>
                </a:cubicBezTo>
                <a:cubicBezTo>
                  <a:pt x="161" y="54"/>
                  <a:pt x="230" y="116"/>
                  <a:pt x="184" y="184"/>
                </a:cubicBezTo>
                <a:cubicBezTo>
                  <a:pt x="184" y="184"/>
                  <a:pt x="129" y="254"/>
                  <a:pt x="0" y="306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2" name="Google Shape;1522;p71"/>
          <p:cNvSpPr/>
          <p:nvPr/>
        </p:nvSpPr>
        <p:spPr>
          <a:xfrm>
            <a:off x="3700462" y="2651522"/>
            <a:ext cx="1020900" cy="390600"/>
          </a:xfrm>
          <a:prstGeom prst="ellipse">
            <a:avLst/>
          </a:prstGeom>
          <a:noFill/>
          <a:ln cap="flat" cmpd="sng" w="20625">
            <a:solidFill>
              <a:srgbClr val="0079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3" name="Google Shape;1523;p71"/>
          <p:cNvSpPr/>
          <p:nvPr/>
        </p:nvSpPr>
        <p:spPr>
          <a:xfrm>
            <a:off x="4275137" y="2290763"/>
            <a:ext cx="4522786" cy="1704975"/>
          </a:xfrm>
          <a:custGeom>
            <a:rect b="b" l="l" r="r" t="t"/>
            <a:pathLst>
              <a:path extrusionOk="0" h="336" w="669">
                <a:moveTo>
                  <a:pt x="0" y="57"/>
                </a:moveTo>
                <a:cubicBezTo>
                  <a:pt x="0" y="57"/>
                  <a:pt x="49" y="0"/>
                  <a:pt x="138" y="5"/>
                </a:cubicBezTo>
                <a:cubicBezTo>
                  <a:pt x="138" y="5"/>
                  <a:pt x="225" y="5"/>
                  <a:pt x="360" y="67"/>
                </a:cubicBezTo>
                <a:cubicBezTo>
                  <a:pt x="360" y="67"/>
                  <a:pt x="669" y="200"/>
                  <a:pt x="664" y="336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4" name="Google Shape;1524;p71"/>
          <p:cNvSpPr/>
          <p:nvPr/>
        </p:nvSpPr>
        <p:spPr>
          <a:xfrm>
            <a:off x="4410075" y="2413396"/>
            <a:ext cx="3989387" cy="1647825"/>
          </a:xfrm>
          <a:custGeom>
            <a:rect b="b" l="l" r="r" t="t"/>
            <a:pathLst>
              <a:path extrusionOk="0" h="325" w="590">
                <a:moveTo>
                  <a:pt x="0" y="36"/>
                </a:moveTo>
                <a:cubicBezTo>
                  <a:pt x="0" y="36"/>
                  <a:pt x="45" y="0"/>
                  <a:pt x="114" y="1"/>
                </a:cubicBezTo>
                <a:cubicBezTo>
                  <a:pt x="114" y="1"/>
                  <a:pt x="184" y="7"/>
                  <a:pt x="233" y="32"/>
                </a:cubicBezTo>
                <a:cubicBezTo>
                  <a:pt x="233" y="32"/>
                  <a:pt x="330" y="79"/>
                  <a:pt x="420" y="156"/>
                </a:cubicBezTo>
                <a:cubicBezTo>
                  <a:pt x="420" y="156"/>
                  <a:pt x="590" y="277"/>
                  <a:pt x="462" y="325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5" name="Google Shape;1525;p71"/>
          <p:cNvSpPr txBox="1"/>
          <p:nvPr>
            <p:ph type="title"/>
          </p:nvPr>
        </p:nvSpPr>
        <p:spPr>
          <a:xfrm>
            <a:off x="228600" y="228600"/>
            <a:ext cx="8610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600"/>
              <a:buFont typeface="Arial Narrow"/>
              <a:buNone/>
            </a:pPr>
            <a:r>
              <a:rPr i="0" lang="en" u="none"/>
              <a:t>FSM Capture Example: Code Detector</a:t>
            </a:r>
            <a:endParaRPr/>
          </a:p>
        </p:txBody>
      </p:sp>
      <p:sp>
        <p:nvSpPr>
          <p:cNvPr id="1526" name="Google Shape;1526;p71"/>
          <p:cNvSpPr txBox="1"/>
          <p:nvPr>
            <p:ph idx="1" type="body"/>
          </p:nvPr>
        </p:nvSpPr>
        <p:spPr>
          <a:xfrm>
            <a:off x="-291250" y="989525"/>
            <a:ext cx="4267800" cy="3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Capture as FSM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Char char="–"/>
            </a:pPr>
            <a:r>
              <a:rPr b="0" i="1" lang="en" sz="1800" u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List states</a:t>
            </a:r>
            <a:endParaRPr>
              <a:solidFill>
                <a:schemeClr val="accent4"/>
              </a:solidFill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1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transitions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 for remaining states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b="0" i="0" lang="en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Refine FSM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Mentally execute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 for normal sequence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unusual cases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colored buttons pressed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</a:pPr>
            <a:r>
              <a:rPr b="0" i="0" lang="en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Door opens!</a:t>
            </a:r>
            <a:endParaRPr/>
          </a:p>
          <a:p>
            <a:pPr indent="-228600" lvl="3" marL="16002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</a:pPr>
            <a:r>
              <a:rPr b="0" i="0" lang="en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conditions: other buttons NOT</a:t>
            </a:r>
            <a:r>
              <a:rPr lang="en" sz="1400"/>
              <a:t> </a:t>
            </a:r>
            <a:r>
              <a:rPr b="0" i="0" lang="en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pressed also</a:t>
            </a:r>
            <a:endParaRPr/>
          </a:p>
          <a:p>
            <a:pPr indent="-254000" lvl="0" marL="3429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71"/>
          <p:cNvSpPr txBox="1"/>
          <p:nvPr/>
        </p:nvSpPr>
        <p:spPr>
          <a:xfrm>
            <a:off x="3998912" y="2752725"/>
            <a:ext cx="2031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</a:t>
            </a:r>
            <a:endParaRPr/>
          </a:p>
        </p:txBody>
      </p:sp>
      <p:sp>
        <p:nvSpPr>
          <p:cNvPr id="1528" name="Google Shape;1528;p71"/>
          <p:cNvSpPr txBox="1"/>
          <p:nvPr/>
        </p:nvSpPr>
        <p:spPr>
          <a:xfrm>
            <a:off x="4195743" y="2752725"/>
            <a:ext cx="377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ait</a:t>
            </a:r>
            <a:endParaRPr/>
          </a:p>
        </p:txBody>
      </p:sp>
      <p:sp>
        <p:nvSpPr>
          <p:cNvPr id="1529" name="Google Shape;1529;p71"/>
          <p:cNvSpPr txBox="1"/>
          <p:nvPr/>
        </p:nvSpPr>
        <p:spPr>
          <a:xfrm>
            <a:off x="3978275" y="3414713"/>
            <a:ext cx="325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</a:t>
            </a:r>
            <a:endParaRPr/>
          </a:p>
        </p:txBody>
      </p:sp>
      <p:sp>
        <p:nvSpPr>
          <p:cNvPr id="1530" name="Google Shape;1530;p71"/>
          <p:cNvSpPr txBox="1"/>
          <p:nvPr/>
        </p:nvSpPr>
        <p:spPr>
          <a:xfrm>
            <a:off x="4303712" y="3414713"/>
            <a:ext cx="71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</p:txBody>
      </p:sp>
      <p:sp>
        <p:nvSpPr>
          <p:cNvPr id="1531" name="Google Shape;1531;p71"/>
          <p:cNvSpPr txBox="1"/>
          <p:nvPr/>
        </p:nvSpPr>
        <p:spPr>
          <a:xfrm>
            <a:off x="4384675" y="3414713"/>
            <a:ext cx="6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</a:t>
            </a:r>
            <a:endParaRPr/>
          </a:p>
        </p:txBody>
      </p:sp>
      <p:sp>
        <p:nvSpPr>
          <p:cNvPr id="1532" name="Google Shape;1532;p71"/>
          <p:cNvSpPr txBox="1"/>
          <p:nvPr/>
        </p:nvSpPr>
        <p:spPr>
          <a:xfrm>
            <a:off x="3952875" y="4086225"/>
            <a:ext cx="517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Red1</a:t>
            </a:r>
            <a:endParaRPr/>
          </a:p>
        </p:txBody>
      </p:sp>
      <p:cxnSp>
        <p:nvCxnSpPr>
          <p:cNvPr id="1533" name="Google Shape;1533;p71"/>
          <p:cNvCxnSpPr/>
          <p:nvPr/>
        </p:nvCxnSpPr>
        <p:spPr>
          <a:xfrm>
            <a:off x="3494087" y="2453878"/>
            <a:ext cx="114300" cy="157200"/>
          </a:xfrm>
          <a:prstGeom prst="straightConnector1">
            <a:avLst/>
          </a:prstGeom>
          <a:noFill/>
          <a:ln cap="flat" cmpd="sng" w="269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34" name="Google Shape;1534;p71"/>
          <p:cNvSpPr/>
          <p:nvPr/>
        </p:nvSpPr>
        <p:spPr>
          <a:xfrm>
            <a:off x="3521075" y="2539603"/>
            <a:ext cx="147637" cy="161925"/>
          </a:xfrm>
          <a:custGeom>
            <a:rect b="b" l="l" r="r" t="t"/>
            <a:pathLst>
              <a:path extrusionOk="0" h="136" w="93">
                <a:moveTo>
                  <a:pt x="93" y="136"/>
                </a:moveTo>
                <a:lnTo>
                  <a:pt x="59" y="0"/>
                </a:lnTo>
                <a:lnTo>
                  <a:pt x="0" y="34"/>
                </a:lnTo>
                <a:lnTo>
                  <a:pt x="93" y="13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35" name="Google Shape;1535;p71"/>
          <p:cNvCxnSpPr/>
          <p:nvPr/>
        </p:nvCxnSpPr>
        <p:spPr>
          <a:xfrm>
            <a:off x="4206875" y="3037284"/>
            <a:ext cx="0" cy="177300"/>
          </a:xfrm>
          <a:prstGeom prst="straightConnector1">
            <a:avLst/>
          </a:prstGeom>
          <a:noFill/>
          <a:ln cap="flat" cmpd="sng" w="269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36" name="Google Shape;1536;p71"/>
          <p:cNvSpPr/>
          <p:nvPr/>
        </p:nvSpPr>
        <p:spPr>
          <a:xfrm>
            <a:off x="4152900" y="3152775"/>
            <a:ext cx="107950" cy="163115"/>
          </a:xfrm>
          <a:custGeom>
            <a:rect b="b" l="l" r="r" t="t"/>
            <a:pathLst>
              <a:path extrusionOk="0" h="137" w="68">
                <a:moveTo>
                  <a:pt x="34" y="137"/>
                </a:moveTo>
                <a:lnTo>
                  <a:pt x="68" y="0"/>
                </a:lnTo>
                <a:lnTo>
                  <a:pt x="0" y="0"/>
                </a:lnTo>
                <a:lnTo>
                  <a:pt x="34" y="13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37" name="Google Shape;1537;p71"/>
          <p:cNvCxnSpPr/>
          <p:nvPr/>
        </p:nvCxnSpPr>
        <p:spPr>
          <a:xfrm>
            <a:off x="4721225" y="4187428"/>
            <a:ext cx="297000" cy="0"/>
          </a:xfrm>
          <a:prstGeom prst="straightConnector1">
            <a:avLst/>
          </a:prstGeom>
          <a:noFill/>
          <a:ln cap="flat" cmpd="sng" w="269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38" name="Google Shape;1538;p71"/>
          <p:cNvSpPr/>
          <p:nvPr/>
        </p:nvSpPr>
        <p:spPr>
          <a:xfrm>
            <a:off x="4937125" y="4146947"/>
            <a:ext cx="215900" cy="82153"/>
          </a:xfrm>
          <a:custGeom>
            <a:rect b="b" l="l" r="r" t="t"/>
            <a:pathLst>
              <a:path extrusionOk="0" h="69" w="136">
                <a:moveTo>
                  <a:pt x="136" y="34"/>
                </a:moveTo>
                <a:lnTo>
                  <a:pt x="0" y="0"/>
                </a:lnTo>
                <a:lnTo>
                  <a:pt x="0" y="69"/>
                </a:lnTo>
                <a:lnTo>
                  <a:pt x="136" y="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39" name="Google Shape;1539;p71"/>
          <p:cNvCxnSpPr/>
          <p:nvPr/>
        </p:nvCxnSpPr>
        <p:spPr>
          <a:xfrm>
            <a:off x="6194425" y="4187428"/>
            <a:ext cx="298500" cy="0"/>
          </a:xfrm>
          <a:prstGeom prst="straightConnector1">
            <a:avLst/>
          </a:prstGeom>
          <a:noFill/>
          <a:ln cap="flat" cmpd="sng" w="269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40" name="Google Shape;1540;p71"/>
          <p:cNvSpPr/>
          <p:nvPr/>
        </p:nvSpPr>
        <p:spPr>
          <a:xfrm>
            <a:off x="6410325" y="4146947"/>
            <a:ext cx="217487" cy="82153"/>
          </a:xfrm>
          <a:custGeom>
            <a:rect b="b" l="l" r="r" t="t"/>
            <a:pathLst>
              <a:path extrusionOk="0" h="69" w="137">
                <a:moveTo>
                  <a:pt x="137" y="34"/>
                </a:moveTo>
                <a:lnTo>
                  <a:pt x="0" y="0"/>
                </a:lnTo>
                <a:lnTo>
                  <a:pt x="0" y="69"/>
                </a:lnTo>
                <a:lnTo>
                  <a:pt x="137" y="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41" name="Google Shape;1541;p71"/>
          <p:cNvCxnSpPr/>
          <p:nvPr/>
        </p:nvCxnSpPr>
        <p:spPr>
          <a:xfrm>
            <a:off x="7654925" y="4187428"/>
            <a:ext cx="304800" cy="0"/>
          </a:xfrm>
          <a:prstGeom prst="straightConnector1">
            <a:avLst/>
          </a:prstGeom>
          <a:noFill/>
          <a:ln cap="flat" cmpd="sng" w="269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42" name="Google Shape;1542;p71"/>
          <p:cNvSpPr/>
          <p:nvPr/>
        </p:nvSpPr>
        <p:spPr>
          <a:xfrm>
            <a:off x="7878762" y="4146947"/>
            <a:ext cx="215900" cy="82153"/>
          </a:xfrm>
          <a:custGeom>
            <a:rect b="b" l="l" r="r" t="t"/>
            <a:pathLst>
              <a:path extrusionOk="0" h="69" w="136">
                <a:moveTo>
                  <a:pt x="136" y="34"/>
                </a:moveTo>
                <a:lnTo>
                  <a:pt x="0" y="0"/>
                </a:lnTo>
                <a:lnTo>
                  <a:pt x="0" y="69"/>
                </a:lnTo>
                <a:lnTo>
                  <a:pt x="136" y="3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43" name="Google Shape;1543;p71"/>
          <p:cNvCxnSpPr/>
          <p:nvPr/>
        </p:nvCxnSpPr>
        <p:spPr>
          <a:xfrm>
            <a:off x="4206875" y="3706415"/>
            <a:ext cx="0" cy="182100"/>
          </a:xfrm>
          <a:prstGeom prst="straightConnector1">
            <a:avLst/>
          </a:prstGeom>
          <a:noFill/>
          <a:ln cap="flat" cmpd="sng" w="2697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44" name="Google Shape;1544;p71"/>
          <p:cNvSpPr/>
          <p:nvPr/>
        </p:nvSpPr>
        <p:spPr>
          <a:xfrm>
            <a:off x="4152900" y="3827859"/>
            <a:ext cx="107950" cy="161925"/>
          </a:xfrm>
          <a:custGeom>
            <a:rect b="b" l="l" r="r" t="t"/>
            <a:pathLst>
              <a:path extrusionOk="0" h="136" w="68">
                <a:moveTo>
                  <a:pt x="34" y="136"/>
                </a:moveTo>
                <a:lnTo>
                  <a:pt x="68" y="0"/>
                </a:lnTo>
                <a:lnTo>
                  <a:pt x="0" y="0"/>
                </a:lnTo>
                <a:lnTo>
                  <a:pt x="34" y="13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5" name="Google Shape;1545;p71"/>
          <p:cNvSpPr txBox="1"/>
          <p:nvPr/>
        </p:nvSpPr>
        <p:spPr>
          <a:xfrm>
            <a:off x="8355012" y="4086225"/>
            <a:ext cx="517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Red2</a:t>
            </a:r>
            <a:endParaRPr/>
          </a:p>
        </p:txBody>
      </p:sp>
      <p:sp>
        <p:nvSpPr>
          <p:cNvPr id="1546" name="Google Shape;1546;p71"/>
          <p:cNvSpPr txBox="1"/>
          <p:nvPr/>
        </p:nvSpPr>
        <p:spPr>
          <a:xfrm>
            <a:off x="6838950" y="4086225"/>
            <a:ext cx="601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Green</a:t>
            </a:r>
            <a:endParaRPr/>
          </a:p>
        </p:txBody>
      </p:sp>
      <p:sp>
        <p:nvSpPr>
          <p:cNvPr id="1547" name="Google Shape;1547;p71"/>
          <p:cNvSpPr txBox="1"/>
          <p:nvPr/>
        </p:nvSpPr>
        <p:spPr>
          <a:xfrm>
            <a:off x="5456237" y="4086225"/>
            <a:ext cx="433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Blue</a:t>
            </a:r>
            <a:endParaRPr/>
          </a:p>
        </p:txBody>
      </p:sp>
      <p:sp>
        <p:nvSpPr>
          <p:cNvPr id="1548" name="Google Shape;1548;p71"/>
          <p:cNvSpPr/>
          <p:nvPr/>
        </p:nvSpPr>
        <p:spPr>
          <a:xfrm>
            <a:off x="4687887" y="2945606"/>
            <a:ext cx="201612" cy="136922"/>
          </a:xfrm>
          <a:custGeom>
            <a:rect b="b" l="l" r="r" t="t"/>
            <a:pathLst>
              <a:path extrusionOk="0" h="115" w="127">
                <a:moveTo>
                  <a:pt x="0" y="0"/>
                </a:moveTo>
                <a:lnTo>
                  <a:pt x="80" y="115"/>
                </a:lnTo>
                <a:lnTo>
                  <a:pt x="127" y="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9" name="Google Shape;1549;p71"/>
          <p:cNvSpPr/>
          <p:nvPr/>
        </p:nvSpPr>
        <p:spPr>
          <a:xfrm>
            <a:off x="4186237" y="2499122"/>
            <a:ext cx="190500" cy="147638"/>
          </a:xfrm>
          <a:custGeom>
            <a:rect b="b" l="l" r="r" t="t"/>
            <a:pathLst>
              <a:path extrusionOk="0" h="124" w="120">
                <a:moveTo>
                  <a:pt x="0" y="124"/>
                </a:moveTo>
                <a:lnTo>
                  <a:pt x="120" y="47"/>
                </a:lnTo>
                <a:lnTo>
                  <a:pt x="69" y="0"/>
                </a:lnTo>
                <a:lnTo>
                  <a:pt x="0" y="1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0" name="Google Shape;1550;p71"/>
          <p:cNvSpPr/>
          <p:nvPr/>
        </p:nvSpPr>
        <p:spPr>
          <a:xfrm>
            <a:off x="4295775" y="2524125"/>
            <a:ext cx="209550" cy="122634"/>
          </a:xfrm>
          <a:custGeom>
            <a:rect b="b" l="l" r="r" t="t"/>
            <a:pathLst>
              <a:path extrusionOk="0" h="103" w="132">
                <a:moveTo>
                  <a:pt x="0" y="103"/>
                </a:moveTo>
                <a:lnTo>
                  <a:pt x="132" y="56"/>
                </a:lnTo>
                <a:lnTo>
                  <a:pt x="93" y="0"/>
                </a:lnTo>
                <a:lnTo>
                  <a:pt x="0" y="10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1" name="Google Shape;1551;p71"/>
          <p:cNvSpPr/>
          <p:nvPr/>
        </p:nvSpPr>
        <p:spPr>
          <a:xfrm>
            <a:off x="4403725" y="2555081"/>
            <a:ext cx="215900" cy="101203"/>
          </a:xfrm>
          <a:custGeom>
            <a:rect b="b" l="l" r="r" t="t"/>
            <a:pathLst>
              <a:path extrusionOk="0" h="85" w="136">
                <a:moveTo>
                  <a:pt x="0" y="85"/>
                </a:moveTo>
                <a:lnTo>
                  <a:pt x="136" y="59"/>
                </a:lnTo>
                <a:lnTo>
                  <a:pt x="110" y="0"/>
                </a:lnTo>
                <a:lnTo>
                  <a:pt x="0" y="8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2" name="Google Shape;1552;p71"/>
          <p:cNvSpPr/>
          <p:nvPr/>
        </p:nvSpPr>
        <p:spPr>
          <a:xfrm>
            <a:off x="4505325" y="2590800"/>
            <a:ext cx="222250" cy="90488"/>
          </a:xfrm>
          <a:custGeom>
            <a:rect b="b" l="l" r="r" t="t"/>
            <a:pathLst>
              <a:path extrusionOk="0" h="76" w="140">
                <a:moveTo>
                  <a:pt x="0" y="76"/>
                </a:moveTo>
                <a:lnTo>
                  <a:pt x="140" y="64"/>
                </a:lnTo>
                <a:lnTo>
                  <a:pt x="119" y="0"/>
                </a:lnTo>
                <a:lnTo>
                  <a:pt x="0" y="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3" name="Google Shape;1553;p71"/>
          <p:cNvSpPr/>
          <p:nvPr/>
        </p:nvSpPr>
        <p:spPr>
          <a:xfrm>
            <a:off x="4586287" y="2640806"/>
            <a:ext cx="215900" cy="80963"/>
          </a:xfrm>
          <a:custGeom>
            <a:rect b="b" l="l" r="r" t="t"/>
            <a:pathLst>
              <a:path extrusionOk="0" h="68" w="136">
                <a:moveTo>
                  <a:pt x="0" y="56"/>
                </a:moveTo>
                <a:lnTo>
                  <a:pt x="136" y="68"/>
                </a:lnTo>
                <a:lnTo>
                  <a:pt x="127" y="0"/>
                </a:lnTo>
                <a:lnTo>
                  <a:pt x="0" y="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4" name="Google Shape;1554;p71"/>
          <p:cNvSpPr/>
          <p:nvPr/>
        </p:nvSpPr>
        <p:spPr>
          <a:xfrm>
            <a:off x="4430712" y="2990850"/>
            <a:ext cx="533400" cy="340519"/>
          </a:xfrm>
          <a:custGeom>
            <a:rect b="b" l="l" r="r" t="t"/>
            <a:pathLst>
              <a:path extrusionOk="0" h="67" w="79">
                <a:moveTo>
                  <a:pt x="0" y="7"/>
                </a:moveTo>
                <a:cubicBezTo>
                  <a:pt x="0" y="7"/>
                  <a:pt x="3" y="67"/>
                  <a:pt x="54" y="35"/>
                </a:cubicBezTo>
                <a:cubicBezTo>
                  <a:pt x="54" y="35"/>
                  <a:pt x="79" y="17"/>
                  <a:pt x="50" y="0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5" name="Google Shape;1555;p71"/>
          <p:cNvSpPr txBox="1"/>
          <p:nvPr/>
        </p:nvSpPr>
        <p:spPr>
          <a:xfrm>
            <a:off x="4903764" y="3048000"/>
            <a:ext cx="282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s'</a:t>
            </a:r>
            <a:endParaRPr/>
          </a:p>
        </p:txBody>
      </p:sp>
      <p:sp>
        <p:nvSpPr>
          <p:cNvPr id="1556" name="Google Shape;1556;p71"/>
          <p:cNvSpPr/>
          <p:nvPr/>
        </p:nvSpPr>
        <p:spPr>
          <a:xfrm>
            <a:off x="4687887" y="3614738"/>
            <a:ext cx="201612" cy="136922"/>
          </a:xfrm>
          <a:custGeom>
            <a:rect b="b" l="l" r="r" t="t"/>
            <a:pathLst>
              <a:path extrusionOk="0" h="115" w="127">
                <a:moveTo>
                  <a:pt x="0" y="0"/>
                </a:moveTo>
                <a:lnTo>
                  <a:pt x="80" y="115"/>
                </a:lnTo>
                <a:lnTo>
                  <a:pt x="127" y="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7" name="Google Shape;1557;p71"/>
          <p:cNvSpPr/>
          <p:nvPr/>
        </p:nvSpPr>
        <p:spPr>
          <a:xfrm>
            <a:off x="4430712" y="3655219"/>
            <a:ext cx="539750" cy="345281"/>
          </a:xfrm>
          <a:custGeom>
            <a:rect b="b" l="l" r="r" t="t"/>
            <a:pathLst>
              <a:path extrusionOk="0" h="68" w="80">
                <a:moveTo>
                  <a:pt x="0" y="8"/>
                </a:moveTo>
                <a:cubicBezTo>
                  <a:pt x="0" y="8"/>
                  <a:pt x="3" y="68"/>
                  <a:pt x="54" y="36"/>
                </a:cubicBezTo>
                <a:cubicBezTo>
                  <a:pt x="54" y="36"/>
                  <a:pt x="80" y="17"/>
                  <a:pt x="48" y="0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8" name="Google Shape;1558;p71"/>
          <p:cNvSpPr txBox="1"/>
          <p:nvPr/>
        </p:nvSpPr>
        <p:spPr>
          <a:xfrm>
            <a:off x="4795825" y="3406250"/>
            <a:ext cx="297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a'</a:t>
            </a:r>
            <a:endParaRPr/>
          </a:p>
        </p:txBody>
      </p:sp>
      <p:sp>
        <p:nvSpPr>
          <p:cNvPr id="1559" name="Google Shape;1559;p71"/>
          <p:cNvSpPr txBox="1"/>
          <p:nvPr/>
        </p:nvSpPr>
        <p:spPr>
          <a:xfrm>
            <a:off x="5389548" y="3119450"/>
            <a:ext cx="282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ar'</a:t>
            </a:r>
            <a:endParaRPr/>
          </a:p>
        </p:txBody>
      </p:sp>
      <p:sp>
        <p:nvSpPr>
          <p:cNvPr id="1560" name="Google Shape;1560;p71"/>
          <p:cNvSpPr txBox="1"/>
          <p:nvPr/>
        </p:nvSpPr>
        <p:spPr>
          <a:xfrm>
            <a:off x="5921375" y="3119450"/>
            <a:ext cx="428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ab'</a:t>
            </a:r>
            <a:endParaRPr/>
          </a:p>
        </p:txBody>
      </p:sp>
      <p:sp>
        <p:nvSpPr>
          <p:cNvPr id="1561" name="Google Shape;1561;p71"/>
          <p:cNvSpPr txBox="1"/>
          <p:nvPr/>
        </p:nvSpPr>
        <p:spPr>
          <a:xfrm>
            <a:off x="6569075" y="3119450"/>
            <a:ext cx="377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ag'</a:t>
            </a:r>
            <a:endParaRPr/>
          </a:p>
        </p:txBody>
      </p:sp>
      <p:sp>
        <p:nvSpPr>
          <p:cNvPr id="1562" name="Google Shape;1562;p71"/>
          <p:cNvSpPr txBox="1"/>
          <p:nvPr/>
        </p:nvSpPr>
        <p:spPr>
          <a:xfrm>
            <a:off x="7418367" y="3119450"/>
            <a:ext cx="377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ar'</a:t>
            </a:r>
            <a:endParaRPr/>
          </a:p>
        </p:txBody>
      </p:sp>
      <p:sp>
        <p:nvSpPr>
          <p:cNvPr id="1563" name="Google Shape;1563;p71"/>
          <p:cNvSpPr/>
          <p:nvPr/>
        </p:nvSpPr>
        <p:spPr>
          <a:xfrm>
            <a:off x="4687887" y="4263628"/>
            <a:ext cx="201612" cy="136922"/>
          </a:xfrm>
          <a:custGeom>
            <a:rect b="b" l="l" r="r" t="t"/>
            <a:pathLst>
              <a:path extrusionOk="0" h="115" w="127">
                <a:moveTo>
                  <a:pt x="0" y="0"/>
                </a:moveTo>
                <a:lnTo>
                  <a:pt x="80" y="115"/>
                </a:lnTo>
                <a:lnTo>
                  <a:pt x="127" y="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4" name="Google Shape;1564;p71"/>
          <p:cNvSpPr/>
          <p:nvPr/>
        </p:nvSpPr>
        <p:spPr>
          <a:xfrm>
            <a:off x="4430712" y="4304109"/>
            <a:ext cx="539750" cy="325040"/>
          </a:xfrm>
          <a:custGeom>
            <a:rect b="b" l="l" r="r" t="t"/>
            <a:pathLst>
              <a:path extrusionOk="0" h="64" w="80">
                <a:moveTo>
                  <a:pt x="0" y="11"/>
                </a:moveTo>
                <a:cubicBezTo>
                  <a:pt x="2" y="23"/>
                  <a:pt x="10" y="64"/>
                  <a:pt x="54" y="36"/>
                </a:cubicBezTo>
                <a:cubicBezTo>
                  <a:pt x="54" y="36"/>
                  <a:pt x="80" y="17"/>
                  <a:pt x="49" y="0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5" name="Google Shape;1565;p71"/>
          <p:cNvSpPr txBox="1"/>
          <p:nvPr/>
        </p:nvSpPr>
        <p:spPr>
          <a:xfrm>
            <a:off x="4910113" y="4245775"/>
            <a:ext cx="325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a'</a:t>
            </a:r>
            <a:endParaRPr/>
          </a:p>
        </p:txBody>
      </p:sp>
      <p:sp>
        <p:nvSpPr>
          <p:cNvPr id="1566" name="Google Shape;1566;p71"/>
          <p:cNvSpPr txBox="1"/>
          <p:nvPr/>
        </p:nvSpPr>
        <p:spPr>
          <a:xfrm>
            <a:off x="4813300" y="3899100"/>
            <a:ext cx="377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</a:t>
            </a:r>
            <a:endParaRPr/>
          </a:p>
        </p:txBody>
      </p:sp>
      <p:sp>
        <p:nvSpPr>
          <p:cNvPr id="1567" name="Google Shape;1567;p71"/>
          <p:cNvSpPr txBox="1"/>
          <p:nvPr/>
        </p:nvSpPr>
        <p:spPr>
          <a:xfrm>
            <a:off x="6264275" y="3885999"/>
            <a:ext cx="2412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</a:t>
            </a:r>
            <a:endParaRPr/>
          </a:p>
        </p:txBody>
      </p:sp>
      <p:sp>
        <p:nvSpPr>
          <p:cNvPr id="1568" name="Google Shape;1568;p71"/>
          <p:cNvSpPr txBox="1"/>
          <p:nvPr/>
        </p:nvSpPr>
        <p:spPr>
          <a:xfrm>
            <a:off x="7788275" y="3906253"/>
            <a:ext cx="1920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</a:t>
            </a:r>
            <a:endParaRPr/>
          </a:p>
        </p:txBody>
      </p:sp>
      <p:sp>
        <p:nvSpPr>
          <p:cNvPr id="1569" name="Google Shape;1569;p71"/>
          <p:cNvSpPr/>
          <p:nvPr/>
        </p:nvSpPr>
        <p:spPr>
          <a:xfrm>
            <a:off x="6154737" y="4263628"/>
            <a:ext cx="195262" cy="136922"/>
          </a:xfrm>
          <a:custGeom>
            <a:rect b="b" l="l" r="r" t="t"/>
            <a:pathLst>
              <a:path extrusionOk="0" h="115" w="123">
                <a:moveTo>
                  <a:pt x="0" y="0"/>
                </a:moveTo>
                <a:lnTo>
                  <a:pt x="81" y="115"/>
                </a:lnTo>
                <a:lnTo>
                  <a:pt x="123" y="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0" name="Google Shape;1570;p71"/>
          <p:cNvSpPr/>
          <p:nvPr/>
        </p:nvSpPr>
        <p:spPr>
          <a:xfrm>
            <a:off x="5897562" y="4314825"/>
            <a:ext cx="527050" cy="314325"/>
          </a:xfrm>
          <a:custGeom>
            <a:rect b="b" l="l" r="r" t="t"/>
            <a:pathLst>
              <a:path extrusionOk="0" h="62" w="78">
                <a:moveTo>
                  <a:pt x="0" y="10"/>
                </a:moveTo>
                <a:cubicBezTo>
                  <a:pt x="2" y="22"/>
                  <a:pt x="10" y="62"/>
                  <a:pt x="54" y="34"/>
                </a:cubicBezTo>
                <a:cubicBezTo>
                  <a:pt x="54" y="34"/>
                  <a:pt x="78" y="17"/>
                  <a:pt x="51" y="0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1" name="Google Shape;1571;p71"/>
          <p:cNvSpPr txBox="1"/>
          <p:nvPr/>
        </p:nvSpPr>
        <p:spPr>
          <a:xfrm>
            <a:off x="6375400" y="4245775"/>
            <a:ext cx="304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a'</a:t>
            </a:r>
            <a:endParaRPr/>
          </a:p>
        </p:txBody>
      </p:sp>
      <p:sp>
        <p:nvSpPr>
          <p:cNvPr id="1572" name="Google Shape;1572;p71"/>
          <p:cNvSpPr/>
          <p:nvPr/>
        </p:nvSpPr>
        <p:spPr>
          <a:xfrm>
            <a:off x="7621587" y="4263628"/>
            <a:ext cx="203200" cy="136922"/>
          </a:xfrm>
          <a:custGeom>
            <a:rect b="b" l="l" r="r" t="t"/>
            <a:pathLst>
              <a:path extrusionOk="0" h="115" w="128">
                <a:moveTo>
                  <a:pt x="0" y="0"/>
                </a:moveTo>
                <a:lnTo>
                  <a:pt x="81" y="115"/>
                </a:lnTo>
                <a:lnTo>
                  <a:pt x="128" y="6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3" name="Google Shape;1573;p71"/>
          <p:cNvSpPr/>
          <p:nvPr/>
        </p:nvSpPr>
        <p:spPr>
          <a:xfrm>
            <a:off x="7364412" y="4304109"/>
            <a:ext cx="541337" cy="325040"/>
          </a:xfrm>
          <a:custGeom>
            <a:rect b="b" l="l" r="r" t="t"/>
            <a:pathLst>
              <a:path extrusionOk="0" h="64" w="80">
                <a:moveTo>
                  <a:pt x="0" y="11"/>
                </a:moveTo>
                <a:cubicBezTo>
                  <a:pt x="2" y="23"/>
                  <a:pt x="10" y="64"/>
                  <a:pt x="54" y="36"/>
                </a:cubicBezTo>
                <a:cubicBezTo>
                  <a:pt x="54" y="36"/>
                  <a:pt x="80" y="17"/>
                  <a:pt x="48" y="0"/>
                </a:cubicBezTo>
              </a:path>
            </a:pathLst>
          </a:custGeom>
          <a:noFill/>
          <a:ln cap="flat" cmpd="sng" w="269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4" name="Google Shape;1574;p71"/>
          <p:cNvSpPr txBox="1"/>
          <p:nvPr/>
        </p:nvSpPr>
        <p:spPr>
          <a:xfrm>
            <a:off x="7851775" y="4245775"/>
            <a:ext cx="377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a'</a:t>
            </a:r>
            <a:endParaRPr/>
          </a:p>
        </p:txBody>
      </p:sp>
      <p:sp>
        <p:nvSpPr>
          <p:cNvPr id="1575" name="Google Shape;1575;p71"/>
          <p:cNvSpPr/>
          <p:nvPr/>
        </p:nvSpPr>
        <p:spPr>
          <a:xfrm>
            <a:off x="3700462" y="3320653"/>
            <a:ext cx="1020900" cy="390600"/>
          </a:xfrm>
          <a:prstGeom prst="ellipse">
            <a:avLst/>
          </a:prstGeom>
          <a:noFill/>
          <a:ln cap="flat" cmpd="sng" w="20625">
            <a:solidFill>
              <a:srgbClr val="0079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6" name="Google Shape;1576;p71"/>
          <p:cNvSpPr/>
          <p:nvPr/>
        </p:nvSpPr>
        <p:spPr>
          <a:xfrm>
            <a:off x="3700462" y="3989784"/>
            <a:ext cx="1020762" cy="390525"/>
          </a:xfrm>
          <a:custGeom>
            <a:rect b="b" l="l" r="r" t="t"/>
            <a:pathLst>
              <a:path extrusionOk="0" h="77" w="151">
                <a:moveTo>
                  <a:pt x="108" y="74"/>
                </a:moveTo>
                <a:cubicBezTo>
                  <a:pt x="98" y="76"/>
                  <a:pt x="87" y="77"/>
                  <a:pt x="76" y="77"/>
                </a:cubicBezTo>
                <a:cubicBezTo>
                  <a:pt x="34" y="77"/>
                  <a:pt x="0" y="60"/>
                  <a:pt x="0" y="39"/>
                </a:cubicBezTo>
                <a:cubicBezTo>
                  <a:pt x="0" y="18"/>
                  <a:pt x="34" y="0"/>
                  <a:pt x="76" y="0"/>
                </a:cubicBezTo>
                <a:cubicBezTo>
                  <a:pt x="117" y="0"/>
                  <a:pt x="151" y="18"/>
                  <a:pt x="151" y="39"/>
                </a:cubicBezTo>
                <a:cubicBezTo>
                  <a:pt x="151" y="54"/>
                  <a:pt x="134" y="67"/>
                  <a:pt x="108" y="74"/>
                </a:cubicBezTo>
              </a:path>
            </a:pathLst>
          </a:custGeom>
          <a:noFill/>
          <a:ln cap="flat" cmpd="sng" w="20625">
            <a:solidFill>
              <a:srgbClr val="0079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7" name="Google Shape;1577;p71"/>
          <p:cNvSpPr/>
          <p:nvPr/>
        </p:nvSpPr>
        <p:spPr>
          <a:xfrm>
            <a:off x="5167312" y="3989784"/>
            <a:ext cx="1020762" cy="390525"/>
          </a:xfrm>
          <a:custGeom>
            <a:rect b="b" l="l" r="r" t="t"/>
            <a:pathLst>
              <a:path extrusionOk="0" h="77" w="151">
                <a:moveTo>
                  <a:pt x="108" y="74"/>
                </a:moveTo>
                <a:cubicBezTo>
                  <a:pt x="98" y="76"/>
                  <a:pt x="87" y="77"/>
                  <a:pt x="76" y="77"/>
                </a:cubicBezTo>
                <a:cubicBezTo>
                  <a:pt x="34" y="77"/>
                  <a:pt x="0" y="60"/>
                  <a:pt x="0" y="39"/>
                </a:cubicBezTo>
                <a:cubicBezTo>
                  <a:pt x="0" y="18"/>
                  <a:pt x="34" y="0"/>
                  <a:pt x="76" y="0"/>
                </a:cubicBezTo>
                <a:cubicBezTo>
                  <a:pt x="117" y="0"/>
                  <a:pt x="151" y="18"/>
                  <a:pt x="151" y="39"/>
                </a:cubicBezTo>
                <a:cubicBezTo>
                  <a:pt x="151" y="54"/>
                  <a:pt x="133" y="68"/>
                  <a:pt x="108" y="74"/>
                </a:cubicBezTo>
              </a:path>
            </a:pathLst>
          </a:custGeom>
          <a:noFill/>
          <a:ln cap="flat" cmpd="sng" w="20625">
            <a:solidFill>
              <a:srgbClr val="0079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8" name="Google Shape;1578;p71"/>
          <p:cNvSpPr/>
          <p:nvPr/>
        </p:nvSpPr>
        <p:spPr>
          <a:xfrm>
            <a:off x="6634162" y="3989784"/>
            <a:ext cx="1020900" cy="390600"/>
          </a:xfrm>
          <a:prstGeom prst="ellipse">
            <a:avLst/>
          </a:prstGeom>
          <a:noFill/>
          <a:ln cap="flat" cmpd="sng" w="20625">
            <a:solidFill>
              <a:srgbClr val="0079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9" name="Google Shape;1579;p71"/>
          <p:cNvSpPr/>
          <p:nvPr/>
        </p:nvSpPr>
        <p:spPr>
          <a:xfrm>
            <a:off x="8101012" y="3989784"/>
            <a:ext cx="1020900" cy="390600"/>
          </a:xfrm>
          <a:prstGeom prst="ellipse">
            <a:avLst/>
          </a:prstGeom>
          <a:noFill/>
          <a:ln cap="flat" cmpd="sng" w="20625">
            <a:solidFill>
              <a:srgbClr val="0079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0" name="Google Shape;1580;p71"/>
          <p:cNvSpPr txBox="1"/>
          <p:nvPr/>
        </p:nvSpPr>
        <p:spPr>
          <a:xfrm>
            <a:off x="3876675" y="4367225"/>
            <a:ext cx="601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u=0</a:t>
            </a:r>
            <a:endParaRPr/>
          </a:p>
        </p:txBody>
      </p:sp>
      <p:sp>
        <p:nvSpPr>
          <p:cNvPr id="1581" name="Google Shape;1581;p71"/>
          <p:cNvSpPr txBox="1"/>
          <p:nvPr/>
        </p:nvSpPr>
        <p:spPr>
          <a:xfrm>
            <a:off x="3505200" y="3659975"/>
            <a:ext cx="517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u=0</a:t>
            </a:r>
            <a:endParaRPr/>
          </a:p>
        </p:txBody>
      </p:sp>
      <p:sp>
        <p:nvSpPr>
          <p:cNvPr id="1582" name="Google Shape;1582;p71"/>
          <p:cNvSpPr txBox="1"/>
          <p:nvPr/>
        </p:nvSpPr>
        <p:spPr>
          <a:xfrm>
            <a:off x="3927475" y="3743325"/>
            <a:ext cx="192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</a:t>
            </a:r>
            <a:endParaRPr/>
          </a:p>
        </p:txBody>
      </p:sp>
      <p:sp>
        <p:nvSpPr>
          <p:cNvPr id="1583" name="Google Shape;1583;p71"/>
          <p:cNvSpPr txBox="1"/>
          <p:nvPr/>
        </p:nvSpPr>
        <p:spPr>
          <a:xfrm>
            <a:off x="3505200" y="2983700"/>
            <a:ext cx="5412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u=0</a:t>
            </a:r>
            <a:endParaRPr/>
          </a:p>
        </p:txBody>
      </p:sp>
      <p:sp>
        <p:nvSpPr>
          <p:cNvPr id="1584" name="Google Shape;1584;p71"/>
          <p:cNvSpPr txBox="1"/>
          <p:nvPr/>
        </p:nvSpPr>
        <p:spPr>
          <a:xfrm>
            <a:off x="4003675" y="3063478"/>
            <a:ext cx="108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1585" name="Google Shape;1585;p71"/>
          <p:cNvSpPr txBox="1"/>
          <p:nvPr/>
        </p:nvSpPr>
        <p:spPr>
          <a:xfrm>
            <a:off x="5372100" y="4371975"/>
            <a:ext cx="541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u=0</a:t>
            </a:r>
            <a:endParaRPr/>
          </a:p>
        </p:txBody>
      </p:sp>
      <p:sp>
        <p:nvSpPr>
          <p:cNvPr id="1586" name="Google Shape;1586;p71"/>
          <p:cNvSpPr txBox="1"/>
          <p:nvPr/>
        </p:nvSpPr>
        <p:spPr>
          <a:xfrm>
            <a:off x="6843694" y="4371975"/>
            <a:ext cx="5415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u=0</a:t>
            </a:r>
            <a:endParaRPr/>
          </a:p>
        </p:txBody>
      </p:sp>
      <p:sp>
        <p:nvSpPr>
          <p:cNvPr id="1587" name="Google Shape;1587;p71"/>
          <p:cNvSpPr txBox="1"/>
          <p:nvPr/>
        </p:nvSpPr>
        <p:spPr>
          <a:xfrm>
            <a:off x="8418512" y="4371975"/>
            <a:ext cx="377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1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u=1</a:t>
            </a:r>
            <a:endParaRPr/>
          </a:p>
        </p:txBody>
      </p:sp>
      <p:sp>
        <p:nvSpPr>
          <p:cNvPr id="1588" name="Google Shape;1588;p71"/>
          <p:cNvSpPr txBox="1"/>
          <p:nvPr/>
        </p:nvSpPr>
        <p:spPr>
          <a:xfrm>
            <a:off x="7488223" y="2274100"/>
            <a:ext cx="752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1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Inputs:</a:t>
            </a:r>
            <a:endParaRPr/>
          </a:p>
        </p:txBody>
      </p:sp>
      <p:sp>
        <p:nvSpPr>
          <p:cNvPr id="1589" name="Google Shape;1589;p71"/>
          <p:cNvSpPr txBox="1"/>
          <p:nvPr/>
        </p:nvSpPr>
        <p:spPr>
          <a:xfrm>
            <a:off x="8299450" y="2274094"/>
            <a:ext cx="1080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1590" name="Google Shape;1590;p71"/>
          <p:cNvSpPr txBox="1"/>
          <p:nvPr/>
        </p:nvSpPr>
        <p:spPr>
          <a:xfrm>
            <a:off x="8405812" y="2274094"/>
            <a:ext cx="60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/>
          </a:p>
        </p:txBody>
      </p:sp>
      <p:sp>
        <p:nvSpPr>
          <p:cNvPr id="1591" name="Google Shape;1591;p71"/>
          <p:cNvSpPr txBox="1"/>
          <p:nvPr/>
        </p:nvSpPr>
        <p:spPr>
          <a:xfrm>
            <a:off x="8464550" y="2274094"/>
            <a:ext cx="71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endParaRPr/>
          </a:p>
        </p:txBody>
      </p:sp>
      <p:sp>
        <p:nvSpPr>
          <p:cNvPr id="1592" name="Google Shape;1592;p71"/>
          <p:cNvSpPr txBox="1"/>
          <p:nvPr/>
        </p:nvSpPr>
        <p:spPr>
          <a:xfrm>
            <a:off x="8526445" y="2274100"/>
            <a:ext cx="377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,g,</a:t>
            </a:r>
            <a:endParaRPr/>
          </a:p>
        </p:txBody>
      </p:sp>
      <p:sp>
        <p:nvSpPr>
          <p:cNvPr id="1593" name="Google Shape;1593;p71"/>
          <p:cNvSpPr txBox="1"/>
          <p:nvPr/>
        </p:nvSpPr>
        <p:spPr>
          <a:xfrm>
            <a:off x="8767762" y="2274094"/>
            <a:ext cx="120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1594" name="Google Shape;1594;p71"/>
          <p:cNvSpPr txBox="1"/>
          <p:nvPr/>
        </p:nvSpPr>
        <p:spPr>
          <a:xfrm>
            <a:off x="8878887" y="2274094"/>
            <a:ext cx="180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endParaRPr/>
          </a:p>
        </p:txBody>
      </p:sp>
      <p:sp>
        <p:nvSpPr>
          <p:cNvPr id="1595" name="Google Shape;1595;p71"/>
          <p:cNvSpPr txBox="1"/>
          <p:nvPr/>
        </p:nvSpPr>
        <p:spPr>
          <a:xfrm>
            <a:off x="7859850" y="2470550"/>
            <a:ext cx="1379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1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Outputs:</a:t>
            </a:r>
            <a:endParaRPr/>
          </a:p>
        </p:txBody>
      </p:sp>
      <p:sp>
        <p:nvSpPr>
          <p:cNvPr id="1596" name="Google Shape;1596;p71"/>
          <p:cNvSpPr txBox="1"/>
          <p:nvPr/>
        </p:nvSpPr>
        <p:spPr>
          <a:xfrm>
            <a:off x="8805977" y="2470550"/>
            <a:ext cx="377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</a:pPr>
            <a:r>
              <a:rPr b="0" i="0" lang="en" sz="170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</a:t>
            </a:r>
            <a:endParaRPr/>
          </a:p>
        </p:txBody>
      </p:sp>
      <p:sp>
        <p:nvSpPr>
          <p:cNvPr id="1597" name="Google Shape;1597;p71"/>
          <p:cNvSpPr txBox="1"/>
          <p:nvPr/>
        </p:nvSpPr>
        <p:spPr>
          <a:xfrm>
            <a:off x="4561675" y="931050"/>
            <a:ext cx="2493300" cy="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8" name="Google Shape;1598;p71"/>
          <p:cNvCxnSpPr/>
          <p:nvPr/>
        </p:nvCxnSpPr>
        <p:spPr>
          <a:xfrm>
            <a:off x="5603137" y="1933684"/>
            <a:ext cx="2619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99" name="Google Shape;1599;p71"/>
          <p:cNvSpPr/>
          <p:nvPr/>
        </p:nvSpPr>
        <p:spPr>
          <a:xfrm>
            <a:off x="5833325" y="1902728"/>
            <a:ext cx="171450" cy="60722"/>
          </a:xfrm>
          <a:custGeom>
            <a:rect b="b" l="l" r="r" t="t"/>
            <a:pathLst>
              <a:path extrusionOk="0" h="55" w="111">
                <a:moveTo>
                  <a:pt x="111" y="28"/>
                </a:moveTo>
                <a:lnTo>
                  <a:pt x="0" y="0"/>
                </a:lnTo>
                <a:lnTo>
                  <a:pt x="0" y="55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0" name="Google Shape;1600;p71"/>
          <p:cNvSpPr txBox="1"/>
          <p:nvPr/>
        </p:nvSpPr>
        <p:spPr>
          <a:xfrm>
            <a:off x="5501537" y="941894"/>
            <a:ext cx="69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601" name="Google Shape;1601;p71"/>
          <p:cNvSpPr txBox="1"/>
          <p:nvPr/>
        </p:nvSpPr>
        <p:spPr>
          <a:xfrm>
            <a:off x="5658700" y="1285984"/>
            <a:ext cx="58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/>
          </a:p>
        </p:txBody>
      </p:sp>
      <p:sp>
        <p:nvSpPr>
          <p:cNvPr id="1602" name="Google Shape;1602;p71"/>
          <p:cNvSpPr txBox="1"/>
          <p:nvPr/>
        </p:nvSpPr>
        <p:spPr>
          <a:xfrm>
            <a:off x="5638062" y="1433621"/>
            <a:ext cx="88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sp>
        <p:nvSpPr>
          <p:cNvPr id="1603" name="Google Shape;1603;p71"/>
          <p:cNvSpPr txBox="1"/>
          <p:nvPr/>
        </p:nvSpPr>
        <p:spPr>
          <a:xfrm>
            <a:off x="5638062" y="1628884"/>
            <a:ext cx="888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604" name="Google Shape;1604;p71"/>
          <p:cNvSpPr txBox="1"/>
          <p:nvPr/>
        </p:nvSpPr>
        <p:spPr>
          <a:xfrm>
            <a:off x="5646000" y="1797953"/>
            <a:ext cx="795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605" name="Google Shape;1605;p71"/>
          <p:cNvCxnSpPr/>
          <p:nvPr/>
        </p:nvCxnSpPr>
        <p:spPr>
          <a:xfrm>
            <a:off x="5436450" y="1419334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06" name="Google Shape;1606;p71"/>
          <p:cNvCxnSpPr/>
          <p:nvPr/>
        </p:nvCxnSpPr>
        <p:spPr>
          <a:xfrm>
            <a:off x="5436450" y="1590784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07" name="Google Shape;1607;p71"/>
          <p:cNvSpPr/>
          <p:nvPr/>
        </p:nvSpPr>
        <p:spPr>
          <a:xfrm>
            <a:off x="5833325" y="1561019"/>
            <a:ext cx="171450" cy="59531"/>
          </a:xfrm>
          <a:custGeom>
            <a:rect b="b" l="l" r="r" t="t"/>
            <a:pathLst>
              <a:path extrusionOk="0" h="55" w="111">
                <a:moveTo>
                  <a:pt x="111" y="28"/>
                </a:moveTo>
                <a:lnTo>
                  <a:pt x="0" y="0"/>
                </a:lnTo>
                <a:lnTo>
                  <a:pt x="0" y="55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08" name="Google Shape;1608;p71"/>
          <p:cNvCxnSpPr/>
          <p:nvPr/>
        </p:nvCxnSpPr>
        <p:spPr>
          <a:xfrm>
            <a:off x="5436450" y="1762234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09" name="Google Shape;1609;p71"/>
          <p:cNvSpPr/>
          <p:nvPr/>
        </p:nvSpPr>
        <p:spPr>
          <a:xfrm>
            <a:off x="5833325" y="1731278"/>
            <a:ext cx="171450" cy="60722"/>
          </a:xfrm>
          <a:custGeom>
            <a:rect b="b" l="l" r="r" t="t"/>
            <a:pathLst>
              <a:path extrusionOk="0" h="56" w="111">
                <a:moveTo>
                  <a:pt x="111" y="28"/>
                </a:moveTo>
                <a:lnTo>
                  <a:pt x="0" y="0"/>
                </a:lnTo>
                <a:lnTo>
                  <a:pt x="0" y="56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10" name="Google Shape;1610;p71"/>
          <p:cNvCxnSpPr/>
          <p:nvPr/>
        </p:nvCxnSpPr>
        <p:spPr>
          <a:xfrm>
            <a:off x="5284050" y="1081197"/>
            <a:ext cx="428700" cy="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11" name="Google Shape;1611;p71"/>
          <p:cNvSpPr/>
          <p:nvPr/>
        </p:nvSpPr>
        <p:spPr>
          <a:xfrm>
            <a:off x="5680925" y="1051431"/>
            <a:ext cx="171450" cy="59531"/>
          </a:xfrm>
          <a:custGeom>
            <a:rect b="b" l="l" r="r" t="t"/>
            <a:pathLst>
              <a:path extrusionOk="0" h="55" w="111">
                <a:moveTo>
                  <a:pt x="111" y="27"/>
                </a:moveTo>
                <a:lnTo>
                  <a:pt x="0" y="0"/>
                </a:lnTo>
                <a:lnTo>
                  <a:pt x="0" y="55"/>
                </a:lnTo>
                <a:lnTo>
                  <a:pt x="111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12" name="Google Shape;1612;p71"/>
          <p:cNvCxnSpPr/>
          <p:nvPr/>
        </p:nvCxnSpPr>
        <p:spPr>
          <a:xfrm>
            <a:off x="7015162" y="1232296"/>
            <a:ext cx="428700" cy="1200"/>
          </a:xfrm>
          <a:prstGeom prst="straightConnector1">
            <a:avLst/>
          </a:prstGeom>
          <a:noFill/>
          <a:ln cap="flat" cmpd="sng" w="222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613" name="Google Shape;1613;p71"/>
          <p:cNvSpPr/>
          <p:nvPr/>
        </p:nvSpPr>
        <p:spPr>
          <a:xfrm>
            <a:off x="7412037" y="1201340"/>
            <a:ext cx="171450" cy="60722"/>
          </a:xfrm>
          <a:custGeom>
            <a:rect b="b" l="l" r="r" t="t"/>
            <a:pathLst>
              <a:path extrusionOk="0" h="56" w="111">
                <a:moveTo>
                  <a:pt x="111" y="28"/>
                </a:moveTo>
                <a:lnTo>
                  <a:pt x="0" y="0"/>
                </a:lnTo>
                <a:lnTo>
                  <a:pt x="0" y="56"/>
                </a:lnTo>
                <a:lnTo>
                  <a:pt x="111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4" name="Google Shape;1614;p71"/>
          <p:cNvSpPr/>
          <p:nvPr/>
        </p:nvSpPr>
        <p:spPr>
          <a:xfrm>
            <a:off x="5833325" y="1393140"/>
            <a:ext cx="171450" cy="60722"/>
          </a:xfrm>
          <a:custGeom>
            <a:rect b="b" l="l" r="r" t="t"/>
            <a:pathLst>
              <a:path extrusionOk="0" h="55" w="111">
                <a:moveTo>
                  <a:pt x="111" y="27"/>
                </a:moveTo>
                <a:lnTo>
                  <a:pt x="0" y="0"/>
                </a:lnTo>
                <a:lnTo>
                  <a:pt x="0" y="55"/>
                </a:lnTo>
                <a:lnTo>
                  <a:pt x="111" y="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5" name="Google Shape;1615;p71"/>
          <p:cNvSpPr/>
          <p:nvPr/>
        </p:nvSpPr>
        <p:spPr>
          <a:xfrm>
            <a:off x="5123712" y="1024047"/>
            <a:ext cx="1602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6" name="Google Shape;1616;p71"/>
          <p:cNvSpPr/>
          <p:nvPr/>
        </p:nvSpPr>
        <p:spPr>
          <a:xfrm>
            <a:off x="5276112" y="1362184"/>
            <a:ext cx="160200" cy="114300"/>
          </a:xfrm>
          <a:prstGeom prst="ellipse">
            <a:avLst/>
          </a:prstGeom>
          <a:solidFill>
            <a:schemeClr val="accent2">
              <a:alpha val="498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7" name="Google Shape;1617;p71"/>
          <p:cNvSpPr/>
          <p:nvPr/>
        </p:nvSpPr>
        <p:spPr>
          <a:xfrm>
            <a:off x="5276112" y="1533634"/>
            <a:ext cx="160200" cy="114300"/>
          </a:xfrm>
          <a:prstGeom prst="ellipse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8" name="Google Shape;1618;p71"/>
          <p:cNvSpPr/>
          <p:nvPr/>
        </p:nvSpPr>
        <p:spPr>
          <a:xfrm>
            <a:off x="5276112" y="1705084"/>
            <a:ext cx="160200" cy="113100"/>
          </a:xfrm>
          <a:prstGeom prst="ellipse">
            <a:avLst/>
          </a:prstGeom>
          <a:solidFill>
            <a:schemeClr val="accent1">
              <a:alpha val="498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9" name="Google Shape;1619;p71"/>
          <p:cNvSpPr txBox="1"/>
          <p:nvPr/>
        </p:nvSpPr>
        <p:spPr>
          <a:xfrm>
            <a:off x="5985725" y="934750"/>
            <a:ext cx="1065300" cy="1137000"/>
          </a:xfrm>
          <a:prstGeom prst="rect">
            <a:avLst/>
          </a:prstGeom>
          <a:noFill/>
          <a:ln cap="flat" cmpd="sng" w="17450">
            <a:solidFill>
              <a:srgbClr val="007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0" name="Google Shape;1620;p71"/>
          <p:cNvSpPr txBox="1"/>
          <p:nvPr/>
        </p:nvSpPr>
        <p:spPr>
          <a:xfrm>
            <a:off x="8743950" y="1339453"/>
            <a:ext cx="4239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21" name="Google Shape;1621;p71"/>
          <p:cNvSpPr/>
          <p:nvPr/>
        </p:nvSpPr>
        <p:spPr>
          <a:xfrm>
            <a:off x="5223725" y="1334800"/>
            <a:ext cx="228600" cy="171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2" name="Google Shape;1622;p71"/>
          <p:cNvSpPr/>
          <p:nvPr/>
        </p:nvSpPr>
        <p:spPr>
          <a:xfrm>
            <a:off x="5223725" y="1506250"/>
            <a:ext cx="228600" cy="17160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3" name="Google Shape;1623;p71"/>
          <p:cNvSpPr/>
          <p:nvPr/>
        </p:nvSpPr>
        <p:spPr>
          <a:xfrm>
            <a:off x="5223725" y="1677700"/>
            <a:ext cx="228600" cy="171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4" name="Google Shape;1624;p71"/>
          <p:cNvSpPr/>
          <p:nvPr/>
        </p:nvSpPr>
        <p:spPr>
          <a:xfrm>
            <a:off x="5223725" y="1334800"/>
            <a:ext cx="228600" cy="171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5" name="Google Shape;1625;p71"/>
          <p:cNvSpPr txBox="1"/>
          <p:nvPr/>
        </p:nvSpPr>
        <p:spPr>
          <a:xfrm>
            <a:off x="5989775" y="931875"/>
            <a:ext cx="10653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Detector</a:t>
            </a:r>
            <a:endParaRPr/>
          </a:p>
        </p:txBody>
      </p:sp>
      <p:sp>
        <p:nvSpPr>
          <p:cNvPr id="1626" name="Google Shape;1626;p71"/>
          <p:cNvSpPr txBox="1"/>
          <p:nvPr/>
        </p:nvSpPr>
        <p:spPr>
          <a:xfrm>
            <a:off x="7610475" y="1024050"/>
            <a:ext cx="1379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Door unlocked</a:t>
            </a:r>
            <a:endParaRPr/>
          </a:p>
        </p:txBody>
      </p:sp>
      <p:sp>
        <p:nvSpPr>
          <p:cNvPr id="1627" name="Google Shape;1627;p71"/>
          <p:cNvSpPr txBox="1"/>
          <p:nvPr/>
        </p:nvSpPr>
        <p:spPr>
          <a:xfrm>
            <a:off x="7080325" y="921125"/>
            <a:ext cx="428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</a:t>
            </a:r>
            <a:endParaRPr/>
          </a:p>
        </p:txBody>
      </p:sp>
      <p:sp>
        <p:nvSpPr>
          <p:cNvPr id="1628" name="Google Shape;1628;p71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EECS 370</a:t>
            </a:r>
            <a:endParaRPr/>
          </a:p>
        </p:txBody>
      </p:sp>
      <p:sp>
        <p:nvSpPr>
          <p:cNvPr id="1634" name="Google Shape;1634;p72"/>
          <p:cNvSpPr txBox="1"/>
          <p:nvPr>
            <p:ph idx="1" type="subTitle"/>
          </p:nvPr>
        </p:nvSpPr>
        <p:spPr>
          <a:xfrm>
            <a:off x="311700" y="28341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 5: Digital Logic</a:t>
            </a:r>
            <a:endParaRPr/>
          </a:p>
        </p:txBody>
      </p:sp>
      <p:sp>
        <p:nvSpPr>
          <p:cNvPr id="1635" name="Google Shape;1635;p72"/>
          <p:cNvSpPr txBox="1"/>
          <p:nvPr>
            <p:ph idx="12" type="sldNum"/>
          </p:nvPr>
        </p:nvSpPr>
        <p:spPr>
          <a:xfrm>
            <a:off x="8603700" y="4843350"/>
            <a:ext cx="5403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ECS 370 Dark">
  <a:themeElements>
    <a:clrScheme name="Simple Light">
      <a:dk1>
        <a:srgbClr val="FFFFFF"/>
      </a:dk1>
      <a:lt1>
        <a:srgbClr val="000000"/>
      </a:lt1>
      <a:dk2>
        <a:srgbClr val="CCCCCC"/>
      </a:dk2>
      <a:lt2>
        <a:srgbClr val="666666"/>
      </a:lt2>
      <a:accent1>
        <a:srgbClr val="6D9EEB"/>
      </a:accent1>
      <a:accent2>
        <a:srgbClr val="4A86E8"/>
      </a:accent2>
      <a:accent3>
        <a:srgbClr val="FF0000"/>
      </a:accent3>
      <a:accent4>
        <a:srgbClr val="00FF00"/>
      </a:accent4>
      <a:accent5>
        <a:srgbClr val="00FFFF"/>
      </a:accent5>
      <a:accent6>
        <a:srgbClr val="FF00FF"/>
      </a:accent6>
      <a:hlink>
        <a:srgbClr val="99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