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Helvetica Neue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F32116-6060-482F-A275-422F449575E7}">
  <a:tblStyle styleId="{C2F32116-6060-482F-A275-422F449575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HelveticaNeue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HelveticaNeue-italic.fntdata"/><Relationship Id="rId21" Type="http://schemas.openxmlformats.org/officeDocument/2006/relationships/slide" Target="slides/slide15.xml"/><Relationship Id="rId43" Type="http://schemas.openxmlformats.org/officeDocument/2006/relationships/font" Target="fonts/HelveticaNeue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82eceb20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582eceb2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82eceb20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582eceb20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Instructors - no need to go over anything here specifically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82eceb20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582eceb20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82eceb20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582eceb20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82eceb20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582eceb20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Target around 20 minutes for groups to work on this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82eceb20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582eceb20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Walk through the placement of each block verbally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82eceb20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582eceb20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582eceb20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582eceb20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582eceb20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582eceb20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582eceb20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582eceb20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82eceb20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582eceb20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0"/>
            <a:ext cx="74073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0"/>
            <a:ext cx="74073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843350"/>
            <a:ext cx="9144000" cy="30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0"/>
            <a:ext cx="74073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Helvetica Neue"/>
              <a:buNone/>
              <a:defRPr b="0" i="0" sz="2800" u="none" cap="none" strike="noStrik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 b="0" i="0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0" y="4843350"/>
            <a:ext cx="1664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EECS 370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6939300" y="4843350"/>
            <a:ext cx="1664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Fall</a:t>
            </a:r>
            <a:r>
              <a:rPr b="1" i="0" lang="en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2025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719000" y="0"/>
            <a:ext cx="1425000" cy="7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760">
          <p15:clr>
            <a:srgbClr val="EA4335"/>
          </p15:clr>
        </p15:guide>
        <p15:guide id="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ecs370.github.io/resources/armrefsheet.pdf" TargetMode="External"/><Relationship Id="rId4" Type="http://schemas.openxmlformats.org/officeDocument/2006/relationships/hyperlink" Target="https://eecs370.github.io/#resources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godbolt.org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n.wikipedia.org/wiki/Hexspeak#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-125" y="781525"/>
            <a:ext cx="9144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EECS 370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2834125"/>
            <a:ext cx="8520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Lab 3: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ARM Assembly</a:t>
            </a:r>
            <a:endParaRPr/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Upcoming Assignments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Homework 1 due Monday Sept 22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Project 1s &amp; 1m due Thursday Sept 18</a:t>
            </a:r>
            <a:endParaRPr/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This Lab Will Cover: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"/>
              <a:t>ARM LEGv8 Assembly</a:t>
            </a:r>
            <a:endParaRPr b="1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Memory and Struct Alignment</a:t>
            </a:r>
            <a:endParaRPr/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LC2K Instructions Compared to ARM</a:t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0" y="103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158550"/>
                <a:gridCol w="1648375"/>
                <a:gridCol w="6337075"/>
              </a:tblGrid>
              <a:tr h="27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LC2K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ARM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Differences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1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add (R-type)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Also ADDI for constants, and SUB/SUBI for subtraction. (LC2K Subtraction: nor the 2nd with itself, add 1, add result to 1st one). MOVZ #0 zeros out reg.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We use LSL, LSR for shifts. (Pseudo-instructions: MUL)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nor (R-type)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Load #-1 then EOR/SUB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Much easier to use ORR/ORRI, AND/ANDI, EOR/EORI. (Note: a NOT instruction exists in pseudocode for ARM overall, but not LEGv8)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lw (I-type)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LDURSW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This is for 32 bits. Also LDUR, LDURH, LDURB.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sw (I-type)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STURW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This is for 32 bits. Also STUR, STURH, STURB.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beq (I-type)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CMP then B.EQ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CBZ branch if zero (beq 0 regB offset), B for unconditional (beq 0 0 offset)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jalr (J-type)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BR (branch reg)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Using BL with #0 right before BR stores return 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halt (O-type)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End of file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noop (O-type)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NOP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Technically not in LEGv8, but present in ARM overall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" name="Google Shape;82;p16"/>
          <p:cNvSpPr/>
          <p:nvPr/>
        </p:nvSpPr>
        <p:spPr>
          <a:xfrm>
            <a:off x="6598100" y="257650"/>
            <a:ext cx="1012176" cy="637308"/>
          </a:xfrm>
          <a:prstGeom prst="cloud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cheat sheet!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ARM LEGv8 Reference Card</a:t>
            </a:r>
            <a:endParaRPr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11700" y="1152600"/>
            <a:ext cx="4442400" cy="26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the </a:t>
            </a:r>
            <a:r>
              <a:rPr b="0" i="0" lang="en" sz="20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ARM LEGv8 reference card</a:t>
            </a:r>
            <a:r>
              <a:rPr b="0" i="0" lang="en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a helpful overview of important LEGv8 instructions.</a:t>
            </a:r>
            <a:endParaRPr b="0" i="0" sz="2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can be found in the website under “References Material” in the </a:t>
            </a:r>
            <a:r>
              <a:rPr b="0" i="0" lang="en" sz="20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“Course Resources” section</a:t>
            </a:r>
            <a:r>
              <a:rPr b="0" i="0" lang="en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4101" y="1152600"/>
            <a:ext cx="4380900" cy="334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6">
            <a:alphaModFix/>
          </a:blip>
          <a:srcRect b="0" l="0" r="8891" t="95057"/>
          <a:stretch/>
        </p:blipFill>
        <p:spPr>
          <a:xfrm>
            <a:off x="4694100" y="4402785"/>
            <a:ext cx="4380899" cy="131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ARM LEGv8 ABI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5631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"/>
              <a:t>Application Binary Interface (ABI) </a:t>
            </a:r>
            <a:r>
              <a:rPr lang="en"/>
              <a:t>defines the convention of how registers should be used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"/>
              <a:t>Ex: LEGv8 Register X0-X7 are used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for arguments/results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None/>
            </a:pPr>
            <a:r>
              <a:rPr lang="en"/>
              <a:t>Snippet shown here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425" y="1996850"/>
            <a:ext cx="4132826" cy="278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0"/>
            <a:ext cx="74073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Problem 1 &amp; 2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Introduce yourself to your group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godbolt.org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Write code into source tab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600" y="2005900"/>
            <a:ext cx="5211150" cy="23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2" type="body"/>
          </p:nvPr>
        </p:nvSpPr>
        <p:spPr>
          <a:xfrm>
            <a:off x="5872750" y="1152475"/>
            <a:ext cx="2959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"carm64g820” or “ARM64 gcc 8.2" for the architecture and "-O2" for the compiler options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the code and walk through how it multiplies without a multiply instruction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0100" y="1913700"/>
            <a:ext cx="3413899" cy="4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This Lab Will Cover: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ARM LEGv8 Assembly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"/>
              <a:t>Memory and Struct Alignment</a:t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 amt="20000"/>
          </a:blip>
          <a:srcRect b="4088" l="7566" r="6028" t="4818"/>
          <a:stretch/>
        </p:blipFill>
        <p:spPr>
          <a:xfrm>
            <a:off x="415150" y="3414523"/>
            <a:ext cx="905015" cy="1052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1631549" y="3441591"/>
            <a:ext cx="905015" cy="99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 rotWithShape="1">
          <a:blip r:embed="rId5">
            <a:alphaModFix amt="20000"/>
          </a:blip>
          <a:srcRect b="0" l="0" r="0" t="0"/>
          <a:stretch/>
        </p:blipFill>
        <p:spPr>
          <a:xfrm>
            <a:off x="2847947" y="3467955"/>
            <a:ext cx="905015" cy="95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 is Stored in Memory in Chunks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Each chunk is (typically) the size of a single byte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000"/>
              <a:buNone/>
            </a:pPr>
            <a:r>
              <a:rPr lang="en"/>
              <a:t>Think of each chunk like a wooden letter block:</a:t>
            </a:r>
            <a:br>
              <a:rPr lang="en"/>
            </a:br>
            <a:r>
              <a:rPr lang="en"/>
              <a:t>To interpret the word, we can </a:t>
            </a:r>
            <a:r>
              <a:rPr b="1" lang="en"/>
              <a:t>rearrange</a:t>
            </a:r>
            <a:r>
              <a:rPr lang="en"/>
              <a:t> the blocks, but can’t change the letters.</a:t>
            </a:r>
            <a:endParaRPr/>
          </a:p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4088" l="7566" r="6028" t="4818"/>
          <a:stretch/>
        </p:blipFill>
        <p:spPr>
          <a:xfrm>
            <a:off x="415150" y="3414523"/>
            <a:ext cx="905015" cy="1052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1549" y="3441591"/>
            <a:ext cx="905015" cy="99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7947" y="3467955"/>
            <a:ext cx="905015" cy="95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 rotWithShape="1">
          <a:blip r:embed="rId6">
            <a:alphaModFix/>
          </a:blip>
          <a:srcRect b="17768" l="12178" r="10925" t="28449"/>
          <a:stretch/>
        </p:blipFill>
        <p:spPr>
          <a:xfrm>
            <a:off x="4064347" y="3451846"/>
            <a:ext cx="905016" cy="987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 rotWithShape="1">
          <a:blip r:embed="rId3">
            <a:alphaModFix/>
          </a:blip>
          <a:srcRect b="4088" l="7566" r="6028" t="4818"/>
          <a:stretch/>
        </p:blipFill>
        <p:spPr>
          <a:xfrm>
            <a:off x="7706645" y="3419638"/>
            <a:ext cx="897055" cy="1052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1966" y="3446706"/>
            <a:ext cx="897055" cy="99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0746" y="3467929"/>
            <a:ext cx="897055" cy="9554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21"/>
          <p:cNvCxnSpPr>
            <a:stCxn id="121" idx="0"/>
            <a:endCxn id="131" idx="0"/>
          </p:cNvCxnSpPr>
          <p:nvPr/>
        </p:nvCxnSpPr>
        <p:spPr>
          <a:xfrm flipH="1" rot="-5400000">
            <a:off x="4508908" y="-226727"/>
            <a:ext cx="5100" cy="7287600"/>
          </a:xfrm>
          <a:prstGeom prst="curvedConnector3">
            <a:avLst>
              <a:gd fmla="val -466911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35" name="Google Shape;135;p21"/>
          <p:cNvCxnSpPr>
            <a:stCxn id="122" idx="0"/>
            <a:endCxn id="132" idx="0"/>
          </p:cNvCxnSpPr>
          <p:nvPr/>
        </p:nvCxnSpPr>
        <p:spPr>
          <a:xfrm flipH="1" rot="-5400000">
            <a:off x="4499657" y="1025991"/>
            <a:ext cx="5100" cy="4836300"/>
          </a:xfrm>
          <a:prstGeom prst="curvedConnector3">
            <a:avLst>
              <a:gd fmla="val -466911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36" name="Google Shape;136;p21"/>
          <p:cNvCxnSpPr>
            <a:stCxn id="123" idx="0"/>
            <a:endCxn id="133" idx="0"/>
          </p:cNvCxnSpPr>
          <p:nvPr/>
        </p:nvCxnSpPr>
        <p:spPr>
          <a:xfrm flipH="1" rot="-5400000">
            <a:off x="4514555" y="2253855"/>
            <a:ext cx="600" cy="2428800"/>
          </a:xfrm>
          <a:prstGeom prst="curvedConnector3">
            <a:avLst>
              <a:gd fmla="val -39691929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/>
        </p:nvSpPr>
        <p:spPr>
          <a:xfrm>
            <a:off x="3617250" y="1293725"/>
            <a:ext cx="1948800" cy="49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sng" cap="none" strike="noStrike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0x</a:t>
            </a:r>
            <a:r>
              <a:rPr b="0" i="0" lang="en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BAADF00D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2" name="Google Shape;142;p22"/>
          <p:cNvCxnSpPr/>
          <p:nvPr/>
        </p:nvCxnSpPr>
        <p:spPr>
          <a:xfrm rot="10800000">
            <a:off x="4591725" y="1648125"/>
            <a:ext cx="2458200" cy="1400700"/>
          </a:xfrm>
          <a:prstGeom prst="bentConnector3">
            <a:avLst>
              <a:gd fmla="val 99552" name="adj1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43" name="Google Shape;143;p22"/>
          <p:cNvCxnSpPr/>
          <p:nvPr/>
        </p:nvCxnSpPr>
        <p:spPr>
          <a:xfrm rot="10800000">
            <a:off x="4862950" y="1670475"/>
            <a:ext cx="2175900" cy="885600"/>
          </a:xfrm>
          <a:prstGeom prst="bentConnector3">
            <a:avLst>
              <a:gd fmla="val 99235" name="adj1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44" name="Google Shape;144;p22"/>
          <p:cNvCxnSpPr/>
          <p:nvPr/>
        </p:nvCxnSpPr>
        <p:spPr>
          <a:xfrm rot="10800000">
            <a:off x="4320700" y="1664525"/>
            <a:ext cx="2723700" cy="1915800"/>
          </a:xfrm>
          <a:prstGeom prst="bentConnector3">
            <a:avLst>
              <a:gd fmla="val 99808" name="adj1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Endianness in Byte-Addressable Systems</a:t>
            </a:r>
            <a:endParaRPr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2"/>
          <p:cNvSpPr txBox="1"/>
          <p:nvPr/>
        </p:nvSpPr>
        <p:spPr>
          <a:xfrm>
            <a:off x="3961950" y="950450"/>
            <a:ext cx="14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32-bit Integer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934900" y="1331450"/>
            <a:ext cx="177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Big Endian Memory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6313575" y="1331450"/>
            <a:ext cx="22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Little Endian Memory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50" name="Google Shape;150;p22"/>
          <p:cNvGraphicFramePr/>
          <p:nvPr/>
        </p:nvGraphicFramePr>
        <p:xfrm>
          <a:off x="414525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138200"/>
                <a:gridCol w="5051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addr+1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addr+2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F0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addr+3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0D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1" name="Google Shape;151;p22"/>
          <p:cNvGraphicFramePr/>
          <p:nvPr/>
        </p:nvGraphicFramePr>
        <p:xfrm>
          <a:off x="7042675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89500"/>
                <a:gridCol w="11539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0D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F0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addr+1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addr+2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addr+3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2" name="Google Shape;152;p22"/>
          <p:cNvCxnSpPr/>
          <p:nvPr/>
        </p:nvCxnSpPr>
        <p:spPr>
          <a:xfrm flipH="1" rot="10800000">
            <a:off x="2061450" y="1664550"/>
            <a:ext cx="2259000" cy="420900"/>
          </a:xfrm>
          <a:prstGeom prst="bentConnector3">
            <a:avLst>
              <a:gd fmla="val 99017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3" name="Google Shape;153;p22"/>
          <p:cNvCxnSpPr/>
          <p:nvPr/>
        </p:nvCxnSpPr>
        <p:spPr>
          <a:xfrm flipH="1" rot="10800000">
            <a:off x="2061450" y="1648050"/>
            <a:ext cx="2530200" cy="894600"/>
          </a:xfrm>
          <a:prstGeom prst="bentConnector3">
            <a:avLst>
              <a:gd fmla="val 99127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4" name="Google Shape;154;p22"/>
          <p:cNvCxnSpPr/>
          <p:nvPr/>
        </p:nvCxnSpPr>
        <p:spPr>
          <a:xfrm flipH="1" rot="10800000">
            <a:off x="2067000" y="1670275"/>
            <a:ext cx="2796000" cy="1339800"/>
          </a:xfrm>
          <a:prstGeom prst="bentConnector3">
            <a:avLst>
              <a:gd fmla="val 99405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5" name="Google Shape;155;p22"/>
          <p:cNvCxnSpPr/>
          <p:nvPr/>
        </p:nvCxnSpPr>
        <p:spPr>
          <a:xfrm flipH="1" rot="10800000">
            <a:off x="2061450" y="1670100"/>
            <a:ext cx="3078300" cy="1872900"/>
          </a:xfrm>
          <a:prstGeom prst="bentConnector3">
            <a:avLst>
              <a:gd fmla="val 99282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56" name="Google Shape;156;p22"/>
          <p:cNvCxnSpPr/>
          <p:nvPr/>
        </p:nvCxnSpPr>
        <p:spPr>
          <a:xfrm rot="10800000">
            <a:off x="5139725" y="1670175"/>
            <a:ext cx="1893600" cy="387600"/>
          </a:xfrm>
          <a:prstGeom prst="bentConnector3">
            <a:avLst>
              <a:gd fmla="val 99703" name="adj1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95975" y="3708425"/>
            <a:ext cx="45345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" sz="1700"/>
              <a:t>Big Endian </a:t>
            </a:r>
            <a:r>
              <a:rPr lang="en" sz="1700"/>
              <a:t>builds the word so the </a:t>
            </a:r>
            <a:r>
              <a:rPr b="1" lang="en" sz="1700"/>
              <a:t>smallest </a:t>
            </a:r>
            <a:r>
              <a:rPr lang="en" sz="1700"/>
              <a:t>address is the </a:t>
            </a:r>
            <a:r>
              <a:rPr b="1" lang="en" sz="1700"/>
              <a:t>MSB</a:t>
            </a:r>
            <a:r>
              <a:rPr lang="en" sz="1700"/>
              <a:t>.</a:t>
            </a:r>
            <a:endParaRPr sz="17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700"/>
              <a:t>This can be more natural for humans to think about.</a:t>
            </a:r>
            <a:endParaRPr sz="1700"/>
          </a:p>
        </p:txBody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4591775" y="3708425"/>
            <a:ext cx="45345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en" sz="1700"/>
              <a:t>Little Endian</a:t>
            </a:r>
            <a:r>
              <a:rPr lang="en" sz="1700"/>
              <a:t> builds the word so the </a:t>
            </a:r>
            <a:r>
              <a:rPr b="1" lang="en" sz="1700"/>
              <a:t>largest </a:t>
            </a:r>
            <a:r>
              <a:rPr lang="en" sz="1700"/>
              <a:t>address is the </a:t>
            </a:r>
            <a:r>
              <a:rPr b="1" lang="en" sz="1700"/>
              <a:t>MSB</a:t>
            </a:r>
            <a:r>
              <a:rPr lang="en" sz="1700"/>
              <a:t>.</a:t>
            </a:r>
            <a:endParaRPr sz="17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700"/>
              <a:t>Faster for a computer to read, as int ops can start after reading the first byte.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Memory Alignment</a:t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11700" y="1000075"/>
            <a:ext cx="8520600" cy="1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In memory, data is aligned to the size of its type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000"/>
              <a:buNone/>
            </a:pPr>
            <a:r>
              <a:rPr lang="en"/>
              <a:t>This makes it more efficient to access within memory </a:t>
            </a:r>
            <a:br>
              <a:rPr lang="en"/>
            </a:br>
            <a:r>
              <a:rPr lang="en"/>
              <a:t>	and is important for caching (we’ll see why later in the course)</a:t>
            </a:r>
            <a:endParaRPr/>
          </a:p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66" name="Google Shape;166;p23"/>
          <p:cNvGraphicFramePr/>
          <p:nvPr/>
        </p:nvGraphicFramePr>
        <p:xfrm>
          <a:off x="499950" y="418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3"/>
          <p:cNvGraphicFramePr/>
          <p:nvPr/>
        </p:nvGraphicFramePr>
        <p:xfrm>
          <a:off x="499950" y="349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3"/>
          <p:cNvGraphicFramePr/>
          <p:nvPr/>
        </p:nvGraphicFramePr>
        <p:xfrm>
          <a:off x="4984100" y="418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23"/>
          <p:cNvGraphicFramePr/>
          <p:nvPr/>
        </p:nvGraphicFramePr>
        <p:xfrm>
          <a:off x="4984100" y="349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0" name="Google Shape;170;p23"/>
          <p:cNvGraphicFramePr/>
          <p:nvPr/>
        </p:nvGraphicFramePr>
        <p:xfrm>
          <a:off x="2309750" y="2731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52450"/>
                <a:gridCol w="452450"/>
                <a:gridCol w="452450"/>
                <a:gridCol w="452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23"/>
          <p:cNvSpPr txBox="1"/>
          <p:nvPr/>
        </p:nvSpPr>
        <p:spPr>
          <a:xfrm>
            <a:off x="4984100" y="2642913"/>
            <a:ext cx="2127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4-bytes, needs to start </a:t>
            </a:r>
            <a:br>
              <a:rPr b="1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 multiple of 4</a:t>
            </a:r>
            <a:endParaRPr b="1" i="0" sz="14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72" name="Google Shape;172;p23"/>
          <p:cNvCxnSpPr>
            <a:stCxn id="171" idx="1"/>
          </p:cNvCxnSpPr>
          <p:nvPr/>
        </p:nvCxnSpPr>
        <p:spPr>
          <a:xfrm rot="10800000">
            <a:off x="4184900" y="2929263"/>
            <a:ext cx="799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3" name="Google Shape;173;p23"/>
          <p:cNvSpPr/>
          <p:nvPr/>
        </p:nvSpPr>
        <p:spPr>
          <a:xfrm>
            <a:off x="6294700" y="3191650"/>
            <a:ext cx="998400" cy="998400"/>
          </a:xfrm>
          <a:prstGeom prst="mathMultiply">
            <a:avLst>
              <a:gd fmla="val 11593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6700400" y="3884875"/>
            <a:ext cx="998400" cy="998400"/>
          </a:xfrm>
          <a:prstGeom prst="mathMultiply">
            <a:avLst>
              <a:gd fmla="val 11593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1369225" y="3899350"/>
            <a:ext cx="998400" cy="998400"/>
          </a:xfrm>
          <a:prstGeom prst="mathMultiply">
            <a:avLst>
              <a:gd fmla="val 11593" name="adj1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Typical Size of Data Types</a:t>
            </a:r>
            <a:endParaRPr/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82" name="Google Shape;182;p24"/>
          <p:cNvGraphicFramePr/>
          <p:nvPr/>
        </p:nvGraphicFramePr>
        <p:xfrm>
          <a:off x="394150" y="11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17785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 Type</a:t>
                      </a:r>
                      <a:endParaRPr b="1" sz="18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Size / Alignment</a:t>
                      </a:r>
                      <a:endParaRPr b="1" sz="18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endParaRPr b="1" sz="1400" u="none" cap="none" strike="noStrike"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Byte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short</a:t>
                      </a:r>
                      <a:endParaRPr b="1" sz="1400" u="none" cap="none" strike="noStrike"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 Bytes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int, float</a:t>
                      </a:r>
                      <a:endParaRPr b="1" sz="1400" u="none" cap="none" strike="noStrike"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 Bytes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double</a:t>
                      </a:r>
                      <a:endParaRPr b="1" sz="1400" u="none" cap="none" strike="noStrike"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 Bytes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 </a:t>
                      </a: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</a:t>
                      </a:r>
                      <a:r>
                        <a:rPr i="1"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(32-bit Architecture)</a:t>
                      </a:r>
                      <a:endParaRPr i="1"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 Bytes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 </a:t>
                      </a: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</a:t>
                      </a:r>
                      <a:r>
                        <a:rPr i="1"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(64-bit Architecture)</a:t>
                      </a:r>
                      <a:endParaRPr i="1"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 Bytes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pointer    </a:t>
                      </a: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</a:t>
                      </a:r>
                      <a:r>
                        <a:rPr i="1"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(32-bit Architecture)</a:t>
                      </a:r>
                      <a:endParaRPr i="1"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 Bytes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pointer    </a:t>
                      </a: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</a:t>
                      </a:r>
                      <a:r>
                        <a:rPr i="1"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(64-bit Architecture)</a:t>
                      </a:r>
                      <a:endParaRPr i="1"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 Bytes</a:t>
                      </a:r>
                      <a:endParaRPr sz="14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4"/>
          <p:cNvSpPr/>
          <p:nvPr/>
        </p:nvSpPr>
        <p:spPr>
          <a:xfrm>
            <a:off x="6598100" y="257650"/>
            <a:ext cx="1012176" cy="637308"/>
          </a:xfrm>
          <a:prstGeom prst="cloud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cheat sheet!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Aligning Data within a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311700" y="1152475"/>
            <a:ext cx="85206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Since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/>
              <a:t> can contain multiple different data types,</a:t>
            </a:r>
            <a:br>
              <a:rPr lang="en"/>
            </a:br>
            <a:r>
              <a:rPr lang="en"/>
              <a:t>	we must align the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1" lang="en"/>
              <a:t> </a:t>
            </a:r>
            <a:r>
              <a:rPr lang="en"/>
              <a:t>using the</a:t>
            </a:r>
            <a:r>
              <a:rPr b="1" i="1" lang="en"/>
              <a:t> largest primitive type</a:t>
            </a:r>
            <a:r>
              <a:rPr lang="en"/>
              <a:t> within 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000"/>
              <a:buNone/>
            </a:pPr>
            <a:r>
              <a:rPr lang="en"/>
              <a:t>Furthermore, we may need to pad the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/>
              <a:t> to keep everything aligned,</a:t>
            </a:r>
            <a:br>
              <a:rPr lang="en"/>
            </a:br>
            <a:r>
              <a:rPr lang="en"/>
              <a:t>	even padding the end in case we have an array of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/>
              <a:t>s</a:t>
            </a:r>
            <a:endParaRPr/>
          </a:p>
        </p:txBody>
      </p:sp>
      <p:sp>
        <p:nvSpPr>
          <p:cNvPr id="190" name="Google Shape;190;p2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91" name="Google Shape;191;p25"/>
          <p:cNvGraphicFramePr/>
          <p:nvPr/>
        </p:nvGraphicFramePr>
        <p:xfrm>
          <a:off x="311700" y="318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29250"/>
                <a:gridCol w="429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" name="Google Shape;192;p25"/>
          <p:cNvGraphicFramePr/>
          <p:nvPr/>
        </p:nvGraphicFramePr>
        <p:xfrm>
          <a:off x="1469175" y="318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26225"/>
                <a:gridCol w="426225"/>
                <a:gridCol w="426225"/>
                <a:gridCol w="4262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3" name="Google Shape;193;p25"/>
          <p:cNvGraphicFramePr/>
          <p:nvPr/>
        </p:nvGraphicFramePr>
        <p:xfrm>
          <a:off x="3473050" y="318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29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4D7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4" name="Google Shape;194;p25"/>
          <p:cNvGraphicFramePr/>
          <p:nvPr/>
        </p:nvGraphicFramePr>
        <p:xfrm>
          <a:off x="4201275" y="318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292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5" name="Google Shape;195;p25"/>
          <p:cNvGraphicFramePr/>
          <p:nvPr/>
        </p:nvGraphicFramePr>
        <p:xfrm>
          <a:off x="4929500" y="318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26225"/>
                <a:gridCol w="426225"/>
                <a:gridCol w="426225"/>
                <a:gridCol w="426225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6" name="Google Shape;196;p25"/>
          <p:cNvGraphicFramePr/>
          <p:nvPr/>
        </p:nvGraphicFramePr>
        <p:xfrm>
          <a:off x="311700" y="39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  <a:gridCol w="4524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25"/>
          <p:cNvSpPr txBox="1"/>
          <p:nvPr/>
        </p:nvSpPr>
        <p:spPr>
          <a:xfrm>
            <a:off x="7596000" y="3180825"/>
            <a:ext cx="154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Data</a:t>
            </a:r>
            <a:endParaRPr b="1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7596000" y="3913925"/>
            <a:ext cx="154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in </a:t>
            </a:r>
            <a:r>
              <a:rPr b="1" i="0" lang="en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 b="1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2573950" y="4389000"/>
            <a:ext cx="1953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Notice the padding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0" name="Google Shape;200;p25"/>
          <p:cNvCxnSpPr>
            <a:stCxn id="199" idx="3"/>
          </p:cNvCxnSpPr>
          <p:nvPr/>
        </p:nvCxnSpPr>
        <p:spPr>
          <a:xfrm flipH="1" rot="10800000">
            <a:off x="4526950" y="4383750"/>
            <a:ext cx="377700" cy="20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25"/>
          <p:cNvCxnSpPr>
            <a:stCxn id="199" idx="1"/>
          </p:cNvCxnSpPr>
          <p:nvPr/>
        </p:nvCxnSpPr>
        <p:spPr>
          <a:xfrm rot="10800000">
            <a:off x="2126950" y="4369350"/>
            <a:ext cx="447000" cy="21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Example: Addressing Data in Memory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p26"/>
          <p:cNvSpPr txBox="1"/>
          <p:nvPr>
            <p:ph idx="1" type="body"/>
          </p:nvPr>
        </p:nvSpPr>
        <p:spPr>
          <a:xfrm>
            <a:off x="311700" y="1152475"/>
            <a:ext cx="85206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Determine the start and end addresses for the following variables. </a:t>
            </a:r>
            <a:r>
              <a:rPr i="1" lang="en"/>
              <a:t>(Assume a 64-bit system and that the data starts on address 200</a:t>
            </a:r>
            <a:r>
              <a:rPr baseline="-25000" i="1" lang="en"/>
              <a:t>10  </a:t>
            </a:r>
            <a:r>
              <a:rPr i="1" lang="en"/>
              <a:t>)</a:t>
            </a:r>
            <a:endParaRPr i="1"/>
          </a:p>
        </p:txBody>
      </p:sp>
      <p:sp>
        <p:nvSpPr>
          <p:cNvPr id="208" name="Google Shape;208;p2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540300" y="1938775"/>
            <a:ext cx="26910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3419075" y="2177550"/>
            <a:ext cx="4117800" cy="26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a:		200 - 201	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b:		204 - 207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c:		208 - 208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d:		216 - 223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e:		224 - 227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f:		228 - 237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g:		224 - 239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total:	200 - 239	➝	40 bytes</a:t>
            </a:r>
            <a:endParaRPr b="0" i="0" sz="1600" u="none" cap="none" strike="noStrike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2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27"/>
          <p:cNvSpPr txBox="1"/>
          <p:nvPr/>
        </p:nvSpPr>
        <p:spPr>
          <a:xfrm>
            <a:off x="159300" y="1557775"/>
            <a:ext cx="26910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18" name="Google Shape;218;p27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159300" y="1557775"/>
            <a:ext cx="26910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26" name="Google Shape;226;p28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200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201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27" name="Google Shape;227;p28"/>
          <p:cNvCxnSpPr/>
          <p:nvPr/>
        </p:nvCxnSpPr>
        <p:spPr>
          <a:xfrm flipH="1" rot="10800000">
            <a:off x="1636575" y="1952800"/>
            <a:ext cx="2750400" cy="1101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28"/>
          <p:cNvCxnSpPr/>
          <p:nvPr/>
        </p:nvCxnSpPr>
        <p:spPr>
          <a:xfrm flipH="1" rot="10800000">
            <a:off x="1636575" y="1161975"/>
            <a:ext cx="2736900" cy="798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234" name="Google Shape;234;p2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9"/>
          <p:cNvSpPr txBox="1"/>
          <p:nvPr/>
        </p:nvSpPr>
        <p:spPr>
          <a:xfrm>
            <a:off x="159300" y="1557775"/>
            <a:ext cx="26910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36" name="Google Shape;236;p29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200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201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204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205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206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207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37" name="Google Shape;237;p29"/>
          <p:cNvCxnSpPr/>
          <p:nvPr/>
        </p:nvCxnSpPr>
        <p:spPr>
          <a:xfrm flipH="1" rot="10800000">
            <a:off x="1636575" y="1952800"/>
            <a:ext cx="2750400" cy="1101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29"/>
          <p:cNvCxnSpPr/>
          <p:nvPr/>
        </p:nvCxnSpPr>
        <p:spPr>
          <a:xfrm flipH="1" rot="10800000">
            <a:off x="1636575" y="1161975"/>
            <a:ext cx="2736900" cy="798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29"/>
          <p:cNvCxnSpPr/>
          <p:nvPr/>
        </p:nvCxnSpPr>
        <p:spPr>
          <a:xfrm>
            <a:off x="1409650" y="2234800"/>
            <a:ext cx="2984400" cy="5571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29"/>
          <p:cNvCxnSpPr/>
          <p:nvPr/>
        </p:nvCxnSpPr>
        <p:spPr>
          <a:xfrm>
            <a:off x="1409650" y="2351700"/>
            <a:ext cx="2984400" cy="20079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246" name="Google Shape;246;p3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0"/>
          <p:cNvSpPr txBox="1"/>
          <p:nvPr/>
        </p:nvSpPr>
        <p:spPr>
          <a:xfrm>
            <a:off x="159300" y="1557775"/>
            <a:ext cx="26910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48" name="Google Shape;248;p30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208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209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210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211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212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213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214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215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49" name="Google Shape;249;p30"/>
          <p:cNvCxnSpPr/>
          <p:nvPr/>
        </p:nvCxnSpPr>
        <p:spPr>
          <a:xfrm flipH="1" rot="10800000">
            <a:off x="1458975" y="1553700"/>
            <a:ext cx="2923500" cy="11490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30"/>
          <p:cNvCxnSpPr/>
          <p:nvPr/>
        </p:nvCxnSpPr>
        <p:spPr>
          <a:xfrm flipH="1" rot="10800000">
            <a:off x="1458975" y="1173450"/>
            <a:ext cx="2942400" cy="13983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256" name="Google Shape;256;p3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1"/>
          <p:cNvSpPr txBox="1"/>
          <p:nvPr/>
        </p:nvSpPr>
        <p:spPr>
          <a:xfrm>
            <a:off x="159300" y="1557775"/>
            <a:ext cx="26910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58" name="Google Shape;258;p31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216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217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218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219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220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221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222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223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59" name="Google Shape;259;p31"/>
          <p:cNvCxnSpPr/>
          <p:nvPr/>
        </p:nvCxnSpPr>
        <p:spPr>
          <a:xfrm>
            <a:off x="1496750" y="2987150"/>
            <a:ext cx="2904600" cy="13761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31"/>
          <p:cNvCxnSpPr/>
          <p:nvPr/>
        </p:nvCxnSpPr>
        <p:spPr>
          <a:xfrm flipH="1" rot="10800000">
            <a:off x="1515775" y="1173425"/>
            <a:ext cx="2885700" cy="15981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266" name="Google Shape;266;p3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2"/>
          <p:cNvSpPr txBox="1"/>
          <p:nvPr/>
        </p:nvSpPr>
        <p:spPr>
          <a:xfrm>
            <a:off x="159300" y="1557775"/>
            <a:ext cx="29394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1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//Align with e</a:t>
            </a:r>
            <a:endParaRPr b="1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68" name="Google Shape;268;p32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224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225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226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227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228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229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9" name="Google Shape;269;p32"/>
          <p:cNvSpPr txBox="1"/>
          <p:nvPr/>
        </p:nvSpPr>
        <p:spPr>
          <a:xfrm>
            <a:off x="7134950" y="3843350"/>
            <a:ext cx="18264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e must start where struct g starts</a:t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275" name="Google Shape;275;p3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33"/>
          <p:cNvSpPr txBox="1"/>
          <p:nvPr/>
        </p:nvSpPr>
        <p:spPr>
          <a:xfrm>
            <a:off x="159300" y="1557775"/>
            <a:ext cx="34878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//Align with e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77" name="Google Shape;277;p33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224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225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226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227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228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229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78" name="Google Shape;278;p33"/>
          <p:cNvCxnSpPr/>
          <p:nvPr/>
        </p:nvCxnSpPr>
        <p:spPr>
          <a:xfrm flipH="1" rot="10800000">
            <a:off x="1928025" y="2784275"/>
            <a:ext cx="2460900" cy="684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33"/>
          <p:cNvCxnSpPr/>
          <p:nvPr/>
        </p:nvCxnSpPr>
        <p:spPr>
          <a:xfrm flipH="1" rot="10800000">
            <a:off x="1832875" y="1173500"/>
            <a:ext cx="2568600" cy="21498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285" name="Google Shape;285;p3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34"/>
          <p:cNvSpPr txBox="1"/>
          <p:nvPr/>
        </p:nvSpPr>
        <p:spPr>
          <a:xfrm>
            <a:off x="159300" y="1557775"/>
            <a:ext cx="3500100" cy="26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//Align with e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87" name="Google Shape;287;p34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224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225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226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00FF00"/>
                          </a:solidFill>
                        </a:rPr>
                        <a:t>227</a:t>
                      </a:r>
                      <a:endParaRPr sz="1400" u="none" cap="none" strike="noStrike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228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229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230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231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88" name="Google Shape;288;p34"/>
          <p:cNvCxnSpPr/>
          <p:nvPr/>
        </p:nvCxnSpPr>
        <p:spPr>
          <a:xfrm flipH="1" rot="10800000">
            <a:off x="1928025" y="2784275"/>
            <a:ext cx="2460900" cy="684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34"/>
          <p:cNvCxnSpPr/>
          <p:nvPr/>
        </p:nvCxnSpPr>
        <p:spPr>
          <a:xfrm flipH="1" rot="10800000">
            <a:off x="1832875" y="1173500"/>
            <a:ext cx="2568600" cy="21498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34"/>
          <p:cNvCxnSpPr/>
          <p:nvPr/>
        </p:nvCxnSpPr>
        <p:spPr>
          <a:xfrm flipH="1" rot="10800000">
            <a:off x="2429050" y="2835025"/>
            <a:ext cx="1947300" cy="7800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2454175" y="3818175"/>
            <a:ext cx="1928400" cy="5454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297" name="Google Shape;297;p3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5"/>
          <p:cNvSpPr txBox="1"/>
          <p:nvPr/>
        </p:nvSpPr>
        <p:spPr>
          <a:xfrm>
            <a:off x="159300" y="1557775"/>
            <a:ext cx="30177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//Align with e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//Align with d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99" name="Google Shape;299;p35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232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233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234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235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236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237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00" name="Google Shape;300;p35"/>
          <p:cNvCxnSpPr/>
          <p:nvPr/>
        </p:nvCxnSpPr>
        <p:spPr>
          <a:xfrm flipH="1" rot="10800000">
            <a:off x="2531950" y="3583200"/>
            <a:ext cx="1857000" cy="226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35"/>
          <p:cNvCxnSpPr/>
          <p:nvPr/>
        </p:nvCxnSpPr>
        <p:spPr>
          <a:xfrm flipH="1" rot="10800000">
            <a:off x="2475225" y="1179750"/>
            <a:ext cx="1920000" cy="24036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307" name="Google Shape;307;p3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6"/>
          <p:cNvSpPr txBox="1"/>
          <p:nvPr/>
        </p:nvSpPr>
        <p:spPr>
          <a:xfrm>
            <a:off x="159300" y="1557775"/>
            <a:ext cx="30177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//Align with e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//Align with d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09" name="Google Shape;309;p36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232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233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234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235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236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237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10" name="Google Shape;310;p36"/>
          <p:cNvCxnSpPr/>
          <p:nvPr/>
        </p:nvCxnSpPr>
        <p:spPr>
          <a:xfrm flipH="1" rot="10800000">
            <a:off x="2531950" y="3583200"/>
            <a:ext cx="1857000" cy="226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36"/>
          <p:cNvCxnSpPr/>
          <p:nvPr/>
        </p:nvCxnSpPr>
        <p:spPr>
          <a:xfrm flipH="1" rot="10800000">
            <a:off x="2475225" y="1179750"/>
            <a:ext cx="1920000" cy="24036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36"/>
          <p:cNvCxnSpPr/>
          <p:nvPr/>
        </p:nvCxnSpPr>
        <p:spPr>
          <a:xfrm>
            <a:off x="2881175" y="3988275"/>
            <a:ext cx="1499100" cy="3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3" name="Google Shape;313;p36"/>
          <p:cNvSpPr txBox="1"/>
          <p:nvPr/>
        </p:nvSpPr>
        <p:spPr>
          <a:xfrm>
            <a:off x="6155700" y="3939525"/>
            <a:ext cx="27285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 g ends on multiple of 4</a:t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Visual Walkthrough</a:t>
            </a:r>
            <a:endParaRPr/>
          </a:p>
        </p:txBody>
      </p:sp>
      <p:sp>
        <p:nvSpPr>
          <p:cNvPr id="319" name="Google Shape;319;p3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37"/>
          <p:cNvSpPr txBox="1"/>
          <p:nvPr/>
        </p:nvSpPr>
        <p:spPr>
          <a:xfrm>
            <a:off x="159300" y="1557775"/>
            <a:ext cx="30177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//Align with e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//Align with d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21" name="Google Shape;321;p37"/>
          <p:cNvGraphicFramePr/>
          <p:nvPr/>
        </p:nvGraphicFramePr>
        <p:xfrm>
          <a:off x="4390625" y="7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1597875"/>
              </a:tblGrid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Address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232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233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2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234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235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236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A86E8"/>
                          </a:solidFill>
                        </a:rPr>
                        <a:t>237</a:t>
                      </a:r>
                      <a:endParaRPr sz="1400" u="none" cap="none" strike="noStrike"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238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239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22" name="Google Shape;322;p37"/>
          <p:cNvCxnSpPr/>
          <p:nvPr/>
        </p:nvCxnSpPr>
        <p:spPr>
          <a:xfrm flipH="1" rot="10800000">
            <a:off x="2531950" y="3583200"/>
            <a:ext cx="1857000" cy="2268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37"/>
          <p:cNvCxnSpPr/>
          <p:nvPr/>
        </p:nvCxnSpPr>
        <p:spPr>
          <a:xfrm flipH="1" rot="10800000">
            <a:off x="2475225" y="1179750"/>
            <a:ext cx="1920000" cy="24036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37"/>
          <p:cNvCxnSpPr/>
          <p:nvPr/>
        </p:nvCxnSpPr>
        <p:spPr>
          <a:xfrm>
            <a:off x="2881175" y="3988275"/>
            <a:ext cx="1499100" cy="3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" name="Google Shape;325;p37"/>
          <p:cNvSpPr txBox="1"/>
          <p:nvPr/>
        </p:nvSpPr>
        <p:spPr>
          <a:xfrm>
            <a:off x="6726300" y="3932650"/>
            <a:ext cx="24177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 example ends on multiple of 8</a:t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6" name="Google Shape;326;p37"/>
          <p:cNvCxnSpPr/>
          <p:nvPr/>
        </p:nvCxnSpPr>
        <p:spPr>
          <a:xfrm>
            <a:off x="2977450" y="4318350"/>
            <a:ext cx="13890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Grid View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p3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33" name="Google Shape;333;p38"/>
          <p:cNvGraphicFramePr/>
          <p:nvPr/>
        </p:nvGraphicFramePr>
        <p:xfrm>
          <a:off x="2757900" y="170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747700"/>
                <a:gridCol w="684475"/>
                <a:gridCol w="684475"/>
                <a:gridCol w="684475"/>
                <a:gridCol w="684475"/>
                <a:gridCol w="684475"/>
                <a:gridCol w="684475"/>
                <a:gridCol w="684475"/>
                <a:gridCol w="684475"/>
              </a:tblGrid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offset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+0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+1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+2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+3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+4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+5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+6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+7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base</a:t>
                      </a:r>
                      <a:endParaRPr b="1"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+8</a:t>
                      </a:r>
                      <a:endParaRPr b="1"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+16</a:t>
                      </a:r>
                      <a:endParaRPr b="1"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+24</a:t>
                      </a:r>
                      <a:endParaRPr b="1"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+32</a:t>
                      </a:r>
                      <a:endParaRPr b="1"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334" name="Google Shape;334;p38"/>
          <p:cNvSpPr txBox="1"/>
          <p:nvPr/>
        </p:nvSpPr>
        <p:spPr>
          <a:xfrm>
            <a:off x="159300" y="1557775"/>
            <a:ext cx="26910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i="0" sz="1600" u="none" cap="none" strike="noStrike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short</a:t>
            </a:r>
            <a:r>
              <a:rPr b="1" i="0" lang="en" sz="1600" u="none" cap="none" strike="noStrike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16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Struct Memory Optimization (281 Tip)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p3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39"/>
          <p:cNvSpPr txBox="1"/>
          <p:nvPr/>
        </p:nvSpPr>
        <p:spPr>
          <a:xfrm>
            <a:off x="311700" y="1152475"/>
            <a:ext cx="8520600" cy="3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rearrange the variables in a struct to use as little padding as possible for BOTH 32-bit and 64-bit systems. </a:t>
            </a:r>
            <a:endParaRPr b="0" i="0" sz="2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yet optimal algorithm: start with the largest size primitives, then go down. </a:t>
            </a:r>
            <a:endParaRPr b="0" i="0" sz="2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○"/>
            </a:pPr>
            <a:r>
              <a:rPr b="0" i="0" lang="en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also works by starting with the smallest, and working up.</a:t>
            </a:r>
            <a:endParaRPr b="0" i="0" sz="2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"/>
              <a:buChar char="○"/>
            </a:pPr>
            <a:r>
              <a:rPr b="0" i="0" lang="en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there might be more solutions for a given struct.</a:t>
            </a:r>
            <a:endParaRPr b="0" i="0" sz="2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000"/>
              <a:buFont typeface="Helvetica Neue"/>
              <a:buChar char="●"/>
            </a:pPr>
            <a:r>
              <a:rPr b="0" i="1" lang="en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structs as multiples of their largest member, as with alignment.</a:t>
            </a:r>
            <a:endParaRPr b="0" i="1" sz="2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Problem 3</a:t>
            </a:r>
            <a:endParaRPr/>
          </a:p>
        </p:txBody>
      </p:sp>
      <p:sp>
        <p:nvSpPr>
          <p:cNvPr id="347" name="Google Shape;34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Complete the C to ARM translation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48" name="Google Shape;348;p4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9" name="Google Shape;3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1650" y="1607400"/>
            <a:ext cx="3664499" cy="323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1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Extra Example</a:t>
            </a:r>
            <a:endParaRPr/>
          </a:p>
        </p:txBody>
      </p:sp>
      <p:sp>
        <p:nvSpPr>
          <p:cNvPr id="355" name="Google Shape;35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56" name="Google Shape;356;p4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2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Putting It All Together: C → ARM Example</a:t>
            </a:r>
            <a:endParaRPr/>
          </a:p>
        </p:txBody>
      </p:sp>
      <p:sp>
        <p:nvSpPr>
          <p:cNvPr id="362" name="Google Shape;362;p42"/>
          <p:cNvSpPr txBox="1"/>
          <p:nvPr>
            <p:ph idx="1" type="body"/>
          </p:nvPr>
        </p:nvSpPr>
        <p:spPr>
          <a:xfrm>
            <a:off x="311700" y="1152475"/>
            <a:ext cx="85206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We will be writing a basic ARM LEGv8 program that accomplishes the following snippet of C code. Assume the starting address of the array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lang="en"/>
              <a:t> is stored in register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"/>
              <a:t> and index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/>
              <a:t> is stored in register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lang="en"/>
              <a:t>.</a:t>
            </a:r>
            <a:endParaRPr/>
          </a:p>
        </p:txBody>
      </p:sp>
      <p:sp>
        <p:nvSpPr>
          <p:cNvPr id="363" name="Google Shape;363;p4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2"/>
          <p:cNvSpPr txBox="1"/>
          <p:nvPr/>
        </p:nvSpPr>
        <p:spPr>
          <a:xfrm>
            <a:off x="4214450" y="2673300"/>
            <a:ext cx="46830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foo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[], </a:t>
            </a:r>
            <a:r>
              <a:rPr b="0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7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7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640050" y="2673300"/>
            <a:ext cx="31899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7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	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	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accent6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Is this code correct?</a:t>
            </a:r>
            <a:endParaRPr/>
          </a:p>
        </p:txBody>
      </p:sp>
      <p:sp>
        <p:nvSpPr>
          <p:cNvPr id="371" name="Google Shape;371;p4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43"/>
          <p:cNvSpPr txBox="1"/>
          <p:nvPr/>
        </p:nvSpPr>
        <p:spPr>
          <a:xfrm>
            <a:off x="369025" y="3109975"/>
            <a:ext cx="46221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foo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[], </a:t>
            </a:r>
            <a:r>
              <a:rPr b="0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7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7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369025" y="1711675"/>
            <a:ext cx="31899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7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7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	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	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800" u="none" cap="none" strike="noStrike">
              <a:solidFill>
                <a:schemeClr val="accent6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5234400" y="1904350"/>
            <a:ext cx="3909600" cy="21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X2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LDURB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X2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#0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#5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STURB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X2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#0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5173050" y="1549450"/>
            <a:ext cx="390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Starting address of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X0</a:t>
            </a:r>
            <a:r>
              <a:rPr b="0" i="0" lang="en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Index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0" i="0" lang="en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X1</a:t>
            </a:r>
            <a:r>
              <a:rPr b="0" i="0" lang="en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6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p43"/>
          <p:cNvSpPr txBox="1"/>
          <p:nvPr>
            <p:ph idx="1" type="body"/>
          </p:nvPr>
        </p:nvSpPr>
        <p:spPr>
          <a:xfrm>
            <a:off x="311700" y="1076275"/>
            <a:ext cx="8520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Take some time to examine the assembly code.</a:t>
            </a:r>
            <a:endParaRPr/>
          </a:p>
        </p:txBody>
      </p:sp>
      <p:grpSp>
        <p:nvGrpSpPr>
          <p:cNvPr id="377" name="Google Shape;377;p43"/>
          <p:cNvGrpSpPr/>
          <p:nvPr/>
        </p:nvGrpSpPr>
        <p:grpSpPr>
          <a:xfrm>
            <a:off x="4847528" y="3957143"/>
            <a:ext cx="4408239" cy="760761"/>
            <a:chOff x="8117555" y="1164820"/>
            <a:chExt cx="4202325" cy="725225"/>
          </a:xfrm>
        </p:grpSpPr>
        <p:pic>
          <p:nvPicPr>
            <p:cNvPr id="378" name="Google Shape;378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17555" y="1164820"/>
              <a:ext cx="725225" cy="725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43"/>
            <p:cNvSpPr txBox="1"/>
            <p:nvPr/>
          </p:nvSpPr>
          <p:spPr>
            <a:xfrm>
              <a:off x="8929580" y="1164883"/>
              <a:ext cx="3390300" cy="72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1" lang="en" sz="1600" u="none" cap="none" strike="noStrike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This won’t work!!</a:t>
              </a:r>
              <a:br>
                <a:rPr b="0" i="0" lang="en" sz="1600" u="none" cap="none" strike="noStrike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b="0" i="0" lang="en" sz="1600" u="none" cap="none" strike="noStrike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Let’s see why in the next slide!</a:t>
              </a:r>
              <a:endParaRPr b="1" i="0" sz="16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4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Assume </a:t>
            </a:r>
            <a:r>
              <a:rPr lang="en" sz="2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/>
              <a:t>. What goes wrong?</a:t>
            </a:r>
            <a:endParaRPr/>
          </a:p>
        </p:txBody>
      </p:sp>
      <p:sp>
        <p:nvSpPr>
          <p:cNvPr id="385" name="Google Shape;385;p4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6" name="Google Shape;386;p44"/>
          <p:cNvSpPr txBox="1"/>
          <p:nvPr/>
        </p:nvSpPr>
        <p:spPr>
          <a:xfrm>
            <a:off x="5759450" y="1169175"/>
            <a:ext cx="32889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LDURB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[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#0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#5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STURB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[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#0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9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44"/>
          <p:cNvSpPr txBox="1"/>
          <p:nvPr/>
        </p:nvSpPr>
        <p:spPr>
          <a:xfrm>
            <a:off x="5742325" y="823425"/>
            <a:ext cx="390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Starting address of </a:t>
            </a:r>
            <a:r>
              <a:rPr b="0" i="0" lang="en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0" i="0" lang="en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Index </a:t>
            </a:r>
            <a:r>
              <a:rPr b="0" i="0" lang="en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0" i="0" lang="en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4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88" name="Google Shape;388;p44"/>
          <p:cNvGraphicFramePr/>
          <p:nvPr/>
        </p:nvGraphicFramePr>
        <p:xfrm>
          <a:off x="135275" y="3693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779450"/>
                <a:gridCol w="1011750"/>
                <a:gridCol w="1011750"/>
                <a:gridCol w="1011750"/>
                <a:gridCol w="1011750"/>
                <a:gridCol w="1011750"/>
                <a:gridCol w="1011750"/>
                <a:gridCol w="1011750"/>
                <a:gridCol w="1011750"/>
              </a:tblGrid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offset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+0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+1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+2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+3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+4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+5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+6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+7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base</a:t>
                      </a:r>
                      <a:endParaRPr b="1"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arr[0].x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arr[0].y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arr[1].x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arr[1].y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arr[2].x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arr[2].y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arr[3].x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arr[3].y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89" name="Google Shape;389;p44"/>
          <p:cNvCxnSpPr>
            <a:stCxn id="390" idx="2"/>
          </p:cNvCxnSpPr>
          <p:nvPr/>
        </p:nvCxnSpPr>
        <p:spPr>
          <a:xfrm>
            <a:off x="1444825" y="3204125"/>
            <a:ext cx="600" cy="458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0" name="Google Shape;390;p44"/>
          <p:cNvSpPr txBox="1"/>
          <p:nvPr/>
        </p:nvSpPr>
        <p:spPr>
          <a:xfrm>
            <a:off x="1068625" y="2750825"/>
            <a:ext cx="7524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1" name="Google Shape;391;p44"/>
          <p:cNvCxnSpPr>
            <a:stCxn id="392" idx="2"/>
          </p:cNvCxnSpPr>
          <p:nvPr/>
        </p:nvCxnSpPr>
        <p:spPr>
          <a:xfrm>
            <a:off x="3485438" y="3204125"/>
            <a:ext cx="600" cy="458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2" name="Google Shape;392;p44"/>
          <p:cNvSpPr txBox="1"/>
          <p:nvPr/>
        </p:nvSpPr>
        <p:spPr>
          <a:xfrm>
            <a:off x="3109238" y="2750825"/>
            <a:ext cx="7524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3" name="Google Shape;393;p44"/>
          <p:cNvCxnSpPr>
            <a:stCxn id="390" idx="3"/>
            <a:endCxn id="392" idx="1"/>
          </p:cNvCxnSpPr>
          <p:nvPr/>
        </p:nvCxnSpPr>
        <p:spPr>
          <a:xfrm>
            <a:off x="1821025" y="2977475"/>
            <a:ext cx="1288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" name="Google Shape;394;p44"/>
          <p:cNvSpPr txBox="1"/>
          <p:nvPr/>
        </p:nvSpPr>
        <p:spPr>
          <a:xfrm>
            <a:off x="1782475" y="2524175"/>
            <a:ext cx="12129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" name="Google Shape;395;p44"/>
          <p:cNvSpPr txBox="1"/>
          <p:nvPr/>
        </p:nvSpPr>
        <p:spPr>
          <a:xfrm>
            <a:off x="1782488" y="2901275"/>
            <a:ext cx="12129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 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6" name="Google Shape;396;p44"/>
          <p:cNvCxnSpPr/>
          <p:nvPr/>
        </p:nvCxnSpPr>
        <p:spPr>
          <a:xfrm flipH="1">
            <a:off x="3198400" y="1671375"/>
            <a:ext cx="3028800" cy="1075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7" name="Google Shape;397;p44"/>
          <p:cNvCxnSpPr/>
          <p:nvPr/>
        </p:nvCxnSpPr>
        <p:spPr>
          <a:xfrm flipH="1">
            <a:off x="3729100" y="1949925"/>
            <a:ext cx="2489100" cy="2219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98" name="Google Shape;398;p44"/>
          <p:cNvGrpSpPr/>
          <p:nvPr/>
        </p:nvGrpSpPr>
        <p:grpSpPr>
          <a:xfrm>
            <a:off x="5009278" y="2825068"/>
            <a:ext cx="4408239" cy="760761"/>
            <a:chOff x="8117555" y="1092179"/>
            <a:chExt cx="4202325" cy="725225"/>
          </a:xfrm>
        </p:grpSpPr>
        <p:pic>
          <p:nvPicPr>
            <p:cNvPr id="399" name="Google Shape;39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17555" y="1092179"/>
              <a:ext cx="725225" cy="725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44"/>
            <p:cNvSpPr txBox="1"/>
            <p:nvPr/>
          </p:nvSpPr>
          <p:spPr>
            <a:xfrm>
              <a:off x="8929580" y="1092242"/>
              <a:ext cx="3390300" cy="72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1" lang="en" sz="1600" u="none" cap="none" strike="noStrike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We wanted to load arr</a:t>
              </a:r>
              <a:r>
                <a:rPr b="1" i="1" lang="en" sz="1600" u="none" cap="none" strike="noStrike">
                  <a:solidFill>
                    <a:srgbClr val="E0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[2]</a:t>
              </a:r>
              <a:r>
                <a:rPr b="1" i="1" lang="en" sz="1600" u="none" cap="none" strike="noStrike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.x!! </a:t>
              </a:r>
              <a:r>
                <a:rPr b="0" i="0" lang="en" sz="1600" u="none" cap="none" strike="noStrike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Brainstorm what went wrong!</a:t>
              </a:r>
              <a:endParaRPr b="0" i="0" sz="1600" u="none" cap="none" strike="noStrik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01" name="Google Shape;401;p44"/>
          <p:cNvSpPr txBox="1"/>
          <p:nvPr/>
        </p:nvSpPr>
        <p:spPr>
          <a:xfrm>
            <a:off x="311425" y="1822025"/>
            <a:ext cx="45165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foo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[], 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44"/>
          <p:cNvSpPr txBox="1"/>
          <p:nvPr/>
        </p:nvSpPr>
        <p:spPr>
          <a:xfrm>
            <a:off x="311425" y="823425"/>
            <a:ext cx="24651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00" u="none" cap="none" strike="noStrike">
              <a:solidFill>
                <a:schemeClr val="accent6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should we have done?</a:t>
            </a:r>
            <a:endParaRPr/>
          </a:p>
        </p:txBody>
      </p:sp>
      <p:sp>
        <p:nvSpPr>
          <p:cNvPr id="408" name="Google Shape;408;p4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45"/>
          <p:cNvSpPr txBox="1"/>
          <p:nvPr/>
        </p:nvSpPr>
        <p:spPr>
          <a:xfrm>
            <a:off x="311425" y="1822025"/>
            <a:ext cx="45165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foo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[], 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45"/>
          <p:cNvSpPr txBox="1"/>
          <p:nvPr/>
        </p:nvSpPr>
        <p:spPr>
          <a:xfrm>
            <a:off x="311425" y="823425"/>
            <a:ext cx="24651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00" u="none" cap="none" strike="noStrike">
              <a:solidFill>
                <a:schemeClr val="accent6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411" name="Google Shape;411;p45"/>
          <p:cNvGraphicFramePr/>
          <p:nvPr/>
        </p:nvGraphicFramePr>
        <p:xfrm>
          <a:off x="135275" y="3693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779450"/>
                <a:gridCol w="1011750"/>
                <a:gridCol w="1011750"/>
                <a:gridCol w="1011750"/>
                <a:gridCol w="1011750"/>
                <a:gridCol w="1011750"/>
                <a:gridCol w="1011750"/>
                <a:gridCol w="1011750"/>
                <a:gridCol w="1011750"/>
              </a:tblGrid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offset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+0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+1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+2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+3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+4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+5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+6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+7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base</a:t>
                      </a:r>
                      <a:endParaRPr b="1"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arr[0].x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arr[0].y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arr[1].x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arr[1].y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arr[2].x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arr[2].y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arr[3].x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arr[3].y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12" name="Google Shape;412;p45"/>
          <p:cNvCxnSpPr>
            <a:stCxn id="413" idx="2"/>
          </p:cNvCxnSpPr>
          <p:nvPr/>
        </p:nvCxnSpPr>
        <p:spPr>
          <a:xfrm>
            <a:off x="1444825" y="3204125"/>
            <a:ext cx="600" cy="458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3" name="Google Shape;413;p45"/>
          <p:cNvSpPr txBox="1"/>
          <p:nvPr/>
        </p:nvSpPr>
        <p:spPr>
          <a:xfrm>
            <a:off x="1068625" y="2750825"/>
            <a:ext cx="7524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4" name="Google Shape;414;p45"/>
          <p:cNvCxnSpPr>
            <a:stCxn id="415" idx="2"/>
          </p:cNvCxnSpPr>
          <p:nvPr/>
        </p:nvCxnSpPr>
        <p:spPr>
          <a:xfrm>
            <a:off x="5466638" y="3204125"/>
            <a:ext cx="600" cy="458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5" name="Google Shape;415;p45"/>
          <p:cNvSpPr txBox="1"/>
          <p:nvPr/>
        </p:nvSpPr>
        <p:spPr>
          <a:xfrm>
            <a:off x="5090438" y="2750825"/>
            <a:ext cx="7524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6" name="Google Shape;416;p45"/>
          <p:cNvCxnSpPr>
            <a:stCxn id="413" idx="3"/>
            <a:endCxn id="415" idx="1"/>
          </p:cNvCxnSpPr>
          <p:nvPr/>
        </p:nvCxnSpPr>
        <p:spPr>
          <a:xfrm>
            <a:off x="1821025" y="2977475"/>
            <a:ext cx="326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7" name="Google Shape;417;p45"/>
          <p:cNvSpPr txBox="1"/>
          <p:nvPr/>
        </p:nvSpPr>
        <p:spPr>
          <a:xfrm>
            <a:off x="2773075" y="2524175"/>
            <a:ext cx="12129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45"/>
          <p:cNvSpPr txBox="1"/>
          <p:nvPr/>
        </p:nvSpPr>
        <p:spPr>
          <a:xfrm>
            <a:off x="2574013" y="2950450"/>
            <a:ext cx="16110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+(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= +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9" name="Google Shape;419;p45"/>
          <p:cNvCxnSpPr>
            <a:endCxn id="410" idx="3"/>
          </p:cNvCxnSpPr>
          <p:nvPr/>
        </p:nvCxnSpPr>
        <p:spPr>
          <a:xfrm flipH="1">
            <a:off x="2776525" y="1392825"/>
            <a:ext cx="485400" cy="6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0" name="Google Shape;420;p45"/>
          <p:cNvSpPr txBox="1"/>
          <p:nvPr/>
        </p:nvSpPr>
        <p:spPr>
          <a:xfrm>
            <a:off x="3360700" y="1152600"/>
            <a:ext cx="53466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b="0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bytes</a:t>
            </a:r>
            <a:r>
              <a:rPr b="0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LEGv8 is </a:t>
            </a:r>
            <a:r>
              <a:rPr b="1" i="1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byte-addressable</a:t>
            </a:r>
            <a:r>
              <a:rPr b="0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 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p45"/>
          <p:cNvSpPr txBox="1"/>
          <p:nvPr/>
        </p:nvSpPr>
        <p:spPr>
          <a:xfrm>
            <a:off x="4056475" y="1656575"/>
            <a:ext cx="41898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So, to traverse an array of 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b="0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’s, we must traverse by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bytes</a:t>
            </a:r>
            <a:r>
              <a:rPr b="0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 a time!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2" name="Google Shape;422;p45"/>
          <p:cNvCxnSpPr/>
          <p:nvPr/>
        </p:nvCxnSpPr>
        <p:spPr>
          <a:xfrm flipH="1">
            <a:off x="3499575" y="2689400"/>
            <a:ext cx="2911800" cy="40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3" name="Google Shape;423;p45"/>
          <p:cNvSpPr txBox="1"/>
          <p:nvPr/>
        </p:nvSpPr>
        <p:spPr>
          <a:xfrm>
            <a:off x="6467700" y="2450425"/>
            <a:ext cx="23907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are some ways to multiply by </a:t>
            </a:r>
            <a:r>
              <a:rPr b="0" i="0" lang="en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Fixing our Code - Solution</a:t>
            </a:r>
            <a:endParaRPr/>
          </a:p>
        </p:txBody>
      </p:sp>
      <p:sp>
        <p:nvSpPr>
          <p:cNvPr id="429" name="Google Shape;429;p4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46"/>
          <p:cNvSpPr txBox="1"/>
          <p:nvPr/>
        </p:nvSpPr>
        <p:spPr>
          <a:xfrm>
            <a:off x="5759450" y="1169175"/>
            <a:ext cx="3909600" cy="21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 	LSL 	X2,	X1,	 #1</a:t>
            </a:r>
            <a:endParaRPr b="0" i="0" sz="17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X2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LDURB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[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#0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7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#5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STURB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	[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#0</a:t>
            </a:r>
            <a:r>
              <a:rPr b="0" i="0" lang="en" sz="17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9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1" name="Google Shape;431;p46"/>
          <p:cNvSpPr txBox="1"/>
          <p:nvPr/>
        </p:nvSpPr>
        <p:spPr>
          <a:xfrm>
            <a:off x="5742325" y="823425"/>
            <a:ext cx="390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Starting address of </a:t>
            </a:r>
            <a:r>
              <a:rPr b="0" i="0" lang="en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0" i="0" lang="en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Index </a:t>
            </a:r>
            <a:r>
              <a:rPr b="0" i="0" lang="en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0" i="0" lang="en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b="0" i="0" lang="en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4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432" name="Google Shape;432;p46"/>
          <p:cNvGraphicFramePr/>
          <p:nvPr/>
        </p:nvGraphicFramePr>
        <p:xfrm>
          <a:off x="135275" y="3693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{C2F32116-6060-482F-A275-422F449575E7}</a:tableStyleId>
              </a:tblPr>
              <a:tblGrid>
                <a:gridCol w="779450"/>
                <a:gridCol w="1011750"/>
                <a:gridCol w="1011750"/>
                <a:gridCol w="1011750"/>
                <a:gridCol w="1011750"/>
                <a:gridCol w="1011750"/>
                <a:gridCol w="1011750"/>
                <a:gridCol w="1011750"/>
                <a:gridCol w="1011750"/>
              </a:tblGrid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offset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+0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+1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+2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+3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+4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+5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+6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+7</a:t>
                      </a:r>
                      <a:endParaRPr b="1" sz="16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base</a:t>
                      </a:r>
                      <a:endParaRPr b="1" sz="1600" u="none" cap="none" strike="noStrike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arr[0].x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arr[0].y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arr[1].x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arr[1].y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arr[2].x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arr[2].y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arr[3].x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arr[3].y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33" name="Google Shape;433;p46"/>
          <p:cNvCxnSpPr>
            <a:stCxn id="434" idx="2"/>
          </p:cNvCxnSpPr>
          <p:nvPr/>
        </p:nvCxnSpPr>
        <p:spPr>
          <a:xfrm>
            <a:off x="1444825" y="3204125"/>
            <a:ext cx="600" cy="458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46"/>
          <p:cNvSpPr txBox="1"/>
          <p:nvPr/>
        </p:nvSpPr>
        <p:spPr>
          <a:xfrm>
            <a:off x="1068625" y="2750825"/>
            <a:ext cx="7524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5" name="Google Shape;435;p46"/>
          <p:cNvCxnSpPr>
            <a:stCxn id="436" idx="2"/>
          </p:cNvCxnSpPr>
          <p:nvPr/>
        </p:nvCxnSpPr>
        <p:spPr>
          <a:xfrm>
            <a:off x="5466938" y="3204125"/>
            <a:ext cx="600" cy="458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46"/>
          <p:cNvSpPr txBox="1"/>
          <p:nvPr/>
        </p:nvSpPr>
        <p:spPr>
          <a:xfrm>
            <a:off x="5090738" y="2750825"/>
            <a:ext cx="7524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7" name="Google Shape;437;p46"/>
          <p:cNvCxnSpPr>
            <a:stCxn id="434" idx="3"/>
            <a:endCxn id="436" idx="1"/>
          </p:cNvCxnSpPr>
          <p:nvPr/>
        </p:nvCxnSpPr>
        <p:spPr>
          <a:xfrm>
            <a:off x="1821025" y="2977475"/>
            <a:ext cx="3269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p46"/>
          <p:cNvSpPr txBox="1"/>
          <p:nvPr/>
        </p:nvSpPr>
        <p:spPr>
          <a:xfrm>
            <a:off x="2773075" y="2524175"/>
            <a:ext cx="12129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+[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X2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8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9" name="Google Shape;439;p46"/>
          <p:cNvCxnSpPr/>
          <p:nvPr/>
        </p:nvCxnSpPr>
        <p:spPr>
          <a:xfrm flipH="1">
            <a:off x="3492475" y="1677525"/>
            <a:ext cx="2743800" cy="1368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46"/>
          <p:cNvCxnSpPr/>
          <p:nvPr/>
        </p:nvCxnSpPr>
        <p:spPr>
          <a:xfrm flipH="1">
            <a:off x="5499350" y="2192550"/>
            <a:ext cx="754800" cy="19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1" name="Google Shape;441;p46"/>
          <p:cNvSpPr txBox="1"/>
          <p:nvPr/>
        </p:nvSpPr>
        <p:spPr>
          <a:xfrm>
            <a:off x="2574013" y="2950450"/>
            <a:ext cx="16110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+(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18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= +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2" name="Google Shape;442;p46"/>
          <p:cNvCxnSpPr/>
          <p:nvPr/>
        </p:nvCxnSpPr>
        <p:spPr>
          <a:xfrm flipH="1">
            <a:off x="5512175" y="1914475"/>
            <a:ext cx="738300" cy="848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3" name="Google Shape;443;p46"/>
          <p:cNvSpPr txBox="1"/>
          <p:nvPr/>
        </p:nvSpPr>
        <p:spPr>
          <a:xfrm>
            <a:off x="311425" y="1822025"/>
            <a:ext cx="45165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foo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[], 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4" name="Google Shape;444;p46"/>
          <p:cNvSpPr txBox="1"/>
          <p:nvPr/>
        </p:nvSpPr>
        <p:spPr>
          <a:xfrm>
            <a:off x="311425" y="823425"/>
            <a:ext cx="24651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" sz="1600" u="none" cap="none" strike="noStrike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point 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600" u="none" cap="none" strike="noStrike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int8_t </a:t>
            </a:r>
            <a:r>
              <a:rPr b="0" i="0" lang="en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" sz="1600" u="none" cap="none" strike="noStrik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 1B</a:t>
            </a:r>
            <a:endParaRPr b="0" i="0" sz="1600" u="none" cap="none" strike="noStrik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00" u="none" cap="none" strike="noStrike">
              <a:solidFill>
                <a:schemeClr val="accent6"/>
              </a:solidFill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6070500" y="3109588"/>
            <a:ext cx="30735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 Note</a:t>
            </a:r>
            <a:r>
              <a:rPr b="0" i="0" lang="en" sz="12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Make sure to choose the right </a:t>
            </a:r>
            <a:r>
              <a:rPr b="0" i="0" lang="en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b="0" i="0" lang="en" sz="12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b="0" i="0" lang="en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b="0" i="0" lang="en" sz="12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size for the data you are handling!</a:t>
            </a:r>
            <a:endParaRPr b="0" i="0" sz="12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7"/>
          <p:cNvSpPr txBox="1"/>
          <p:nvPr>
            <p:ph type="ctrTitle"/>
          </p:nvPr>
        </p:nvSpPr>
        <p:spPr>
          <a:xfrm>
            <a:off x="-13989" y="781525"/>
            <a:ext cx="91440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EECS 370</a:t>
            </a:r>
            <a:endParaRPr/>
          </a:p>
        </p:txBody>
      </p:sp>
      <p:sp>
        <p:nvSpPr>
          <p:cNvPr id="451" name="Google Shape;451;p47"/>
          <p:cNvSpPr txBox="1"/>
          <p:nvPr>
            <p:ph idx="1" type="subTitle"/>
          </p:nvPr>
        </p:nvSpPr>
        <p:spPr>
          <a:xfrm>
            <a:off x="311700" y="2834125"/>
            <a:ext cx="8520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Lab 3: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ARM Assembly</a:t>
            </a:r>
            <a:endParaRPr/>
          </a:p>
        </p:txBody>
      </p:sp>
      <p:sp>
        <p:nvSpPr>
          <p:cNvPr id="452" name="Google Shape;452;p4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ECS 370 Dark">
  <a:themeElements>
    <a:clrScheme name="Simple Light">
      <a:dk1>
        <a:srgbClr val="FFFFFF"/>
      </a:dk1>
      <a:lt1>
        <a:srgbClr val="000000"/>
      </a:lt1>
      <a:dk2>
        <a:srgbClr val="CCCCCC"/>
      </a:dk2>
      <a:lt2>
        <a:srgbClr val="666666"/>
      </a:lt2>
      <a:accent1>
        <a:srgbClr val="6D9EEB"/>
      </a:accent1>
      <a:accent2>
        <a:srgbClr val="4A86E8"/>
      </a:accent2>
      <a:accent3>
        <a:srgbClr val="FF0000"/>
      </a:accent3>
      <a:accent4>
        <a:srgbClr val="00FF00"/>
      </a:accent4>
      <a:accent5>
        <a:srgbClr val="00FFFF"/>
      </a:accent5>
      <a:accent6>
        <a:srgbClr val="FF00FF"/>
      </a:accent6>
      <a:hlink>
        <a:srgbClr val="99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